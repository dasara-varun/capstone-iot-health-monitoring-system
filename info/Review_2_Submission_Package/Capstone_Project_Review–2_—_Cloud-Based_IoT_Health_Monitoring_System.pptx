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png" ContentType="image/pn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0A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465469"/>
                </a:solidFill>
                <a:latin typeface="Courier New"/>
                <a:cs typeface="Courier New"/>
              </a:defRPr>
            </a:lvl1pPr>
          </a:lstStyle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0A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465469"/>
                </a:solidFill>
                <a:latin typeface="Courier New"/>
                <a:cs typeface="Courier New"/>
              </a:defRPr>
            </a:lvl1pPr>
          </a:lstStyle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0A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465469"/>
                </a:solidFill>
                <a:latin typeface="Courier New"/>
                <a:cs typeface="Courier New"/>
              </a:defRPr>
            </a:lvl1pPr>
          </a:lstStyle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0A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465469"/>
                </a:solidFill>
                <a:latin typeface="Courier New"/>
                <a:cs typeface="Courier New"/>
              </a:defRPr>
            </a:lvl1pPr>
          </a:lstStyle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465469"/>
                </a:solidFill>
                <a:latin typeface="Courier New"/>
                <a:cs typeface="Courier New"/>
              </a:defRPr>
            </a:lvl1pPr>
          </a:lstStyle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2000" y="380999"/>
            <a:ext cx="57150" cy="371475"/>
          </a:xfrm>
          <a:custGeom>
            <a:avLst/>
            <a:gdLst/>
            <a:ahLst/>
            <a:cxnLst/>
            <a:rect l="l" t="t" r="r" b="b"/>
            <a:pathLst>
              <a:path w="57150" h="371475">
                <a:moveTo>
                  <a:pt x="57150" y="0"/>
                </a:moveTo>
                <a:lnTo>
                  <a:pt x="0" y="0"/>
                </a:lnTo>
                <a:lnTo>
                  <a:pt x="0" y="371475"/>
                </a:lnTo>
                <a:lnTo>
                  <a:pt x="57150" y="371475"/>
                </a:lnTo>
                <a:lnTo>
                  <a:pt x="57150" y="0"/>
                </a:lnTo>
                <a:close/>
              </a:path>
            </a:pathLst>
          </a:custGeom>
          <a:solidFill>
            <a:srgbClr val="D977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44525" y="189511"/>
            <a:ext cx="8216265" cy="560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0A1E36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23900" y="1038224"/>
            <a:ext cx="10744200" cy="228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07694" y="6286468"/>
            <a:ext cx="677554" cy="201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465469"/>
                </a:solidFill>
                <a:latin typeface="Courier New"/>
                <a:cs typeface="Courier New"/>
              </a:defRPr>
            </a:lvl1pPr>
          </a:lstStyle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2962275"/>
            <a:ext cx="1143000" cy="57150"/>
          </a:xfrm>
          <a:custGeom>
            <a:avLst/>
            <a:gdLst/>
            <a:ahLst/>
            <a:cxnLst/>
            <a:rect l="l" t="t" r="r" b="b"/>
            <a:pathLst>
              <a:path w="1143000" h="57150">
                <a:moveTo>
                  <a:pt x="1143000" y="0"/>
                </a:moveTo>
                <a:lnTo>
                  <a:pt x="0" y="0"/>
                </a:lnTo>
                <a:lnTo>
                  <a:pt x="0" y="57150"/>
                </a:lnTo>
                <a:lnTo>
                  <a:pt x="1143000" y="57150"/>
                </a:lnTo>
                <a:lnTo>
                  <a:pt x="1143000" y="0"/>
                </a:lnTo>
                <a:close/>
              </a:path>
            </a:pathLst>
          </a:custGeom>
          <a:solidFill>
            <a:srgbClr val="D977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9300" y="1305017"/>
            <a:ext cx="8844280" cy="52451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50" spc="280"/>
              <a:t>C</a:t>
            </a:r>
            <a:r>
              <a:rPr dirty="0" sz="3250" spc="480"/>
              <a:t>l</a:t>
            </a:r>
            <a:r>
              <a:rPr dirty="0" sz="3250" spc="280"/>
              <a:t>o</a:t>
            </a:r>
            <a:r>
              <a:rPr dirty="0" sz="3250" spc="330"/>
              <a:t>u</a:t>
            </a:r>
            <a:r>
              <a:rPr dirty="0" sz="3250" spc="370"/>
              <a:t>d</a:t>
            </a:r>
            <a:r>
              <a:rPr dirty="0" sz="350" spc="320"/>
              <a:t>-</a:t>
            </a:r>
            <a:r>
              <a:rPr dirty="0" sz="350" spc="60"/>
              <a:t> </a:t>
            </a:r>
            <a:r>
              <a:rPr dirty="0" sz="3250" spc="390"/>
              <a:t>Based</a:t>
            </a:r>
            <a:r>
              <a:rPr dirty="0" sz="3250" spc="5"/>
              <a:t> </a:t>
            </a:r>
            <a:r>
              <a:rPr dirty="0" sz="3250" spc="70"/>
              <a:t>IoT</a:t>
            </a:r>
            <a:r>
              <a:rPr dirty="0" sz="3250" spc="-155"/>
              <a:t> </a:t>
            </a:r>
            <a:r>
              <a:rPr dirty="0" sz="3250" spc="275"/>
              <a:t>Health</a:t>
            </a:r>
            <a:r>
              <a:rPr dirty="0" sz="3250" spc="-35"/>
              <a:t> </a:t>
            </a:r>
            <a:r>
              <a:rPr dirty="0" sz="3250" spc="254"/>
              <a:t>Monitoring</a:t>
            </a:r>
            <a:r>
              <a:rPr dirty="0" sz="3250" spc="5"/>
              <a:t> </a:t>
            </a:r>
            <a:r>
              <a:rPr dirty="0" sz="3250" spc="409"/>
              <a:t>System</a:t>
            </a:r>
            <a:endParaRPr sz="3250"/>
          </a:p>
        </p:txBody>
      </p:sp>
      <p:sp>
        <p:nvSpPr>
          <p:cNvPr id="4" name="object 4"/>
          <p:cNvSpPr txBox="1"/>
          <p:nvPr/>
        </p:nvSpPr>
        <p:spPr>
          <a:xfrm>
            <a:off x="749300" y="2012507"/>
            <a:ext cx="9639935" cy="56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>
                <a:solidFill>
                  <a:srgbClr val="0E756E"/>
                </a:solidFill>
                <a:latin typeface="Times New Roman"/>
                <a:cs typeface="Times New Roman"/>
              </a:rPr>
              <a:t>A</a:t>
            </a:r>
            <a:r>
              <a:rPr dirty="0" sz="1750" spc="6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210">
                <a:solidFill>
                  <a:srgbClr val="0E756E"/>
                </a:solidFill>
                <a:latin typeface="Times New Roman"/>
                <a:cs typeface="Times New Roman"/>
              </a:rPr>
              <a:t>Secure</a:t>
            </a:r>
            <a:r>
              <a:rPr dirty="0" sz="950" spc="210">
                <a:solidFill>
                  <a:srgbClr val="0E756E"/>
                </a:solidFill>
                <a:latin typeface="Times New Roman"/>
                <a:cs typeface="Times New Roman"/>
              </a:rPr>
              <a:t>,</a:t>
            </a:r>
            <a:r>
              <a:rPr dirty="0" sz="950" spc="44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135">
                <a:solidFill>
                  <a:srgbClr val="0E756E"/>
                </a:solidFill>
                <a:latin typeface="Times New Roman"/>
                <a:cs typeface="Times New Roman"/>
              </a:rPr>
              <a:t>Offline</a:t>
            </a:r>
            <a:r>
              <a:rPr dirty="0" sz="950" spc="135">
                <a:solidFill>
                  <a:srgbClr val="0E756E"/>
                </a:solidFill>
                <a:latin typeface="Times New Roman"/>
                <a:cs typeface="Times New Roman"/>
              </a:rPr>
              <a:t>-</a:t>
            </a:r>
            <a:r>
              <a:rPr dirty="0" sz="1750" spc="130">
                <a:solidFill>
                  <a:srgbClr val="0E756E"/>
                </a:solidFill>
                <a:latin typeface="Times New Roman"/>
                <a:cs typeface="Times New Roman"/>
              </a:rPr>
              <a:t>Resilient</a:t>
            </a:r>
            <a:r>
              <a:rPr dirty="0" sz="950" spc="130">
                <a:solidFill>
                  <a:srgbClr val="0E756E"/>
                </a:solidFill>
                <a:latin typeface="Times New Roman"/>
                <a:cs typeface="Times New Roman"/>
              </a:rPr>
              <a:t>,</a:t>
            </a:r>
            <a:r>
              <a:rPr dirty="0" sz="950" spc="44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195">
                <a:solidFill>
                  <a:srgbClr val="0E756E"/>
                </a:solidFill>
                <a:latin typeface="Times New Roman"/>
                <a:cs typeface="Times New Roman"/>
              </a:rPr>
              <a:t>Noise</a:t>
            </a:r>
            <a:r>
              <a:rPr dirty="0" sz="950" spc="195">
                <a:solidFill>
                  <a:srgbClr val="0E756E"/>
                </a:solidFill>
                <a:latin typeface="Times New Roman"/>
                <a:cs typeface="Times New Roman"/>
              </a:rPr>
              <a:t>-</a:t>
            </a:r>
            <a:r>
              <a:rPr dirty="0" sz="1750" spc="125">
                <a:solidFill>
                  <a:srgbClr val="0E756E"/>
                </a:solidFill>
                <a:latin typeface="Times New Roman"/>
                <a:cs typeface="Times New Roman"/>
              </a:rPr>
              <a:t>Aware</a:t>
            </a:r>
            <a:r>
              <a:rPr dirty="0" sz="1750" spc="10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195">
                <a:solidFill>
                  <a:srgbClr val="0E756E"/>
                </a:solidFill>
                <a:latin typeface="Times New Roman"/>
                <a:cs typeface="Times New Roman"/>
              </a:rPr>
              <a:t>and</a:t>
            </a:r>
            <a:r>
              <a:rPr dirty="0" sz="1750" spc="18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145">
                <a:solidFill>
                  <a:srgbClr val="0E756E"/>
                </a:solidFill>
                <a:latin typeface="Times New Roman"/>
                <a:cs typeface="Times New Roman"/>
              </a:rPr>
              <a:t>Explainable</a:t>
            </a:r>
            <a:r>
              <a:rPr dirty="0" sz="1750" spc="10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250">
                <a:solidFill>
                  <a:srgbClr val="0E756E"/>
                </a:solidFill>
                <a:latin typeface="Times New Roman"/>
                <a:cs typeface="Times New Roman"/>
              </a:rPr>
              <a:t>Edge</a:t>
            </a:r>
            <a:r>
              <a:rPr dirty="0" sz="950" spc="250">
                <a:solidFill>
                  <a:srgbClr val="0E756E"/>
                </a:solidFill>
                <a:latin typeface="Times New Roman"/>
                <a:cs typeface="Times New Roman"/>
              </a:rPr>
              <a:t>–</a:t>
            </a:r>
            <a:r>
              <a:rPr dirty="0" sz="1750" spc="135">
                <a:solidFill>
                  <a:srgbClr val="0E756E"/>
                </a:solidFill>
                <a:latin typeface="Times New Roman"/>
                <a:cs typeface="Times New Roman"/>
              </a:rPr>
              <a:t>Cloud</a:t>
            </a:r>
            <a:r>
              <a:rPr dirty="0" sz="1750" spc="18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135">
                <a:solidFill>
                  <a:srgbClr val="0E756E"/>
                </a:solidFill>
                <a:latin typeface="Times New Roman"/>
                <a:cs typeface="Times New Roman"/>
              </a:rPr>
              <a:t>Anomaly</a:t>
            </a:r>
            <a:r>
              <a:rPr dirty="0" sz="1750" spc="2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750" spc="-10">
                <a:solidFill>
                  <a:srgbClr val="0E756E"/>
                </a:solidFill>
                <a:latin typeface="Times New Roman"/>
                <a:cs typeface="Times New Roman"/>
              </a:rPr>
              <a:t>Detectio</a:t>
            </a:r>
            <a:r>
              <a:rPr dirty="0" sz="1750" spc="-10">
                <a:solidFill>
                  <a:srgbClr val="0E756E"/>
                </a:solidFill>
                <a:latin typeface="Times New Roman"/>
                <a:cs typeface="Times New Roman"/>
              </a:rPr>
              <a:t>n</a:t>
            </a: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750" spc="150">
                <a:solidFill>
                  <a:srgbClr val="0E756E"/>
                </a:solidFill>
                <a:latin typeface="Times New Roman"/>
                <a:cs typeface="Times New Roman"/>
              </a:rPr>
              <a:t>Framework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9300" y="3835877"/>
            <a:ext cx="1353185" cy="4749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50" spc="130">
                <a:solidFill>
                  <a:srgbClr val="0A1E36"/>
                </a:solidFill>
                <a:latin typeface="Times New Roman"/>
                <a:cs typeface="Times New Roman"/>
              </a:rPr>
              <a:t>Palanati</a:t>
            </a:r>
            <a:r>
              <a:rPr dirty="0" sz="1450" spc="5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0A1E36"/>
                </a:solidFill>
                <a:latin typeface="Times New Roman"/>
                <a:cs typeface="Times New Roman"/>
              </a:rPr>
              <a:t>Kushal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-10">
                <a:solidFill>
                  <a:srgbClr val="465469"/>
                </a:solidFill>
                <a:latin typeface="Courier New"/>
                <a:cs typeface="Courier New"/>
              </a:rPr>
              <a:t>2300031426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300" y="4455002"/>
            <a:ext cx="974725" cy="4749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50" spc="-160">
                <a:solidFill>
                  <a:srgbClr val="0A1E36"/>
                </a:solidFill>
                <a:latin typeface="Times New Roman"/>
                <a:cs typeface="Times New Roman"/>
              </a:rPr>
              <a:t>Y.</a:t>
            </a:r>
            <a:r>
              <a:rPr dirty="0" sz="1450" spc="7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450" spc="60">
                <a:solidFill>
                  <a:srgbClr val="0A1E36"/>
                </a:solidFill>
                <a:latin typeface="Times New Roman"/>
                <a:cs typeface="Times New Roman"/>
              </a:rPr>
              <a:t>Kishan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-10">
                <a:solidFill>
                  <a:srgbClr val="465469"/>
                </a:solidFill>
                <a:latin typeface="Courier New"/>
                <a:cs typeface="Courier New"/>
              </a:rPr>
              <a:t>2300030979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0" y="3835877"/>
            <a:ext cx="974725" cy="4749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50" spc="-25">
                <a:solidFill>
                  <a:srgbClr val="0A1E36"/>
                </a:solidFill>
                <a:latin typeface="Times New Roman"/>
                <a:cs typeface="Times New Roman"/>
              </a:rPr>
              <a:t>D.</a:t>
            </a:r>
            <a:r>
              <a:rPr dirty="0" sz="1450" spc="-5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450" spc="55">
                <a:solidFill>
                  <a:srgbClr val="0A1E36"/>
                </a:solidFill>
                <a:latin typeface="Times New Roman"/>
                <a:cs typeface="Times New Roman"/>
              </a:rPr>
              <a:t>Varun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-10">
                <a:solidFill>
                  <a:srgbClr val="465469"/>
                </a:solidFill>
                <a:latin typeface="Courier New"/>
                <a:cs typeface="Courier New"/>
              </a:rPr>
              <a:t>2300030156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73800" y="4455002"/>
            <a:ext cx="1901825" cy="4749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50" spc="65">
                <a:solidFill>
                  <a:srgbClr val="0A1E36"/>
                </a:solidFill>
                <a:latin typeface="Times New Roman"/>
                <a:cs typeface="Times New Roman"/>
              </a:rPr>
              <a:t>Dirishala</a:t>
            </a:r>
            <a:r>
              <a:rPr dirty="0" sz="1450" spc="7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450">
                <a:solidFill>
                  <a:srgbClr val="0A1E36"/>
                </a:solidFill>
                <a:latin typeface="Times New Roman"/>
                <a:cs typeface="Times New Roman"/>
              </a:rPr>
              <a:t>Gopi</a:t>
            </a:r>
            <a:r>
              <a:rPr dirty="0" sz="1450" spc="114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450" spc="55">
                <a:solidFill>
                  <a:srgbClr val="0A1E36"/>
                </a:solidFill>
                <a:latin typeface="Times New Roman"/>
                <a:cs typeface="Times New Roman"/>
              </a:rPr>
              <a:t>Krishna</a:t>
            </a:r>
            <a:endParaRPr sz="14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1200" spc="-10">
                <a:solidFill>
                  <a:srgbClr val="465469"/>
                </a:solidFill>
                <a:latin typeface="Courier New"/>
                <a:cs typeface="Courier New"/>
              </a:rPr>
              <a:t>2300030916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62000" y="549592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10668000" y="0"/>
                </a:moveTo>
                <a:lnTo>
                  <a:pt x="0" y="0"/>
                </a:lnTo>
                <a:lnTo>
                  <a:pt x="0" y="9525"/>
                </a:lnTo>
                <a:lnTo>
                  <a:pt x="10668000" y="9525"/>
                </a:lnTo>
                <a:lnTo>
                  <a:pt x="10668000" y="0"/>
                </a:lnTo>
                <a:close/>
              </a:path>
            </a:pathLst>
          </a:custGeom>
          <a:solidFill>
            <a:srgbClr val="CBD5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9300" y="5644793"/>
            <a:ext cx="3529329" cy="458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50" spc="150">
                <a:solidFill>
                  <a:srgbClr val="465469"/>
                </a:solidFill>
                <a:latin typeface="Times New Roman"/>
                <a:cs typeface="Times New Roman"/>
              </a:rPr>
              <a:t>PRO</a:t>
            </a:r>
            <a:r>
              <a:rPr dirty="0" sz="950" spc="-13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950" spc="195">
                <a:solidFill>
                  <a:srgbClr val="465469"/>
                </a:solidFill>
                <a:latin typeface="Times New Roman"/>
                <a:cs typeface="Times New Roman"/>
              </a:rPr>
              <a:t>J</a:t>
            </a:r>
            <a:r>
              <a:rPr dirty="0" sz="950" spc="-10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950" spc="95">
                <a:solidFill>
                  <a:srgbClr val="465469"/>
                </a:solidFill>
                <a:latin typeface="Times New Roman"/>
                <a:cs typeface="Times New Roman"/>
              </a:rPr>
              <a:t>ECT</a:t>
            </a:r>
            <a:r>
              <a:rPr dirty="0" sz="950" spc="9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950" spc="-30">
                <a:solidFill>
                  <a:srgbClr val="465469"/>
                </a:solidFill>
                <a:latin typeface="Times New Roman"/>
                <a:cs typeface="Times New Roman"/>
              </a:rPr>
              <a:t>G</a:t>
            </a:r>
            <a:r>
              <a:rPr dirty="0" sz="950" spc="-10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950" spc="-60">
                <a:solidFill>
                  <a:srgbClr val="465469"/>
                </a:solidFill>
                <a:latin typeface="Times New Roman"/>
                <a:cs typeface="Times New Roman"/>
              </a:rPr>
              <a:t>UI </a:t>
            </a:r>
            <a:r>
              <a:rPr dirty="0" sz="950" spc="-25">
                <a:solidFill>
                  <a:srgbClr val="465469"/>
                </a:solidFill>
                <a:latin typeface="Times New Roman"/>
                <a:cs typeface="Times New Roman"/>
              </a:rPr>
              <a:t>DE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50" spc="55">
                <a:solidFill>
                  <a:srgbClr val="0A1E36"/>
                </a:solidFill>
                <a:latin typeface="Times New Roman"/>
                <a:cs typeface="Times New Roman"/>
              </a:rPr>
              <a:t>Vijay</a:t>
            </a:r>
            <a:r>
              <a:rPr dirty="0" sz="1250" spc="-4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250" spc="70">
                <a:solidFill>
                  <a:srgbClr val="0A1E36"/>
                </a:solidFill>
                <a:latin typeface="Times New Roman"/>
                <a:cs typeface="Times New Roman"/>
              </a:rPr>
              <a:t>Raja,</a:t>
            </a:r>
            <a:r>
              <a:rPr dirty="0" sz="1250" spc="7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250" spc="130">
                <a:solidFill>
                  <a:srgbClr val="0A1E36"/>
                </a:solidFill>
                <a:latin typeface="Times New Roman"/>
                <a:cs typeface="Times New Roman"/>
              </a:rPr>
              <a:t>Assistant</a:t>
            </a:r>
            <a:r>
              <a:rPr dirty="0" sz="1250" spc="1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250" spc="120">
                <a:solidFill>
                  <a:srgbClr val="0A1E36"/>
                </a:solidFill>
                <a:latin typeface="Times New Roman"/>
                <a:cs typeface="Times New Roman"/>
              </a:rPr>
              <a:t>Professor</a:t>
            </a:r>
            <a:r>
              <a:rPr dirty="0" sz="1250" spc="5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0A1E36"/>
                </a:solidFill>
                <a:latin typeface="Times New Roman"/>
                <a:cs typeface="Times New Roman"/>
              </a:rPr>
              <a:t>(EmpID:</a:t>
            </a:r>
            <a:r>
              <a:rPr dirty="0" sz="1250" spc="114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250" spc="70">
                <a:solidFill>
                  <a:srgbClr val="0A1E36"/>
                </a:solidFill>
                <a:latin typeface="Times New Roman"/>
                <a:cs typeface="Times New Roman"/>
              </a:rPr>
              <a:t>9523)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48600" y="380999"/>
            <a:ext cx="3962400" cy="333375"/>
          </a:xfrm>
          <a:custGeom>
            <a:avLst/>
            <a:gdLst/>
            <a:ahLst/>
            <a:cxnLst/>
            <a:rect l="l" t="t" r="r" b="b"/>
            <a:pathLst>
              <a:path w="3962400" h="333375">
                <a:moveTo>
                  <a:pt x="39293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3929354" y="333375"/>
                </a:lnTo>
                <a:lnTo>
                  <a:pt x="3961434" y="305181"/>
                </a:lnTo>
                <a:lnTo>
                  <a:pt x="3962400" y="300329"/>
                </a:lnTo>
                <a:lnTo>
                  <a:pt x="3962400" y="33045"/>
                </a:lnTo>
                <a:lnTo>
                  <a:pt x="3934206" y="965"/>
                </a:lnTo>
                <a:lnTo>
                  <a:pt x="39293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988300" y="457919"/>
            <a:ext cx="368617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40">
                <a:solidFill>
                  <a:srgbClr val="D97705"/>
                </a:solidFill>
                <a:latin typeface="Times New Roman"/>
                <a:cs typeface="Times New Roman"/>
              </a:rPr>
              <a:t>REVIEW-</a:t>
            </a:r>
            <a:r>
              <a:rPr dirty="0" sz="1000" spc="160">
                <a:solidFill>
                  <a:srgbClr val="D97705"/>
                </a:solidFill>
                <a:latin typeface="Times New Roman"/>
                <a:cs typeface="Times New Roman"/>
              </a:rPr>
              <a:t>2:</a:t>
            </a:r>
            <a:r>
              <a:rPr dirty="0" sz="1000" spc="38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Times New Roman"/>
                <a:cs typeface="Times New Roman"/>
              </a:rPr>
              <a:t>SYSTEM</a:t>
            </a:r>
            <a:r>
              <a:rPr dirty="0" sz="1000" spc="229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DESIGN</a:t>
            </a:r>
            <a:r>
              <a:rPr dirty="0" sz="1000" spc="24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&amp;</a:t>
            </a:r>
            <a:r>
              <a:rPr dirty="0" sz="1000" spc="17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PARTIAL</a:t>
            </a:r>
            <a:r>
              <a:rPr dirty="0" sz="1000" spc="24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D97705"/>
                </a:solidFill>
                <a:latin typeface="Times New Roman"/>
                <a:cs typeface="Times New Roman"/>
              </a:rPr>
              <a:t>IMPLEMENTATION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9300" y="6286468"/>
            <a:ext cx="23158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30">
                <a:solidFill>
                  <a:srgbClr val="465469"/>
                </a:solidFill>
                <a:latin typeface="Courier New"/>
                <a:cs typeface="Courier New"/>
              </a:rPr>
              <a:t>23IE4053A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8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Capstone</a:t>
            </a:r>
            <a:r>
              <a:rPr dirty="0" sz="1050" spc="-9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Project</a:t>
            </a:r>
            <a:r>
              <a:rPr dirty="0" sz="1050" spc="-8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465469"/>
                </a:solidFill>
                <a:latin typeface="Courier New"/>
                <a:cs typeface="Courier New"/>
              </a:rPr>
              <a:t>4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93300" y="6286468"/>
            <a:ext cx="15538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35">
                <a:solidFill>
                  <a:srgbClr val="465469"/>
                </a:solidFill>
                <a:latin typeface="Courier New"/>
                <a:cs typeface="Courier New"/>
              </a:rPr>
              <a:t>22–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24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30">
                <a:solidFill>
                  <a:srgbClr val="465469"/>
                </a:solidFill>
                <a:latin typeface="Courier New"/>
                <a:cs typeface="Courier New"/>
              </a:rPr>
              <a:t>September</a:t>
            </a:r>
            <a:r>
              <a:rPr dirty="0" sz="1050" spc="-8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2026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07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25"/>
              </a:spcBef>
            </a:pPr>
            <a:r>
              <a:rPr dirty="0" spc="190"/>
              <a:t>From</a:t>
            </a:r>
            <a:r>
              <a:rPr dirty="0" spc="-35"/>
              <a:t> </a:t>
            </a:r>
            <a:r>
              <a:rPr dirty="0" spc="275"/>
              <a:t>Dashboard</a:t>
            </a:r>
            <a:r>
              <a:rPr dirty="0" spc="40"/>
              <a:t> </a:t>
            </a:r>
            <a:r>
              <a:rPr dirty="0" spc="300"/>
              <a:t>Concept</a:t>
            </a:r>
            <a:r>
              <a:rPr dirty="0" spc="5"/>
              <a:t> </a:t>
            </a:r>
            <a:r>
              <a:rPr dirty="0" spc="250"/>
              <a:t>to</a:t>
            </a:r>
            <a:r>
              <a:rPr dirty="0" spc="20"/>
              <a:t> </a:t>
            </a:r>
            <a:r>
              <a:rPr dirty="0" spc="254"/>
              <a:t>Trustworthy</a:t>
            </a:r>
            <a:r>
              <a:rPr dirty="0" spc="-95"/>
              <a:t> </a:t>
            </a:r>
            <a:r>
              <a:rPr dirty="0" spc="185"/>
              <a:t>Monitoring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0041" y="3092450"/>
            <a:ext cx="2520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CBD5E1"/>
                </a:solidFill>
                <a:latin typeface="Tahoma"/>
                <a:cs typeface="Tahoma"/>
              </a:rPr>
              <a:t>▼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906000" y="380999"/>
            <a:ext cx="1905000" cy="333375"/>
          </a:xfrm>
          <a:custGeom>
            <a:avLst/>
            <a:gdLst/>
            <a:ahLst/>
            <a:cxnLst/>
            <a:rect l="l" t="t" r="r" b="b"/>
            <a:pathLst>
              <a:path w="1905000" h="333375">
                <a:moveTo>
                  <a:pt x="18719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1871954" y="333375"/>
                </a:lnTo>
                <a:lnTo>
                  <a:pt x="1904034" y="305181"/>
                </a:lnTo>
                <a:lnTo>
                  <a:pt x="1905000" y="300329"/>
                </a:lnTo>
                <a:lnTo>
                  <a:pt x="1905000" y="33045"/>
                </a:lnTo>
                <a:lnTo>
                  <a:pt x="1876806" y="965"/>
                </a:lnTo>
                <a:lnTo>
                  <a:pt x="18719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0045700" y="458055"/>
            <a:ext cx="163258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40">
                <a:solidFill>
                  <a:srgbClr val="D97705"/>
                </a:solidFill>
                <a:latin typeface="Times New Roman"/>
                <a:cs typeface="Times New Roman"/>
              </a:rPr>
              <a:t>REVIEW-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1</a:t>
            </a:r>
            <a:r>
              <a:rPr dirty="0" sz="1000" spc="48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40">
                <a:solidFill>
                  <a:srgbClr val="D97705"/>
                </a:solidFill>
                <a:latin typeface="Times New Roman"/>
                <a:cs typeface="Times New Roman"/>
              </a:rPr>
              <a:t>IMPROVEMENTS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62000" y="1133474"/>
            <a:ext cx="10668000" cy="1704975"/>
            <a:chOff x="762000" y="1133474"/>
            <a:chExt cx="10668000" cy="1704975"/>
          </a:xfrm>
        </p:grpSpPr>
        <p:sp>
          <p:nvSpPr>
            <p:cNvPr id="7" name="object 7"/>
            <p:cNvSpPr/>
            <p:nvPr/>
          </p:nvSpPr>
          <p:spPr>
            <a:xfrm>
              <a:off x="766762" y="1138237"/>
              <a:ext cx="10658475" cy="1695450"/>
            </a:xfrm>
            <a:custGeom>
              <a:avLst/>
              <a:gdLst/>
              <a:ahLst/>
              <a:cxnLst/>
              <a:rect l="l" t="t" r="r" b="b"/>
              <a:pathLst>
                <a:path w="10658475" h="1695450">
                  <a:moveTo>
                    <a:pt x="106295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1662112"/>
                  </a:lnTo>
                  <a:lnTo>
                    <a:pt x="0" y="1666532"/>
                  </a:lnTo>
                  <a:lnTo>
                    <a:pt x="28917" y="1695450"/>
                  </a:lnTo>
                  <a:lnTo>
                    <a:pt x="10629557" y="1695450"/>
                  </a:lnTo>
                  <a:lnTo>
                    <a:pt x="10658475" y="1666532"/>
                  </a:lnTo>
                  <a:lnTo>
                    <a:pt x="10658475" y="28917"/>
                  </a:lnTo>
                  <a:lnTo>
                    <a:pt x="10633811" y="838"/>
                  </a:lnTo>
                  <a:lnTo>
                    <a:pt x="106295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6762" y="1138237"/>
              <a:ext cx="10658475" cy="1695450"/>
            </a:xfrm>
            <a:custGeom>
              <a:avLst/>
              <a:gdLst/>
              <a:ahLst/>
              <a:cxnLst/>
              <a:rect l="l" t="t" r="r" b="b"/>
              <a:pathLst>
                <a:path w="10658475" h="1695450">
                  <a:moveTo>
                    <a:pt x="0" y="166211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10625137" y="0"/>
                  </a:lnTo>
                  <a:lnTo>
                    <a:pt x="10629557" y="0"/>
                  </a:lnTo>
                  <a:lnTo>
                    <a:pt x="10633811" y="838"/>
                  </a:lnTo>
                  <a:lnTo>
                    <a:pt x="10637888" y="2540"/>
                  </a:lnTo>
                  <a:lnTo>
                    <a:pt x="10641977" y="4229"/>
                  </a:lnTo>
                  <a:lnTo>
                    <a:pt x="10645584" y="6642"/>
                  </a:lnTo>
                  <a:lnTo>
                    <a:pt x="10648708" y="9766"/>
                  </a:lnTo>
                  <a:lnTo>
                    <a:pt x="10651833" y="12890"/>
                  </a:lnTo>
                  <a:lnTo>
                    <a:pt x="10654246" y="16497"/>
                  </a:lnTo>
                  <a:lnTo>
                    <a:pt x="10655935" y="20574"/>
                  </a:lnTo>
                  <a:lnTo>
                    <a:pt x="10657624" y="24663"/>
                  </a:lnTo>
                  <a:lnTo>
                    <a:pt x="10658475" y="28917"/>
                  </a:lnTo>
                  <a:lnTo>
                    <a:pt x="10658475" y="33337"/>
                  </a:lnTo>
                  <a:lnTo>
                    <a:pt x="10658475" y="1662112"/>
                  </a:lnTo>
                  <a:lnTo>
                    <a:pt x="10658475" y="1666532"/>
                  </a:lnTo>
                  <a:lnTo>
                    <a:pt x="10657624" y="1670786"/>
                  </a:lnTo>
                  <a:lnTo>
                    <a:pt x="10655935" y="1674863"/>
                  </a:lnTo>
                  <a:lnTo>
                    <a:pt x="10654246" y="1678952"/>
                  </a:lnTo>
                  <a:lnTo>
                    <a:pt x="10651833" y="1682559"/>
                  </a:lnTo>
                  <a:lnTo>
                    <a:pt x="10648708" y="1685683"/>
                  </a:lnTo>
                  <a:lnTo>
                    <a:pt x="10645584" y="1688807"/>
                  </a:lnTo>
                  <a:lnTo>
                    <a:pt x="10641977" y="1691220"/>
                  </a:lnTo>
                  <a:lnTo>
                    <a:pt x="10637888" y="1692910"/>
                  </a:lnTo>
                  <a:lnTo>
                    <a:pt x="10633811" y="1694599"/>
                  </a:lnTo>
                  <a:lnTo>
                    <a:pt x="10629557" y="1695450"/>
                  </a:lnTo>
                  <a:lnTo>
                    <a:pt x="10625137" y="1695450"/>
                  </a:lnTo>
                  <a:lnTo>
                    <a:pt x="33337" y="1695450"/>
                  </a:lnTo>
                  <a:lnTo>
                    <a:pt x="28917" y="1695450"/>
                  </a:lnTo>
                  <a:lnTo>
                    <a:pt x="24665" y="1694599"/>
                  </a:lnTo>
                  <a:lnTo>
                    <a:pt x="20577" y="1692910"/>
                  </a:lnTo>
                  <a:lnTo>
                    <a:pt x="16494" y="1691220"/>
                  </a:lnTo>
                  <a:lnTo>
                    <a:pt x="12887" y="1688807"/>
                  </a:lnTo>
                  <a:lnTo>
                    <a:pt x="9763" y="1685683"/>
                  </a:lnTo>
                  <a:lnTo>
                    <a:pt x="6638" y="1682559"/>
                  </a:lnTo>
                  <a:lnTo>
                    <a:pt x="4231" y="1678952"/>
                  </a:lnTo>
                  <a:lnTo>
                    <a:pt x="2540" y="1674863"/>
                  </a:lnTo>
                  <a:lnTo>
                    <a:pt x="843" y="1670786"/>
                  </a:lnTo>
                  <a:lnTo>
                    <a:pt x="0" y="1666532"/>
                  </a:lnTo>
                  <a:lnTo>
                    <a:pt x="0" y="16621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96950" y="1381927"/>
            <a:ext cx="222059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solidFill>
                  <a:srgbClr val="465469"/>
                </a:solidFill>
                <a:latin typeface="Times New Roman"/>
                <a:cs typeface="Times New Roman"/>
              </a:rPr>
              <a:t>ORIGINAL</a:t>
            </a:r>
            <a:r>
              <a:rPr dirty="0" sz="1000" spc="1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465469"/>
                </a:solidFill>
                <a:latin typeface="Times New Roman"/>
                <a:cs typeface="Times New Roman"/>
              </a:rPr>
              <a:t>DIRECTION</a:t>
            </a:r>
            <a:r>
              <a:rPr dirty="0" sz="1000" spc="1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465469"/>
                </a:solidFill>
                <a:latin typeface="Times New Roman"/>
                <a:cs typeface="Times New Roman"/>
              </a:rPr>
              <a:t>(PROPOSAL)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6950" y="1632041"/>
            <a:ext cx="9869805" cy="919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120">
                <a:solidFill>
                  <a:srgbClr val="0A1E36"/>
                </a:solidFill>
                <a:latin typeface="Times New Roman"/>
                <a:cs typeface="Times New Roman"/>
              </a:rPr>
              <a:t>Generic</a:t>
            </a:r>
            <a:r>
              <a:rPr dirty="0" sz="1600" spc="-8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70">
                <a:solidFill>
                  <a:srgbClr val="0A1E36"/>
                </a:solidFill>
                <a:latin typeface="Times New Roman"/>
                <a:cs typeface="Times New Roman"/>
              </a:rPr>
              <a:t>Cloud-</a:t>
            </a:r>
            <a:r>
              <a:rPr dirty="0" sz="1600" spc="140">
                <a:solidFill>
                  <a:srgbClr val="0A1E36"/>
                </a:solidFill>
                <a:latin typeface="Times New Roman"/>
                <a:cs typeface="Times New Roman"/>
              </a:rPr>
              <a:t>Based</a:t>
            </a:r>
            <a:r>
              <a:rPr dirty="0" sz="1600" spc="-2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50">
                <a:solidFill>
                  <a:srgbClr val="0A1E36"/>
                </a:solidFill>
                <a:latin typeface="Times New Roman"/>
                <a:cs typeface="Times New Roman"/>
              </a:rPr>
              <a:t>IoT</a:t>
            </a:r>
            <a:r>
              <a:rPr dirty="0" sz="1600" spc="-12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130">
                <a:solidFill>
                  <a:srgbClr val="0A1E36"/>
                </a:solidFill>
                <a:latin typeface="Times New Roman"/>
                <a:cs typeface="Times New Roman"/>
              </a:rPr>
              <a:t>Health</a:t>
            </a:r>
            <a:r>
              <a:rPr dirty="0" sz="1600" spc="-1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65">
                <a:solidFill>
                  <a:srgbClr val="0A1E36"/>
                </a:solidFill>
                <a:latin typeface="Times New Roman"/>
                <a:cs typeface="Times New Roman"/>
              </a:rPr>
              <a:t>Monitoring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00">
                <a:solidFill>
                  <a:srgbClr val="0E162A"/>
                </a:solidFill>
                <a:latin typeface="Times New Roman"/>
                <a:cs typeface="Times New Roman"/>
              </a:rPr>
              <a:t>Focus</a:t>
            </a:r>
            <a:r>
              <a:rPr dirty="0" sz="1300" spc="-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0E162A"/>
                </a:solidFill>
                <a:latin typeface="Times New Roman"/>
                <a:cs typeface="Times New Roman"/>
              </a:rPr>
              <a:t>on</a:t>
            </a:r>
            <a:r>
              <a:rPr dirty="0" sz="1300" spc="6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0E162A"/>
                </a:solidFill>
                <a:latin typeface="Times New Roman"/>
                <a:cs typeface="Times New Roman"/>
              </a:rPr>
              <a:t>sensor</a:t>
            </a:r>
            <a:r>
              <a:rPr dirty="0" sz="130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0E162A"/>
                </a:solidFill>
                <a:latin typeface="Times New Roman"/>
                <a:cs typeface="Times New Roman"/>
              </a:rPr>
              <a:t>acquisition,</a:t>
            </a:r>
            <a:r>
              <a:rPr dirty="0" sz="1300" spc="10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cloud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0E162A"/>
                </a:solidFill>
                <a:latin typeface="Times New Roman"/>
                <a:cs typeface="Times New Roman"/>
              </a:rPr>
              <a:t>upload,</a:t>
            </a:r>
            <a:r>
              <a:rPr dirty="0" sz="130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dashboard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visualization.</a:t>
            </a:r>
            <a:r>
              <a:rPr dirty="0" sz="1300" spc="1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0E162A"/>
                </a:solidFill>
                <a:latin typeface="Times New Roman"/>
                <a:cs typeface="Times New Roman"/>
              </a:rPr>
              <a:t>Assumed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continuous</a:t>
            </a:r>
            <a:r>
              <a:rPr dirty="0" sz="13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0E162A"/>
                </a:solidFill>
                <a:latin typeface="Times New Roman"/>
                <a:cs typeface="Times New Roman"/>
              </a:rPr>
              <a:t>connectivity</a:t>
            </a:r>
            <a:r>
              <a:rPr dirty="0" sz="1300" spc="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reliable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0E162A"/>
                </a:solidFill>
                <a:latin typeface="Times New Roman"/>
                <a:cs typeface="Times New Roman"/>
              </a:rPr>
              <a:t>sensor</a:t>
            </a:r>
            <a:r>
              <a:rPr dirty="0" sz="130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data.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60">
                <a:solidFill>
                  <a:srgbClr val="0E162A"/>
                </a:solidFill>
                <a:latin typeface="Times New Roman"/>
                <a:cs typeface="Times New Roman"/>
              </a:rPr>
              <a:t>Primary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">
                <a:solidFill>
                  <a:srgbClr val="0E162A"/>
                </a:solidFill>
                <a:latin typeface="Times New Roman"/>
                <a:cs typeface="Times New Roman"/>
              </a:rPr>
              <a:t>goal</a:t>
            </a:r>
            <a:r>
              <a:rPr dirty="0" sz="1300" spc="1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0E162A"/>
                </a:solidFill>
                <a:latin typeface="Times New Roman"/>
                <a:cs typeface="Times New Roman"/>
              </a:rPr>
              <a:t>was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a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">
                <a:solidFill>
                  <a:srgbClr val="0E162A"/>
                </a:solidFill>
                <a:latin typeface="Times New Roman"/>
                <a:cs typeface="Times New Roman"/>
              </a:rPr>
              <a:t>functional</a:t>
            </a:r>
            <a:r>
              <a:rPr dirty="0" sz="130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0E162A"/>
                </a:solidFill>
                <a:latin typeface="Times New Roman"/>
                <a:cs typeface="Times New Roman"/>
              </a:rPr>
              <a:t>data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">
                <a:solidFill>
                  <a:srgbClr val="0E162A"/>
                </a:solidFill>
                <a:latin typeface="Times New Roman"/>
                <a:cs typeface="Times New Roman"/>
              </a:rPr>
              <a:t>pipeline</a:t>
            </a:r>
            <a:r>
              <a:rPr dirty="0" sz="1300" spc="6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from</a:t>
            </a:r>
            <a:r>
              <a:rPr dirty="0" sz="1300" spc="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Raspberry</a:t>
            </a:r>
            <a:r>
              <a:rPr dirty="0" sz="130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Pi</a:t>
            </a:r>
            <a:r>
              <a:rPr dirty="0" sz="130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0E162A"/>
                </a:solidFill>
                <a:latin typeface="Times New Roman"/>
                <a:cs typeface="Times New Roman"/>
              </a:rPr>
              <a:t>to</a:t>
            </a:r>
            <a:r>
              <a:rPr dirty="0" sz="130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0E162A"/>
                </a:solidFill>
                <a:latin typeface="Times New Roman"/>
                <a:cs typeface="Times New Roman"/>
              </a:rPr>
              <a:t>AWS/Azure.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61999" y="3686175"/>
            <a:ext cx="10668000" cy="2343150"/>
            <a:chOff x="761999" y="3686175"/>
            <a:chExt cx="10668000" cy="2343150"/>
          </a:xfrm>
        </p:grpSpPr>
        <p:sp>
          <p:nvSpPr>
            <p:cNvPr id="12" name="object 12"/>
            <p:cNvSpPr/>
            <p:nvPr/>
          </p:nvSpPr>
          <p:spPr>
            <a:xfrm>
              <a:off x="790575" y="3690937"/>
              <a:ext cx="10634980" cy="2333625"/>
            </a:xfrm>
            <a:custGeom>
              <a:avLst/>
              <a:gdLst/>
              <a:ahLst/>
              <a:cxnLst/>
              <a:rect l="l" t="t" r="r" b="b"/>
              <a:pathLst>
                <a:path w="10634980" h="2333625">
                  <a:moveTo>
                    <a:pt x="10605744" y="0"/>
                  </a:moveTo>
                  <a:lnTo>
                    <a:pt x="8260" y="0"/>
                  </a:lnTo>
                  <a:lnTo>
                    <a:pt x="7044" y="838"/>
                  </a:lnTo>
                  <a:lnTo>
                    <a:pt x="0" y="28917"/>
                  </a:lnTo>
                  <a:lnTo>
                    <a:pt x="0" y="2300287"/>
                  </a:lnTo>
                  <a:lnTo>
                    <a:pt x="0" y="2304707"/>
                  </a:lnTo>
                  <a:lnTo>
                    <a:pt x="8260" y="2333625"/>
                  </a:lnTo>
                  <a:lnTo>
                    <a:pt x="10605744" y="2333625"/>
                  </a:lnTo>
                  <a:lnTo>
                    <a:pt x="10634662" y="2304707"/>
                  </a:lnTo>
                  <a:lnTo>
                    <a:pt x="10634662" y="28917"/>
                  </a:lnTo>
                  <a:lnTo>
                    <a:pt x="10609999" y="838"/>
                  </a:lnTo>
                  <a:lnTo>
                    <a:pt x="10605744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83653" y="3686187"/>
              <a:ext cx="10646410" cy="2343150"/>
            </a:xfrm>
            <a:custGeom>
              <a:avLst/>
              <a:gdLst/>
              <a:ahLst/>
              <a:cxnLst/>
              <a:rect l="l" t="t" r="r" b="b"/>
              <a:pathLst>
                <a:path w="10646410" h="2343150">
                  <a:moveTo>
                    <a:pt x="10646334" y="38100"/>
                  </a:moveTo>
                  <a:lnTo>
                    <a:pt x="10645635" y="30492"/>
                  </a:lnTo>
                  <a:lnTo>
                    <a:pt x="10643553" y="23469"/>
                  </a:lnTo>
                  <a:lnTo>
                    <a:pt x="10640060" y="17018"/>
                  </a:lnTo>
                  <a:lnTo>
                    <a:pt x="10635602" y="11684"/>
                  </a:lnTo>
                  <a:lnTo>
                    <a:pt x="10608234" y="0"/>
                  </a:lnTo>
                  <a:lnTo>
                    <a:pt x="16433" y="0"/>
                  </a:lnTo>
                  <a:lnTo>
                    <a:pt x="8839" y="685"/>
                  </a:lnTo>
                  <a:lnTo>
                    <a:pt x="1816" y="2781"/>
                  </a:lnTo>
                  <a:lnTo>
                    <a:pt x="0" y="3759"/>
                  </a:lnTo>
                  <a:lnTo>
                    <a:pt x="35483" y="9677"/>
                  </a:lnTo>
                  <a:lnTo>
                    <a:pt x="35483" y="9525"/>
                  </a:lnTo>
                  <a:lnTo>
                    <a:pt x="10616121" y="9525"/>
                  </a:lnTo>
                  <a:lnTo>
                    <a:pt x="10622864" y="12319"/>
                  </a:lnTo>
                  <a:lnTo>
                    <a:pt x="10628440" y="17894"/>
                  </a:lnTo>
                  <a:lnTo>
                    <a:pt x="10634015" y="23469"/>
                  </a:lnTo>
                  <a:lnTo>
                    <a:pt x="10636809" y="30213"/>
                  </a:lnTo>
                  <a:lnTo>
                    <a:pt x="10636809" y="2312936"/>
                  </a:lnTo>
                  <a:lnTo>
                    <a:pt x="10634015" y="2319667"/>
                  </a:lnTo>
                  <a:lnTo>
                    <a:pt x="10628440" y="2325243"/>
                  </a:lnTo>
                  <a:lnTo>
                    <a:pt x="10622864" y="2330831"/>
                  </a:lnTo>
                  <a:lnTo>
                    <a:pt x="10616121" y="2333625"/>
                  </a:lnTo>
                  <a:lnTo>
                    <a:pt x="35483" y="2333625"/>
                  </a:lnTo>
                  <a:lnTo>
                    <a:pt x="35483" y="2333460"/>
                  </a:lnTo>
                  <a:lnTo>
                    <a:pt x="0" y="2339378"/>
                  </a:lnTo>
                  <a:lnTo>
                    <a:pt x="1816" y="2340356"/>
                  </a:lnTo>
                  <a:lnTo>
                    <a:pt x="8839" y="2342451"/>
                  </a:lnTo>
                  <a:lnTo>
                    <a:pt x="16433" y="2343150"/>
                  </a:lnTo>
                  <a:lnTo>
                    <a:pt x="10608234" y="2343150"/>
                  </a:lnTo>
                  <a:lnTo>
                    <a:pt x="10635615" y="2331466"/>
                  </a:lnTo>
                  <a:lnTo>
                    <a:pt x="10640060" y="2326119"/>
                  </a:lnTo>
                  <a:lnTo>
                    <a:pt x="10643553" y="2319667"/>
                  </a:lnTo>
                  <a:lnTo>
                    <a:pt x="10645635" y="2312644"/>
                  </a:lnTo>
                  <a:lnTo>
                    <a:pt x="10646334" y="2305050"/>
                  </a:lnTo>
                  <a:lnTo>
                    <a:pt x="10646334" y="381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1999" y="3689823"/>
              <a:ext cx="57150" cy="2336165"/>
            </a:xfrm>
            <a:custGeom>
              <a:avLst/>
              <a:gdLst/>
              <a:ahLst/>
              <a:cxnLst/>
              <a:rect l="l" t="t" r="r" b="b"/>
              <a:pathLst>
                <a:path w="57150" h="2336165">
                  <a:moveTo>
                    <a:pt x="21889" y="0"/>
                  </a:moveTo>
                  <a:lnTo>
                    <a:pt x="0" y="34451"/>
                  </a:lnTo>
                  <a:lnTo>
                    <a:pt x="0" y="2301401"/>
                  </a:lnTo>
                  <a:lnTo>
                    <a:pt x="21888" y="2335853"/>
                  </a:lnTo>
                  <a:lnTo>
                    <a:pt x="57149" y="2329976"/>
                  </a:lnTo>
                  <a:lnTo>
                    <a:pt x="57149" y="5876"/>
                  </a:lnTo>
                  <a:lnTo>
                    <a:pt x="21889" y="0"/>
                  </a:lnTo>
                  <a:close/>
                </a:path>
              </a:pathLst>
            </a:custGeom>
            <a:solidFill>
              <a:srgbClr val="0E75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19149" y="3874200"/>
            <a:ext cx="10593070" cy="1220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465469"/>
                </a:solidFill>
                <a:latin typeface="Times New Roman"/>
                <a:cs typeface="Times New Roman"/>
              </a:rPr>
              <a:t>REFINED</a:t>
            </a:r>
            <a:r>
              <a:rPr dirty="0" sz="1000" spc="21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465469"/>
                </a:solidFill>
                <a:latin typeface="Times New Roman"/>
                <a:cs typeface="Times New Roman"/>
              </a:rPr>
              <a:t>DIRECTION</a:t>
            </a:r>
            <a:r>
              <a:rPr dirty="0" sz="1000" spc="24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465469"/>
                </a:solidFill>
                <a:latin typeface="Times New Roman"/>
                <a:cs typeface="Times New Roman"/>
              </a:rPr>
              <a:t>(REVIEW-</a:t>
            </a:r>
            <a:r>
              <a:rPr dirty="0" sz="1000" spc="65">
                <a:solidFill>
                  <a:srgbClr val="465469"/>
                </a:solidFill>
                <a:latin typeface="Times New Roman"/>
                <a:cs typeface="Times New Roman"/>
              </a:rPr>
              <a:t>2)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  <a:spcBef>
                <a:spcPts val="5"/>
              </a:spcBef>
            </a:pPr>
            <a:r>
              <a:rPr dirty="0" sz="1600" spc="120">
                <a:solidFill>
                  <a:srgbClr val="0A1E36"/>
                </a:solidFill>
                <a:latin typeface="Times New Roman"/>
                <a:cs typeface="Times New Roman"/>
              </a:rPr>
              <a:t>Secure,</a:t>
            </a:r>
            <a:r>
              <a:rPr dirty="0" sz="1600" spc="6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50">
                <a:solidFill>
                  <a:srgbClr val="0A1E36"/>
                </a:solidFill>
                <a:latin typeface="Times New Roman"/>
                <a:cs typeface="Times New Roman"/>
              </a:rPr>
              <a:t>Offline-</a:t>
            </a:r>
            <a:r>
              <a:rPr dirty="0" sz="1600" spc="90">
                <a:solidFill>
                  <a:srgbClr val="0A1E36"/>
                </a:solidFill>
                <a:latin typeface="Times New Roman"/>
                <a:cs typeface="Times New Roman"/>
              </a:rPr>
              <a:t>Resilient,</a:t>
            </a:r>
            <a:r>
              <a:rPr dirty="0" sz="1600" spc="6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110">
                <a:solidFill>
                  <a:srgbClr val="0A1E36"/>
                </a:solidFill>
                <a:latin typeface="Times New Roman"/>
                <a:cs typeface="Times New Roman"/>
              </a:rPr>
              <a:t>Noise-</a:t>
            </a:r>
            <a:r>
              <a:rPr dirty="0" sz="1600" spc="95">
                <a:solidFill>
                  <a:srgbClr val="0A1E36"/>
                </a:solidFill>
                <a:latin typeface="Times New Roman"/>
                <a:cs typeface="Times New Roman"/>
              </a:rPr>
              <a:t>Aware</a:t>
            </a:r>
            <a:r>
              <a:rPr dirty="0" sz="1600" spc="-1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00" spc="105">
                <a:solidFill>
                  <a:srgbClr val="0A1E36"/>
                </a:solidFill>
                <a:latin typeface="Times New Roman"/>
                <a:cs typeface="Times New Roman"/>
              </a:rPr>
              <a:t>Framework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</a:pPr>
            <a:r>
              <a:rPr dirty="0" sz="1300" spc="65">
                <a:solidFill>
                  <a:srgbClr val="0E162A"/>
                </a:solidFill>
                <a:latin typeface="Times New Roman"/>
                <a:cs typeface="Times New Roman"/>
              </a:rPr>
              <a:t>Shift</a:t>
            </a:r>
            <a:r>
              <a:rPr dirty="0" sz="1300" spc="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0E162A"/>
                </a:solidFill>
                <a:latin typeface="Times New Roman"/>
                <a:cs typeface="Times New Roman"/>
              </a:rPr>
              <a:t>to</a:t>
            </a:r>
            <a:r>
              <a:rPr dirty="0" sz="1300" spc="-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a</a:t>
            </a:r>
            <a:r>
              <a:rPr dirty="0" sz="130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0E162A"/>
                </a:solidFill>
                <a:latin typeface="Times New Roman"/>
                <a:cs typeface="Times New Roman"/>
              </a:rPr>
              <a:t>local-</a:t>
            </a:r>
            <a:r>
              <a:rPr dirty="0" sz="1300" spc="229">
                <a:solidFill>
                  <a:srgbClr val="0E162A"/>
                </a:solidFill>
                <a:latin typeface="Times New Roman"/>
                <a:cs typeface="Times New Roman"/>
              </a:rPr>
              <a:t>irst</a:t>
            </a:r>
            <a:r>
              <a:rPr dirty="0" sz="1300" spc="-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architecture.</a:t>
            </a:r>
            <a:r>
              <a:rPr dirty="0" sz="1300" spc="1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edge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node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0E162A"/>
                </a:solidFill>
                <a:latin typeface="Times New Roman"/>
                <a:cs typeface="Times New Roman"/>
              </a:rPr>
              <a:t>(Raspberry</a:t>
            </a:r>
            <a:r>
              <a:rPr dirty="0" sz="1300" spc="-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Pi)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is</a:t>
            </a:r>
            <a:r>
              <a:rPr dirty="0" sz="130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95">
                <a:solidFill>
                  <a:srgbClr val="0E162A"/>
                </a:solidFill>
                <a:latin typeface="Times New Roman"/>
                <a:cs typeface="Times New Roman"/>
              </a:rPr>
              <a:t>now</a:t>
            </a:r>
            <a:r>
              <a:rPr dirty="0" sz="1300" spc="-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0E162A"/>
                </a:solidFill>
                <a:latin typeface="Times New Roman"/>
                <a:cs typeface="Times New Roman"/>
              </a:rPr>
              <a:t>responsible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for</a:t>
            </a:r>
            <a:r>
              <a:rPr dirty="0" sz="1300" spc="-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0E162A"/>
                </a:solidFill>
                <a:latin typeface="Times New Roman"/>
                <a:cs typeface="Times New Roman"/>
              </a:rPr>
              <a:t>evidence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60">
                <a:solidFill>
                  <a:srgbClr val="0E162A"/>
                </a:solidFill>
                <a:latin typeface="Times New Roman"/>
                <a:cs typeface="Times New Roman"/>
              </a:rPr>
              <a:t>preservation</a:t>
            </a:r>
            <a:r>
              <a:rPr dirty="0" sz="13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0">
                <a:solidFill>
                  <a:srgbClr val="0E162A"/>
                </a:solidFill>
                <a:latin typeface="Times New Roman"/>
                <a:cs typeface="Times New Roman"/>
              </a:rPr>
              <a:t>first-</a:t>
            </a:r>
            <a:r>
              <a:rPr dirty="0" sz="1300" spc="-10">
                <a:solidFill>
                  <a:srgbClr val="0E162A"/>
                </a:solidFill>
                <a:latin typeface="Times New Roman"/>
                <a:cs typeface="Times New Roman"/>
              </a:rPr>
              <a:t>level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</a:pPr>
            <a:r>
              <a:rPr dirty="0" sz="1300" spc="50">
                <a:solidFill>
                  <a:srgbClr val="0E162A"/>
                </a:solidFill>
                <a:latin typeface="Times New Roman"/>
                <a:cs typeface="Times New Roman"/>
              </a:rPr>
              <a:t>interpretation.</a:t>
            </a:r>
            <a:r>
              <a:rPr dirty="0" sz="1300" spc="1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0E162A"/>
                </a:solidFill>
                <a:latin typeface="Times New Roman"/>
                <a:cs typeface="Times New Roman"/>
              </a:rPr>
              <a:t>system</a:t>
            </a:r>
            <a:r>
              <a:rPr dirty="0" sz="130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is</a:t>
            </a:r>
            <a:r>
              <a:rPr dirty="0" sz="1300" spc="-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designed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0E162A"/>
                </a:solidFill>
                <a:latin typeface="Times New Roman"/>
                <a:cs typeface="Times New Roman"/>
              </a:rPr>
              <a:t>to</a:t>
            </a:r>
            <a:r>
              <a:rPr dirty="0" sz="1300" spc="-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0E162A"/>
                </a:solidFill>
                <a:latin typeface="Times New Roman"/>
                <a:cs typeface="Times New Roman"/>
              </a:rPr>
              <a:t>handle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0E162A"/>
                </a:solidFill>
                <a:latin typeface="Times New Roman"/>
                <a:cs typeface="Times New Roman"/>
              </a:rPr>
              <a:t>real-</a:t>
            </a:r>
            <a:r>
              <a:rPr dirty="0" sz="1300">
                <a:solidFill>
                  <a:srgbClr val="0E162A"/>
                </a:solidFill>
                <a:latin typeface="Times New Roman"/>
                <a:cs typeface="Times New Roman"/>
              </a:rPr>
              <a:t>world</a:t>
            </a:r>
            <a:r>
              <a:rPr dirty="0" sz="130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0E162A"/>
                </a:solidFill>
                <a:latin typeface="Times New Roman"/>
                <a:cs typeface="Times New Roman"/>
              </a:rPr>
              <a:t>constraints:</a:t>
            </a:r>
            <a:r>
              <a:rPr dirty="0" sz="130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0E162A"/>
                </a:solidFill>
                <a:latin typeface="Times New Roman"/>
                <a:cs typeface="Times New Roman"/>
              </a:rPr>
              <a:t>noisy</a:t>
            </a:r>
            <a:r>
              <a:rPr dirty="0" sz="1300" spc="-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0E162A"/>
                </a:solidFill>
                <a:latin typeface="Times New Roman"/>
                <a:cs typeface="Times New Roman"/>
              </a:rPr>
              <a:t>sensors</a:t>
            </a:r>
            <a:r>
              <a:rPr dirty="0" sz="1300" spc="-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3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0E162A"/>
                </a:solidFill>
                <a:latin typeface="Times New Roman"/>
                <a:cs typeface="Times New Roman"/>
              </a:rPr>
              <a:t>intermittent</a:t>
            </a:r>
            <a:r>
              <a:rPr dirty="0" sz="130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0E162A"/>
                </a:solidFill>
                <a:latin typeface="Times New Roman"/>
                <a:cs typeface="Times New Roman"/>
              </a:rPr>
              <a:t>networks.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9300" y="6286468"/>
            <a:ext cx="33826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35">
                <a:solidFill>
                  <a:srgbClr val="465469"/>
                </a:solidFill>
                <a:latin typeface="Courier New"/>
                <a:cs typeface="Courier New"/>
              </a:rPr>
              <a:t>github.com/krtaylor/IoT-Health-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Monitor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Courier New"/>
                <a:cs typeface="Courier New"/>
              </a:rPr>
              <a:t>(Ref)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2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1062037" y="5329237"/>
            <a:ext cx="238125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</a:pPr>
            <a:r>
              <a:rPr dirty="0" sz="950" spc="50">
                <a:solidFill>
                  <a:srgbClr val="0E756E"/>
                </a:solidFill>
                <a:latin typeface="Times New Roman"/>
                <a:cs typeface="Times New Roman"/>
              </a:rPr>
              <a:t>NOISE</a:t>
            </a:r>
            <a:r>
              <a:rPr dirty="0" sz="950" spc="-3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0E756E"/>
                </a:solidFill>
                <a:latin typeface="Times New Roman"/>
                <a:cs typeface="Times New Roman"/>
              </a:rPr>
              <a:t>AWARENESS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43312" y="5329237"/>
            <a:ext cx="238125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</a:pPr>
            <a:r>
              <a:rPr dirty="0" sz="950" spc="20">
                <a:solidFill>
                  <a:srgbClr val="0E756E"/>
                </a:solidFill>
                <a:latin typeface="Times New Roman"/>
                <a:cs typeface="Times New Roman"/>
              </a:rPr>
              <a:t>OFFLINE</a:t>
            </a:r>
            <a:r>
              <a:rPr dirty="0" sz="950" spc="13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0E756E"/>
                </a:solidFill>
                <a:latin typeface="Times New Roman"/>
                <a:cs typeface="Times New Roman"/>
              </a:rPr>
              <a:t>RESILIENCE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24587" y="5329237"/>
            <a:ext cx="2371725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641350">
              <a:lnSpc>
                <a:spcPct val="100000"/>
              </a:lnSpc>
            </a:pPr>
            <a:r>
              <a:rPr dirty="0" sz="950">
                <a:solidFill>
                  <a:srgbClr val="0E756E"/>
                </a:solidFill>
                <a:latin typeface="Times New Roman"/>
                <a:cs typeface="Times New Roman"/>
              </a:rPr>
              <a:t>EXPLAINABLE</a:t>
            </a:r>
            <a:r>
              <a:rPr dirty="0" sz="950" spc="15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950" spc="-25">
                <a:solidFill>
                  <a:srgbClr val="0E756E"/>
                </a:solidFill>
                <a:latin typeface="Times New Roman"/>
                <a:cs typeface="Times New Roman"/>
              </a:rPr>
              <a:t>ML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96337" y="5329237"/>
            <a:ext cx="2381250" cy="447675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">
              <a:latin typeface="Times New Roman"/>
              <a:cs typeface="Times New Roman"/>
            </a:endParaRPr>
          </a:p>
          <a:p>
            <a:pPr marL="524510">
              <a:lnSpc>
                <a:spcPct val="100000"/>
              </a:lnSpc>
            </a:pPr>
            <a:r>
              <a:rPr dirty="0" sz="950" spc="45">
                <a:solidFill>
                  <a:srgbClr val="0E756E"/>
                </a:solidFill>
                <a:latin typeface="Times New Roman"/>
                <a:cs typeface="Times New Roman"/>
              </a:rPr>
              <a:t>SECURITY</a:t>
            </a:r>
            <a:r>
              <a:rPr dirty="0" sz="950" spc="-1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0E756E"/>
                </a:solidFill>
                <a:latin typeface="Times New Roman"/>
                <a:cs typeface="Times New Roman"/>
              </a:rPr>
              <a:t>BY</a:t>
            </a:r>
            <a:r>
              <a:rPr dirty="0" sz="950" spc="-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0E756E"/>
                </a:solidFill>
                <a:latin typeface="Times New Roman"/>
                <a:cs typeface="Times New Roman"/>
              </a:rPr>
              <a:t>DESIGN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8149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30"/>
              </a:spcBef>
            </a:pPr>
            <a:r>
              <a:rPr dirty="0" spc="295"/>
              <a:t>System</a:t>
            </a:r>
            <a:r>
              <a:rPr dirty="0" spc="-40"/>
              <a:t> </a:t>
            </a:r>
            <a:r>
              <a:rPr dirty="0" spc="245"/>
              <a:t>Requirements</a:t>
            </a:r>
            <a:r>
              <a:rPr dirty="0" spc="-5"/>
              <a:t> </a:t>
            </a:r>
            <a:r>
              <a:rPr dirty="0" spc="325"/>
              <a:t>and</a:t>
            </a:r>
            <a:r>
              <a:rPr dirty="0" spc="30"/>
              <a:t> </a:t>
            </a:r>
            <a:r>
              <a:rPr dirty="0" spc="260"/>
              <a:t>Hardware</a:t>
            </a:r>
            <a:r>
              <a:rPr dirty="0" spc="-25"/>
              <a:t> </a:t>
            </a:r>
            <a:r>
              <a:rPr dirty="0" spc="270"/>
              <a:t>Boundary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0" y="1409699"/>
            <a:ext cx="6172200" cy="447675"/>
            <a:chOff x="762000" y="1409699"/>
            <a:chExt cx="6172200" cy="447675"/>
          </a:xfrm>
        </p:grpSpPr>
        <p:sp>
          <p:nvSpPr>
            <p:cNvPr id="4" name="object 4"/>
            <p:cNvSpPr/>
            <p:nvPr/>
          </p:nvSpPr>
          <p:spPr>
            <a:xfrm>
              <a:off x="766762" y="1414462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61337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404812"/>
                  </a:lnTo>
                  <a:lnTo>
                    <a:pt x="0" y="409232"/>
                  </a:lnTo>
                  <a:lnTo>
                    <a:pt x="28917" y="438150"/>
                  </a:lnTo>
                  <a:lnTo>
                    <a:pt x="6133757" y="438150"/>
                  </a:lnTo>
                  <a:lnTo>
                    <a:pt x="6162675" y="409232"/>
                  </a:lnTo>
                  <a:lnTo>
                    <a:pt x="6162675" y="28917"/>
                  </a:lnTo>
                  <a:lnTo>
                    <a:pt x="6138011" y="838"/>
                  </a:lnTo>
                  <a:lnTo>
                    <a:pt x="61337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1414462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0" y="40481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6129337" y="0"/>
                  </a:lnTo>
                  <a:lnTo>
                    <a:pt x="6133757" y="0"/>
                  </a:lnTo>
                  <a:lnTo>
                    <a:pt x="6138011" y="838"/>
                  </a:lnTo>
                  <a:lnTo>
                    <a:pt x="6142088" y="2540"/>
                  </a:lnTo>
                  <a:lnTo>
                    <a:pt x="6146177" y="4229"/>
                  </a:lnTo>
                  <a:lnTo>
                    <a:pt x="6149784" y="6642"/>
                  </a:lnTo>
                  <a:lnTo>
                    <a:pt x="6152908" y="9766"/>
                  </a:lnTo>
                  <a:lnTo>
                    <a:pt x="6156032" y="12890"/>
                  </a:lnTo>
                  <a:lnTo>
                    <a:pt x="6158445" y="16497"/>
                  </a:lnTo>
                  <a:lnTo>
                    <a:pt x="6160135" y="20574"/>
                  </a:lnTo>
                  <a:lnTo>
                    <a:pt x="6161824" y="24663"/>
                  </a:lnTo>
                  <a:lnTo>
                    <a:pt x="6162675" y="28917"/>
                  </a:lnTo>
                  <a:lnTo>
                    <a:pt x="6162675" y="33337"/>
                  </a:lnTo>
                  <a:lnTo>
                    <a:pt x="6162675" y="404812"/>
                  </a:lnTo>
                  <a:lnTo>
                    <a:pt x="6162675" y="409232"/>
                  </a:lnTo>
                  <a:lnTo>
                    <a:pt x="6161824" y="413486"/>
                  </a:lnTo>
                  <a:lnTo>
                    <a:pt x="6160135" y="417576"/>
                  </a:lnTo>
                  <a:lnTo>
                    <a:pt x="6158445" y="421652"/>
                  </a:lnTo>
                  <a:lnTo>
                    <a:pt x="6156032" y="425259"/>
                  </a:lnTo>
                  <a:lnTo>
                    <a:pt x="6152908" y="428383"/>
                  </a:lnTo>
                  <a:lnTo>
                    <a:pt x="6149784" y="431507"/>
                  </a:lnTo>
                  <a:lnTo>
                    <a:pt x="6146177" y="433920"/>
                  </a:lnTo>
                  <a:lnTo>
                    <a:pt x="6142088" y="435610"/>
                  </a:lnTo>
                  <a:lnTo>
                    <a:pt x="6138011" y="437299"/>
                  </a:lnTo>
                  <a:lnTo>
                    <a:pt x="6133757" y="438150"/>
                  </a:lnTo>
                  <a:lnTo>
                    <a:pt x="6129337" y="438150"/>
                  </a:lnTo>
                  <a:lnTo>
                    <a:pt x="33337" y="438150"/>
                  </a:lnTo>
                  <a:lnTo>
                    <a:pt x="28917" y="438150"/>
                  </a:lnTo>
                  <a:lnTo>
                    <a:pt x="24665" y="437299"/>
                  </a:lnTo>
                  <a:lnTo>
                    <a:pt x="20577" y="435610"/>
                  </a:lnTo>
                  <a:lnTo>
                    <a:pt x="16494" y="433920"/>
                  </a:lnTo>
                  <a:lnTo>
                    <a:pt x="12887" y="431507"/>
                  </a:lnTo>
                  <a:lnTo>
                    <a:pt x="9763" y="428383"/>
                  </a:lnTo>
                  <a:lnTo>
                    <a:pt x="6638" y="425259"/>
                  </a:lnTo>
                  <a:lnTo>
                    <a:pt x="4231" y="421652"/>
                  </a:lnTo>
                  <a:lnTo>
                    <a:pt x="2540" y="417576"/>
                  </a:lnTo>
                  <a:lnTo>
                    <a:pt x="843" y="413486"/>
                  </a:lnTo>
                  <a:lnTo>
                    <a:pt x="0" y="409232"/>
                  </a:lnTo>
                  <a:lnTo>
                    <a:pt x="0" y="4048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62000" y="1952625"/>
            <a:ext cx="6172200" cy="447675"/>
            <a:chOff x="762000" y="1952625"/>
            <a:chExt cx="6172200" cy="447675"/>
          </a:xfrm>
        </p:grpSpPr>
        <p:sp>
          <p:nvSpPr>
            <p:cNvPr id="7" name="object 7"/>
            <p:cNvSpPr/>
            <p:nvPr/>
          </p:nvSpPr>
          <p:spPr>
            <a:xfrm>
              <a:off x="766762" y="1957387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61337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404812"/>
                  </a:lnTo>
                  <a:lnTo>
                    <a:pt x="0" y="409232"/>
                  </a:lnTo>
                  <a:lnTo>
                    <a:pt x="28917" y="438150"/>
                  </a:lnTo>
                  <a:lnTo>
                    <a:pt x="6133757" y="438150"/>
                  </a:lnTo>
                  <a:lnTo>
                    <a:pt x="6162675" y="409232"/>
                  </a:lnTo>
                  <a:lnTo>
                    <a:pt x="6162675" y="28917"/>
                  </a:lnTo>
                  <a:lnTo>
                    <a:pt x="6138011" y="838"/>
                  </a:lnTo>
                  <a:lnTo>
                    <a:pt x="61337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6762" y="1957387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0" y="40481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6129337" y="0"/>
                  </a:lnTo>
                  <a:lnTo>
                    <a:pt x="6133757" y="0"/>
                  </a:lnTo>
                  <a:lnTo>
                    <a:pt x="6138011" y="838"/>
                  </a:lnTo>
                  <a:lnTo>
                    <a:pt x="6142088" y="2540"/>
                  </a:lnTo>
                  <a:lnTo>
                    <a:pt x="6146177" y="4229"/>
                  </a:lnTo>
                  <a:lnTo>
                    <a:pt x="6149784" y="6642"/>
                  </a:lnTo>
                  <a:lnTo>
                    <a:pt x="6152908" y="9766"/>
                  </a:lnTo>
                  <a:lnTo>
                    <a:pt x="6156032" y="12890"/>
                  </a:lnTo>
                  <a:lnTo>
                    <a:pt x="6158445" y="16497"/>
                  </a:lnTo>
                  <a:lnTo>
                    <a:pt x="6160135" y="20574"/>
                  </a:lnTo>
                  <a:lnTo>
                    <a:pt x="6161824" y="24663"/>
                  </a:lnTo>
                  <a:lnTo>
                    <a:pt x="6162675" y="28917"/>
                  </a:lnTo>
                  <a:lnTo>
                    <a:pt x="6162675" y="33337"/>
                  </a:lnTo>
                  <a:lnTo>
                    <a:pt x="6162675" y="404812"/>
                  </a:lnTo>
                  <a:lnTo>
                    <a:pt x="6162675" y="409232"/>
                  </a:lnTo>
                  <a:lnTo>
                    <a:pt x="6161824" y="413486"/>
                  </a:lnTo>
                  <a:lnTo>
                    <a:pt x="6160135" y="417563"/>
                  </a:lnTo>
                  <a:lnTo>
                    <a:pt x="6158445" y="421652"/>
                  </a:lnTo>
                  <a:lnTo>
                    <a:pt x="6156032" y="425259"/>
                  </a:lnTo>
                  <a:lnTo>
                    <a:pt x="6152908" y="428383"/>
                  </a:lnTo>
                  <a:lnTo>
                    <a:pt x="6149784" y="431507"/>
                  </a:lnTo>
                  <a:lnTo>
                    <a:pt x="6146177" y="433920"/>
                  </a:lnTo>
                  <a:lnTo>
                    <a:pt x="6142088" y="435610"/>
                  </a:lnTo>
                  <a:lnTo>
                    <a:pt x="6138011" y="437299"/>
                  </a:lnTo>
                  <a:lnTo>
                    <a:pt x="6133757" y="438150"/>
                  </a:lnTo>
                  <a:lnTo>
                    <a:pt x="6129337" y="438150"/>
                  </a:lnTo>
                  <a:lnTo>
                    <a:pt x="33337" y="438150"/>
                  </a:lnTo>
                  <a:lnTo>
                    <a:pt x="28917" y="438150"/>
                  </a:lnTo>
                  <a:lnTo>
                    <a:pt x="24665" y="437299"/>
                  </a:lnTo>
                  <a:lnTo>
                    <a:pt x="20577" y="435610"/>
                  </a:lnTo>
                  <a:lnTo>
                    <a:pt x="16494" y="433920"/>
                  </a:lnTo>
                  <a:lnTo>
                    <a:pt x="12887" y="431507"/>
                  </a:lnTo>
                  <a:lnTo>
                    <a:pt x="9763" y="428383"/>
                  </a:lnTo>
                  <a:lnTo>
                    <a:pt x="6638" y="425259"/>
                  </a:lnTo>
                  <a:lnTo>
                    <a:pt x="4231" y="421652"/>
                  </a:lnTo>
                  <a:lnTo>
                    <a:pt x="2540" y="417563"/>
                  </a:lnTo>
                  <a:lnTo>
                    <a:pt x="843" y="413486"/>
                  </a:lnTo>
                  <a:lnTo>
                    <a:pt x="0" y="409232"/>
                  </a:lnTo>
                  <a:lnTo>
                    <a:pt x="0" y="4048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762000" y="2495550"/>
            <a:ext cx="6172200" cy="447675"/>
            <a:chOff x="762000" y="2495550"/>
            <a:chExt cx="6172200" cy="447675"/>
          </a:xfrm>
        </p:grpSpPr>
        <p:sp>
          <p:nvSpPr>
            <p:cNvPr id="10" name="object 10"/>
            <p:cNvSpPr/>
            <p:nvPr/>
          </p:nvSpPr>
          <p:spPr>
            <a:xfrm>
              <a:off x="766762" y="2500312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61337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404812"/>
                  </a:lnTo>
                  <a:lnTo>
                    <a:pt x="0" y="409232"/>
                  </a:lnTo>
                  <a:lnTo>
                    <a:pt x="28917" y="438150"/>
                  </a:lnTo>
                  <a:lnTo>
                    <a:pt x="6133757" y="438150"/>
                  </a:lnTo>
                  <a:lnTo>
                    <a:pt x="6162675" y="409232"/>
                  </a:lnTo>
                  <a:lnTo>
                    <a:pt x="6162675" y="28917"/>
                  </a:lnTo>
                  <a:lnTo>
                    <a:pt x="6138011" y="838"/>
                  </a:lnTo>
                  <a:lnTo>
                    <a:pt x="61337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66762" y="2500312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0" y="40481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6129337" y="0"/>
                  </a:lnTo>
                  <a:lnTo>
                    <a:pt x="6133757" y="0"/>
                  </a:lnTo>
                  <a:lnTo>
                    <a:pt x="6138011" y="838"/>
                  </a:lnTo>
                  <a:lnTo>
                    <a:pt x="6142088" y="2540"/>
                  </a:lnTo>
                  <a:lnTo>
                    <a:pt x="6146177" y="4229"/>
                  </a:lnTo>
                  <a:lnTo>
                    <a:pt x="6149784" y="6642"/>
                  </a:lnTo>
                  <a:lnTo>
                    <a:pt x="6152908" y="9766"/>
                  </a:lnTo>
                  <a:lnTo>
                    <a:pt x="6156032" y="12890"/>
                  </a:lnTo>
                  <a:lnTo>
                    <a:pt x="6158445" y="16497"/>
                  </a:lnTo>
                  <a:lnTo>
                    <a:pt x="6160135" y="20574"/>
                  </a:lnTo>
                  <a:lnTo>
                    <a:pt x="6161824" y="24663"/>
                  </a:lnTo>
                  <a:lnTo>
                    <a:pt x="6162675" y="28917"/>
                  </a:lnTo>
                  <a:lnTo>
                    <a:pt x="6162675" y="33337"/>
                  </a:lnTo>
                  <a:lnTo>
                    <a:pt x="6162675" y="404812"/>
                  </a:lnTo>
                  <a:lnTo>
                    <a:pt x="6162675" y="409232"/>
                  </a:lnTo>
                  <a:lnTo>
                    <a:pt x="6161824" y="413486"/>
                  </a:lnTo>
                  <a:lnTo>
                    <a:pt x="6160135" y="417576"/>
                  </a:lnTo>
                  <a:lnTo>
                    <a:pt x="6158445" y="421652"/>
                  </a:lnTo>
                  <a:lnTo>
                    <a:pt x="6156032" y="425259"/>
                  </a:lnTo>
                  <a:lnTo>
                    <a:pt x="6152908" y="428383"/>
                  </a:lnTo>
                  <a:lnTo>
                    <a:pt x="6149784" y="431507"/>
                  </a:lnTo>
                  <a:lnTo>
                    <a:pt x="6146177" y="433920"/>
                  </a:lnTo>
                  <a:lnTo>
                    <a:pt x="6142088" y="435610"/>
                  </a:lnTo>
                  <a:lnTo>
                    <a:pt x="6138011" y="437299"/>
                  </a:lnTo>
                  <a:lnTo>
                    <a:pt x="6133757" y="438150"/>
                  </a:lnTo>
                  <a:lnTo>
                    <a:pt x="6129337" y="438150"/>
                  </a:lnTo>
                  <a:lnTo>
                    <a:pt x="33337" y="438150"/>
                  </a:lnTo>
                  <a:lnTo>
                    <a:pt x="28917" y="438150"/>
                  </a:lnTo>
                  <a:lnTo>
                    <a:pt x="24665" y="437299"/>
                  </a:lnTo>
                  <a:lnTo>
                    <a:pt x="20577" y="435610"/>
                  </a:lnTo>
                  <a:lnTo>
                    <a:pt x="16494" y="433920"/>
                  </a:lnTo>
                  <a:lnTo>
                    <a:pt x="12887" y="431507"/>
                  </a:lnTo>
                  <a:lnTo>
                    <a:pt x="9763" y="428383"/>
                  </a:lnTo>
                  <a:lnTo>
                    <a:pt x="6638" y="425259"/>
                  </a:lnTo>
                  <a:lnTo>
                    <a:pt x="4231" y="421652"/>
                  </a:lnTo>
                  <a:lnTo>
                    <a:pt x="2540" y="417576"/>
                  </a:lnTo>
                  <a:lnTo>
                    <a:pt x="843" y="413486"/>
                  </a:lnTo>
                  <a:lnTo>
                    <a:pt x="0" y="409232"/>
                  </a:lnTo>
                  <a:lnTo>
                    <a:pt x="0" y="4048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762000" y="3038475"/>
            <a:ext cx="6172200" cy="447675"/>
            <a:chOff x="762000" y="3038475"/>
            <a:chExt cx="6172200" cy="447675"/>
          </a:xfrm>
        </p:grpSpPr>
        <p:sp>
          <p:nvSpPr>
            <p:cNvPr id="13" name="object 13"/>
            <p:cNvSpPr/>
            <p:nvPr/>
          </p:nvSpPr>
          <p:spPr>
            <a:xfrm>
              <a:off x="766762" y="3043237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61337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404812"/>
                  </a:lnTo>
                  <a:lnTo>
                    <a:pt x="0" y="409232"/>
                  </a:lnTo>
                  <a:lnTo>
                    <a:pt x="28917" y="438150"/>
                  </a:lnTo>
                  <a:lnTo>
                    <a:pt x="6133757" y="438150"/>
                  </a:lnTo>
                  <a:lnTo>
                    <a:pt x="6162675" y="409232"/>
                  </a:lnTo>
                  <a:lnTo>
                    <a:pt x="6162675" y="28917"/>
                  </a:lnTo>
                  <a:lnTo>
                    <a:pt x="6138011" y="838"/>
                  </a:lnTo>
                  <a:lnTo>
                    <a:pt x="61337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6762" y="3043237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0" y="40481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6129337" y="0"/>
                  </a:lnTo>
                  <a:lnTo>
                    <a:pt x="6133757" y="0"/>
                  </a:lnTo>
                  <a:lnTo>
                    <a:pt x="6138011" y="838"/>
                  </a:lnTo>
                  <a:lnTo>
                    <a:pt x="6142088" y="2540"/>
                  </a:lnTo>
                  <a:lnTo>
                    <a:pt x="6146177" y="4229"/>
                  </a:lnTo>
                  <a:lnTo>
                    <a:pt x="6149784" y="6642"/>
                  </a:lnTo>
                  <a:lnTo>
                    <a:pt x="6152908" y="9766"/>
                  </a:lnTo>
                  <a:lnTo>
                    <a:pt x="6156032" y="12890"/>
                  </a:lnTo>
                  <a:lnTo>
                    <a:pt x="6158445" y="16497"/>
                  </a:lnTo>
                  <a:lnTo>
                    <a:pt x="6160135" y="20574"/>
                  </a:lnTo>
                  <a:lnTo>
                    <a:pt x="6161824" y="24663"/>
                  </a:lnTo>
                  <a:lnTo>
                    <a:pt x="6162675" y="28917"/>
                  </a:lnTo>
                  <a:lnTo>
                    <a:pt x="6162675" y="33337"/>
                  </a:lnTo>
                  <a:lnTo>
                    <a:pt x="6162675" y="404812"/>
                  </a:lnTo>
                  <a:lnTo>
                    <a:pt x="6162675" y="409232"/>
                  </a:lnTo>
                  <a:lnTo>
                    <a:pt x="6161824" y="413486"/>
                  </a:lnTo>
                  <a:lnTo>
                    <a:pt x="6160135" y="417563"/>
                  </a:lnTo>
                  <a:lnTo>
                    <a:pt x="6158445" y="421652"/>
                  </a:lnTo>
                  <a:lnTo>
                    <a:pt x="6156032" y="425259"/>
                  </a:lnTo>
                  <a:lnTo>
                    <a:pt x="6152908" y="428383"/>
                  </a:lnTo>
                  <a:lnTo>
                    <a:pt x="6149784" y="431507"/>
                  </a:lnTo>
                  <a:lnTo>
                    <a:pt x="6146177" y="433920"/>
                  </a:lnTo>
                  <a:lnTo>
                    <a:pt x="6142088" y="435610"/>
                  </a:lnTo>
                  <a:lnTo>
                    <a:pt x="6138011" y="437299"/>
                  </a:lnTo>
                  <a:lnTo>
                    <a:pt x="6133757" y="438150"/>
                  </a:lnTo>
                  <a:lnTo>
                    <a:pt x="6129337" y="438150"/>
                  </a:lnTo>
                  <a:lnTo>
                    <a:pt x="33337" y="438150"/>
                  </a:lnTo>
                  <a:lnTo>
                    <a:pt x="28917" y="438150"/>
                  </a:lnTo>
                  <a:lnTo>
                    <a:pt x="24665" y="437299"/>
                  </a:lnTo>
                  <a:lnTo>
                    <a:pt x="20577" y="435610"/>
                  </a:lnTo>
                  <a:lnTo>
                    <a:pt x="16494" y="433920"/>
                  </a:lnTo>
                  <a:lnTo>
                    <a:pt x="12887" y="431507"/>
                  </a:lnTo>
                  <a:lnTo>
                    <a:pt x="9763" y="428383"/>
                  </a:lnTo>
                  <a:lnTo>
                    <a:pt x="6638" y="425259"/>
                  </a:lnTo>
                  <a:lnTo>
                    <a:pt x="4231" y="421652"/>
                  </a:lnTo>
                  <a:lnTo>
                    <a:pt x="2540" y="417563"/>
                  </a:lnTo>
                  <a:lnTo>
                    <a:pt x="843" y="413486"/>
                  </a:lnTo>
                  <a:lnTo>
                    <a:pt x="0" y="409232"/>
                  </a:lnTo>
                  <a:lnTo>
                    <a:pt x="0" y="4048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762000" y="3581400"/>
            <a:ext cx="6172200" cy="447675"/>
            <a:chOff x="762000" y="3581400"/>
            <a:chExt cx="6172200" cy="447675"/>
          </a:xfrm>
        </p:grpSpPr>
        <p:sp>
          <p:nvSpPr>
            <p:cNvPr id="16" name="object 16"/>
            <p:cNvSpPr/>
            <p:nvPr/>
          </p:nvSpPr>
          <p:spPr>
            <a:xfrm>
              <a:off x="766762" y="3586162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61337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404812"/>
                  </a:lnTo>
                  <a:lnTo>
                    <a:pt x="0" y="409232"/>
                  </a:lnTo>
                  <a:lnTo>
                    <a:pt x="28917" y="438150"/>
                  </a:lnTo>
                  <a:lnTo>
                    <a:pt x="6133757" y="438150"/>
                  </a:lnTo>
                  <a:lnTo>
                    <a:pt x="6162675" y="409232"/>
                  </a:lnTo>
                  <a:lnTo>
                    <a:pt x="6162675" y="28917"/>
                  </a:lnTo>
                  <a:lnTo>
                    <a:pt x="6138011" y="838"/>
                  </a:lnTo>
                  <a:lnTo>
                    <a:pt x="61337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66762" y="3586162"/>
              <a:ext cx="6162675" cy="438150"/>
            </a:xfrm>
            <a:custGeom>
              <a:avLst/>
              <a:gdLst/>
              <a:ahLst/>
              <a:cxnLst/>
              <a:rect l="l" t="t" r="r" b="b"/>
              <a:pathLst>
                <a:path w="6162675" h="438150">
                  <a:moveTo>
                    <a:pt x="0" y="40481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6129337" y="0"/>
                  </a:lnTo>
                  <a:lnTo>
                    <a:pt x="6133757" y="0"/>
                  </a:lnTo>
                  <a:lnTo>
                    <a:pt x="6138011" y="838"/>
                  </a:lnTo>
                  <a:lnTo>
                    <a:pt x="6142088" y="2540"/>
                  </a:lnTo>
                  <a:lnTo>
                    <a:pt x="6146177" y="4229"/>
                  </a:lnTo>
                  <a:lnTo>
                    <a:pt x="6149784" y="6642"/>
                  </a:lnTo>
                  <a:lnTo>
                    <a:pt x="6152908" y="9766"/>
                  </a:lnTo>
                  <a:lnTo>
                    <a:pt x="6156032" y="12890"/>
                  </a:lnTo>
                  <a:lnTo>
                    <a:pt x="6158445" y="16497"/>
                  </a:lnTo>
                  <a:lnTo>
                    <a:pt x="6160135" y="20574"/>
                  </a:lnTo>
                  <a:lnTo>
                    <a:pt x="6161824" y="24663"/>
                  </a:lnTo>
                  <a:lnTo>
                    <a:pt x="6162675" y="28917"/>
                  </a:lnTo>
                  <a:lnTo>
                    <a:pt x="6162675" y="33337"/>
                  </a:lnTo>
                  <a:lnTo>
                    <a:pt x="6162675" y="404812"/>
                  </a:lnTo>
                  <a:lnTo>
                    <a:pt x="6162675" y="409232"/>
                  </a:lnTo>
                  <a:lnTo>
                    <a:pt x="6161824" y="413486"/>
                  </a:lnTo>
                  <a:lnTo>
                    <a:pt x="6160135" y="417563"/>
                  </a:lnTo>
                  <a:lnTo>
                    <a:pt x="6158445" y="421652"/>
                  </a:lnTo>
                  <a:lnTo>
                    <a:pt x="6142088" y="435610"/>
                  </a:lnTo>
                  <a:lnTo>
                    <a:pt x="6138011" y="437299"/>
                  </a:lnTo>
                  <a:lnTo>
                    <a:pt x="6133757" y="438150"/>
                  </a:lnTo>
                  <a:lnTo>
                    <a:pt x="6129337" y="438150"/>
                  </a:lnTo>
                  <a:lnTo>
                    <a:pt x="33337" y="438150"/>
                  </a:lnTo>
                  <a:lnTo>
                    <a:pt x="28917" y="438150"/>
                  </a:lnTo>
                  <a:lnTo>
                    <a:pt x="24665" y="437299"/>
                  </a:lnTo>
                  <a:lnTo>
                    <a:pt x="20577" y="435610"/>
                  </a:lnTo>
                  <a:lnTo>
                    <a:pt x="16494" y="433920"/>
                  </a:lnTo>
                  <a:lnTo>
                    <a:pt x="12887" y="431507"/>
                  </a:lnTo>
                  <a:lnTo>
                    <a:pt x="9763" y="428383"/>
                  </a:lnTo>
                  <a:lnTo>
                    <a:pt x="6638" y="425259"/>
                  </a:lnTo>
                  <a:lnTo>
                    <a:pt x="4231" y="421652"/>
                  </a:lnTo>
                  <a:lnTo>
                    <a:pt x="2540" y="417563"/>
                  </a:lnTo>
                  <a:lnTo>
                    <a:pt x="843" y="413486"/>
                  </a:lnTo>
                  <a:lnTo>
                    <a:pt x="0" y="409232"/>
                  </a:lnTo>
                  <a:lnTo>
                    <a:pt x="0" y="4048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49300" y="1024839"/>
            <a:ext cx="305879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130">
                <a:solidFill>
                  <a:srgbClr val="0E756E"/>
                </a:solidFill>
                <a:latin typeface="Times New Roman"/>
                <a:cs typeface="Times New Roman"/>
              </a:rPr>
              <a:t>FUNCTI</a:t>
            </a:r>
            <a:r>
              <a:rPr dirty="0" sz="1400" spc="-17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400" spc="114">
                <a:solidFill>
                  <a:srgbClr val="0E756E"/>
                </a:solidFill>
                <a:latin typeface="Times New Roman"/>
                <a:cs typeface="Times New Roman"/>
              </a:rPr>
              <a:t>ONAL</a:t>
            </a:r>
            <a:r>
              <a:rPr dirty="0" sz="1400" spc="15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400" spc="100">
                <a:solidFill>
                  <a:srgbClr val="0E756E"/>
                </a:solidFill>
                <a:latin typeface="Times New Roman"/>
                <a:cs typeface="Times New Roman"/>
              </a:rPr>
              <a:t>REQUI</a:t>
            </a:r>
            <a:r>
              <a:rPr dirty="0" sz="1400" spc="-16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400" spc="155">
                <a:solidFill>
                  <a:srgbClr val="0E756E"/>
                </a:solidFill>
                <a:latin typeface="Times New Roman"/>
                <a:cs typeface="Times New Roman"/>
              </a:rPr>
              <a:t>REMENTS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9325" y="1534861"/>
            <a:ext cx="471170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165">
                <a:solidFill>
                  <a:srgbClr val="0A1E36"/>
                </a:solidFill>
                <a:latin typeface="Times New Roman"/>
                <a:cs typeface="Times New Roman"/>
              </a:rPr>
              <a:t>FR-</a:t>
            </a:r>
            <a:r>
              <a:rPr dirty="0" sz="1150" spc="-25">
                <a:solidFill>
                  <a:srgbClr val="0A1E36"/>
                </a:solidFill>
                <a:latin typeface="Times New Roman"/>
                <a:cs typeface="Times New Roman"/>
              </a:rPr>
              <a:t>01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63700" y="1516048"/>
            <a:ext cx="478917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Acquire</a:t>
            </a:r>
            <a:r>
              <a:rPr dirty="0" sz="115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time-</a:t>
            </a: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stamped</a:t>
            </a:r>
            <a:r>
              <a:rPr dirty="0" sz="115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physiological</a:t>
            </a:r>
            <a:r>
              <a:rPr dirty="0" sz="1150" spc="1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45">
                <a:solidFill>
                  <a:srgbClr val="0E162A"/>
                </a:solidFill>
                <a:latin typeface="Times New Roman"/>
                <a:cs typeface="Times New Roman"/>
              </a:rPr>
              <a:t>environmental</a:t>
            </a:r>
            <a:r>
              <a:rPr dirty="0" sz="1150" spc="1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65">
                <a:solidFill>
                  <a:srgbClr val="0E162A"/>
                </a:solidFill>
                <a:latin typeface="Times New Roman"/>
                <a:cs typeface="Times New Roman"/>
              </a:rPr>
              <a:t>measurements.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9325" y="2077786"/>
            <a:ext cx="49212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165">
                <a:solidFill>
                  <a:srgbClr val="0A1E36"/>
                </a:solidFill>
                <a:latin typeface="Times New Roman"/>
                <a:cs typeface="Times New Roman"/>
              </a:rPr>
              <a:t>FR-</a:t>
            </a:r>
            <a:r>
              <a:rPr dirty="0" sz="1150" spc="105">
                <a:solidFill>
                  <a:srgbClr val="0A1E36"/>
                </a:solidFill>
                <a:latin typeface="Times New Roman"/>
                <a:cs typeface="Times New Roman"/>
              </a:rPr>
              <a:t>03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3700" y="2058973"/>
            <a:ext cx="414147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Detect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75">
                <a:solidFill>
                  <a:srgbClr val="0E162A"/>
                </a:solidFill>
                <a:latin typeface="Times New Roman"/>
                <a:cs typeface="Times New Roman"/>
              </a:rPr>
              <a:t>mark</a:t>
            </a:r>
            <a:r>
              <a:rPr dirty="0" sz="1150" spc="-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75">
                <a:solidFill>
                  <a:srgbClr val="0E162A"/>
                </a:solidFill>
                <a:latin typeface="Times New Roman"/>
                <a:cs typeface="Times New Roman"/>
              </a:rPr>
              <a:t>missing,</a:t>
            </a: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implausible,</a:t>
            </a:r>
            <a:r>
              <a:rPr dirty="0" sz="11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or</a:t>
            </a:r>
            <a:r>
              <a:rPr dirty="0" sz="1150" spc="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75">
                <a:solidFill>
                  <a:srgbClr val="0E162A"/>
                </a:solidFill>
                <a:latin typeface="Times New Roman"/>
                <a:cs typeface="Times New Roman"/>
              </a:rPr>
              <a:t>noisy</a:t>
            </a:r>
            <a:r>
              <a:rPr dirty="0" sz="11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0E162A"/>
                </a:solidFill>
                <a:latin typeface="Times New Roman"/>
                <a:cs typeface="Times New Roman"/>
              </a:rPr>
              <a:t>sensor</a:t>
            </a:r>
            <a:r>
              <a:rPr dirty="0" sz="115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35">
                <a:solidFill>
                  <a:srgbClr val="0E162A"/>
                </a:solidFill>
                <a:latin typeface="Times New Roman"/>
                <a:cs typeface="Times New Roman"/>
              </a:rPr>
              <a:t>values.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9325" y="2620711"/>
            <a:ext cx="498475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165">
                <a:solidFill>
                  <a:srgbClr val="0A1E36"/>
                </a:solidFill>
                <a:latin typeface="Times New Roman"/>
                <a:cs typeface="Times New Roman"/>
              </a:rPr>
              <a:t>FR-</a:t>
            </a:r>
            <a:r>
              <a:rPr dirty="0" sz="1150" spc="130">
                <a:solidFill>
                  <a:srgbClr val="0A1E36"/>
                </a:solidFill>
                <a:latin typeface="Times New Roman"/>
                <a:cs typeface="Times New Roman"/>
              </a:rPr>
              <a:t>08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63700" y="2601898"/>
            <a:ext cx="397002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0">
                <a:solidFill>
                  <a:srgbClr val="0E162A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explainable</a:t>
            </a:r>
            <a:r>
              <a:rPr dirty="0" sz="115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alerts</a:t>
            </a:r>
            <a:r>
              <a:rPr dirty="0" sz="11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E162A"/>
                </a:solidFill>
                <a:latin typeface="Times New Roman"/>
                <a:cs typeface="Times New Roman"/>
              </a:rPr>
              <a:t>with</a:t>
            </a:r>
            <a:r>
              <a:rPr dirty="0" sz="115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60">
                <a:solidFill>
                  <a:srgbClr val="0E162A"/>
                </a:solidFill>
                <a:latin typeface="Times New Roman"/>
                <a:cs typeface="Times New Roman"/>
              </a:rPr>
              <a:t>reason</a:t>
            </a:r>
            <a:r>
              <a:rPr dirty="0" sz="115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0E162A"/>
                </a:solidFill>
                <a:latin typeface="Times New Roman"/>
                <a:cs typeface="Times New Roman"/>
              </a:rPr>
              <a:t>codes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E162A"/>
                </a:solidFill>
                <a:latin typeface="Times New Roman"/>
                <a:cs typeface="Times New Roman"/>
              </a:rPr>
              <a:t>severity.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9325" y="3163636"/>
            <a:ext cx="495934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165">
                <a:solidFill>
                  <a:srgbClr val="0A1E36"/>
                </a:solidFill>
                <a:latin typeface="Times New Roman"/>
                <a:cs typeface="Times New Roman"/>
              </a:rPr>
              <a:t>FR-</a:t>
            </a:r>
            <a:r>
              <a:rPr dirty="0" sz="1150" spc="114">
                <a:solidFill>
                  <a:srgbClr val="0A1E36"/>
                </a:solidFill>
                <a:latin typeface="Times New Roman"/>
                <a:cs typeface="Times New Roman"/>
              </a:rPr>
              <a:t>09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63700" y="3144823"/>
            <a:ext cx="473202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Commit</a:t>
            </a:r>
            <a:r>
              <a:rPr dirty="0" sz="115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0E162A"/>
                </a:solidFill>
                <a:latin typeface="Times New Roman"/>
                <a:cs typeface="Times New Roman"/>
              </a:rPr>
              <a:t>observations</a:t>
            </a:r>
            <a:r>
              <a:rPr dirty="0" sz="115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locally</a:t>
            </a: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before</a:t>
            </a:r>
            <a:r>
              <a:rPr dirty="0" sz="11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0">
                <a:solidFill>
                  <a:srgbClr val="0E162A"/>
                </a:solidFill>
                <a:latin typeface="Times New Roman"/>
                <a:cs typeface="Times New Roman"/>
              </a:rPr>
              <a:t>attempting</a:t>
            </a:r>
            <a:r>
              <a:rPr dirty="0" sz="1150" spc="1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cloud</a:t>
            </a:r>
            <a:r>
              <a:rPr dirty="0" sz="1150" spc="1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40">
                <a:solidFill>
                  <a:srgbClr val="0E162A"/>
                </a:solidFill>
                <a:latin typeface="Times New Roman"/>
                <a:cs typeface="Times New Roman"/>
              </a:rPr>
              <a:t>synchronization.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49325" y="3706561"/>
            <a:ext cx="496570" cy="20320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150" spc="165">
                <a:solidFill>
                  <a:srgbClr val="0A1E36"/>
                </a:solidFill>
                <a:latin typeface="Times New Roman"/>
                <a:cs typeface="Times New Roman"/>
              </a:rPr>
              <a:t>FR-</a:t>
            </a:r>
            <a:r>
              <a:rPr dirty="0" sz="1150" spc="-75">
                <a:solidFill>
                  <a:srgbClr val="0A1E36"/>
                </a:solidFill>
                <a:latin typeface="Times New Roman"/>
                <a:cs typeface="Times New Roman"/>
              </a:rPr>
              <a:t>1</a:t>
            </a:r>
            <a:r>
              <a:rPr dirty="0" sz="1150" spc="-4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65">
                <a:solidFill>
                  <a:srgbClr val="0A1E36"/>
                </a:solidFill>
                <a:latin typeface="Times New Roman"/>
                <a:cs typeface="Times New Roman"/>
              </a:rPr>
              <a:t>2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63700" y="3687748"/>
            <a:ext cx="437959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Ensure</a:t>
            </a:r>
            <a:r>
              <a:rPr dirty="0" sz="115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75">
                <a:solidFill>
                  <a:srgbClr val="0E162A"/>
                </a:solidFill>
                <a:latin typeface="Times New Roman"/>
                <a:cs typeface="Times New Roman"/>
              </a:rPr>
              <a:t>idempotent</a:t>
            </a:r>
            <a:r>
              <a:rPr dirty="0" sz="11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E162A"/>
                </a:solidFill>
                <a:latin typeface="Times New Roman"/>
                <a:cs typeface="Times New Roman"/>
              </a:rPr>
              <a:t>cloud</a:t>
            </a:r>
            <a:r>
              <a:rPr dirty="0" sz="115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65">
                <a:solidFill>
                  <a:srgbClr val="0E162A"/>
                </a:solidFill>
                <a:latin typeface="Times New Roman"/>
                <a:cs typeface="Times New Roman"/>
              </a:rPr>
              <a:t>ingestion</a:t>
            </a:r>
            <a:r>
              <a:rPr dirty="0" sz="115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85">
                <a:solidFill>
                  <a:srgbClr val="0E162A"/>
                </a:solidFill>
                <a:latin typeface="Times New Roman"/>
                <a:cs typeface="Times New Roman"/>
              </a:rPr>
              <a:t>using</a:t>
            </a:r>
            <a:r>
              <a:rPr dirty="0" sz="1150" spc="10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0E162A"/>
                </a:solidFill>
                <a:latin typeface="Times New Roman"/>
                <a:cs typeface="Times New Roman"/>
              </a:rPr>
              <a:t>unique</a:t>
            </a:r>
            <a:r>
              <a:rPr dirty="0" sz="115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E162A"/>
                </a:solidFill>
                <a:latin typeface="Times New Roman"/>
                <a:cs typeface="Times New Roman"/>
              </a:rPr>
              <a:t>event</a:t>
            </a:r>
            <a:r>
              <a:rPr dirty="0" sz="11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E162A"/>
                </a:solidFill>
                <a:latin typeface="Times New Roman"/>
                <a:cs typeface="Times New Roman"/>
              </a:rPr>
              <a:t>identifiers.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315199" y="1038224"/>
            <a:ext cx="4114800" cy="1485900"/>
            <a:chOff x="7315199" y="1038224"/>
            <a:chExt cx="4114800" cy="1485900"/>
          </a:xfrm>
        </p:grpSpPr>
        <p:sp>
          <p:nvSpPr>
            <p:cNvPr id="30" name="object 30"/>
            <p:cNvSpPr/>
            <p:nvPr/>
          </p:nvSpPr>
          <p:spPr>
            <a:xfrm>
              <a:off x="7343774" y="1038224"/>
              <a:ext cx="4086225" cy="1485900"/>
            </a:xfrm>
            <a:custGeom>
              <a:avLst/>
              <a:gdLst/>
              <a:ahLst/>
              <a:cxnLst/>
              <a:rect l="l" t="t" r="r" b="b"/>
              <a:pathLst>
                <a:path w="4086225" h="1485900">
                  <a:moveTo>
                    <a:pt x="4053179" y="0"/>
                  </a:moveTo>
                  <a:lnTo>
                    <a:pt x="8255" y="0"/>
                  </a:lnTo>
                  <a:lnTo>
                    <a:pt x="7048" y="965"/>
                  </a:lnTo>
                  <a:lnTo>
                    <a:pt x="0" y="33045"/>
                  </a:lnTo>
                  <a:lnTo>
                    <a:pt x="0" y="1447800"/>
                  </a:lnTo>
                  <a:lnTo>
                    <a:pt x="0" y="1452854"/>
                  </a:lnTo>
                  <a:lnTo>
                    <a:pt x="8255" y="1485900"/>
                  </a:lnTo>
                  <a:lnTo>
                    <a:pt x="4053179" y="1485900"/>
                  </a:lnTo>
                  <a:lnTo>
                    <a:pt x="4085259" y="1457706"/>
                  </a:lnTo>
                  <a:lnTo>
                    <a:pt x="4086225" y="1452854"/>
                  </a:lnTo>
                  <a:lnTo>
                    <a:pt x="4086225" y="33045"/>
                  </a:lnTo>
                  <a:lnTo>
                    <a:pt x="4058031" y="965"/>
                  </a:lnTo>
                  <a:lnTo>
                    <a:pt x="4053179" y="0"/>
                  </a:lnTo>
                  <a:close/>
                </a:path>
              </a:pathLst>
            </a:custGeom>
            <a:solidFill>
              <a:srgbClr val="0A1E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315199" y="1038225"/>
              <a:ext cx="57150" cy="1485900"/>
            </a:xfrm>
            <a:custGeom>
              <a:avLst/>
              <a:gdLst/>
              <a:ahLst/>
              <a:cxnLst/>
              <a:rect l="l" t="t" r="r" b="b"/>
              <a:pathLst>
                <a:path w="57150" h="1485900">
                  <a:moveTo>
                    <a:pt x="57149" y="0"/>
                  </a:moveTo>
                  <a:lnTo>
                    <a:pt x="38099" y="0"/>
                  </a:lnTo>
                  <a:lnTo>
                    <a:pt x="30494" y="697"/>
                  </a:lnTo>
                  <a:lnTo>
                    <a:pt x="697" y="30494"/>
                  </a:lnTo>
                  <a:lnTo>
                    <a:pt x="0" y="38099"/>
                  </a:lnTo>
                  <a:lnTo>
                    <a:pt x="0" y="1447799"/>
                  </a:lnTo>
                  <a:lnTo>
                    <a:pt x="23469" y="1483109"/>
                  </a:lnTo>
                  <a:lnTo>
                    <a:pt x="38099" y="1485899"/>
                  </a:lnTo>
                  <a:lnTo>
                    <a:pt x="57149" y="1485899"/>
                  </a:lnTo>
                  <a:lnTo>
                    <a:pt x="57149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2" name="object 32"/>
          <p:cNvGraphicFramePr>
            <a:graphicFrameLocks noGrp="1"/>
          </p:cNvGraphicFramePr>
          <p:nvPr/>
        </p:nvGraphicFramePr>
        <p:xfrm>
          <a:off x="7315200" y="3228975"/>
          <a:ext cx="4191000" cy="1571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85950"/>
                <a:gridCol w="2219325"/>
              </a:tblGrid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950" spc="110">
                          <a:solidFill>
                            <a:srgbClr val="0A1E36"/>
                          </a:solidFill>
                          <a:latin typeface="Times New Roman"/>
                          <a:cs typeface="Times New Roman"/>
                        </a:rPr>
                        <a:t>Component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dirty="0" sz="950" spc="110">
                          <a:solidFill>
                            <a:srgbClr val="0A1E36"/>
                          </a:solidFill>
                          <a:latin typeface="Times New Roman"/>
                          <a:cs typeface="Times New Roman"/>
                        </a:rPr>
                        <a:t>Purpose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00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dirty="0" sz="100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dirty="0" sz="1000" spc="1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dirty="0" sz="100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dirty="0" sz="100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dirty="0" sz="100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04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000" spc="-1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Gateway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00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MAX301</a:t>
                      </a:r>
                      <a:r>
                        <a:rPr dirty="0" sz="1000" spc="-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Heart-</a:t>
                      </a:r>
                      <a:r>
                        <a:rPr dirty="0" sz="1000" spc="8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dirty="0" sz="1000" spc="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000" spc="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SpO2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000" spc="-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DHT1</a:t>
                      </a:r>
                      <a:r>
                        <a:rPr dirty="0" sz="1000" spc="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1000" spc="3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/MQ-</a:t>
                      </a:r>
                      <a:r>
                        <a:rPr dirty="0" sz="100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Series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dirty="0" sz="1000" spc="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Environment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0645">
                        <a:lnSpc>
                          <a:spcPct val="100000"/>
                        </a:lnSpc>
                      </a:pPr>
                      <a:r>
                        <a:rPr dirty="0" sz="10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MicroSD</a:t>
                      </a:r>
                      <a:r>
                        <a:rPr dirty="0" sz="1000" spc="9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64GB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dirty="0" sz="100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dirty="0" sz="1000" spc="1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SQLite</a:t>
                      </a:r>
                      <a:r>
                        <a:rPr dirty="0" sz="1000" spc="1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Store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object 33"/>
          <p:cNvSpPr txBox="1"/>
          <p:nvPr/>
        </p:nvSpPr>
        <p:spPr>
          <a:xfrm>
            <a:off x="7597775" y="1258873"/>
            <a:ext cx="1157605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95">
                <a:solidFill>
                  <a:srgbClr val="D97705"/>
                </a:solidFill>
                <a:latin typeface="Times New Roman"/>
                <a:cs typeface="Times New Roman"/>
              </a:rPr>
              <a:t>Scope</a:t>
            </a:r>
            <a:r>
              <a:rPr dirty="0" sz="1150" spc="1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150" spc="60">
                <a:solidFill>
                  <a:srgbClr val="D97705"/>
                </a:solidFill>
                <a:latin typeface="Times New Roman"/>
                <a:cs typeface="Times New Roman"/>
              </a:rPr>
              <a:t>Boundary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02500" y="2796489"/>
            <a:ext cx="196088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135">
                <a:solidFill>
                  <a:srgbClr val="0E756E"/>
                </a:solidFill>
                <a:latin typeface="Times New Roman"/>
                <a:cs typeface="Times New Roman"/>
              </a:rPr>
              <a:t>HARDWARE</a:t>
            </a:r>
            <a:r>
              <a:rPr dirty="0" sz="1400" spc="19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400" spc="130">
                <a:solidFill>
                  <a:srgbClr val="0E756E"/>
                </a:solidFill>
                <a:latin typeface="Times New Roman"/>
                <a:cs typeface="Times New Roman"/>
              </a:rPr>
              <a:t>STACK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991600" y="380999"/>
            <a:ext cx="2819400" cy="333375"/>
          </a:xfrm>
          <a:custGeom>
            <a:avLst/>
            <a:gdLst/>
            <a:ahLst/>
            <a:cxnLst/>
            <a:rect l="l" t="t" r="r" b="b"/>
            <a:pathLst>
              <a:path w="2819400" h="333375">
                <a:moveTo>
                  <a:pt x="27863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2786354" y="333375"/>
                </a:lnTo>
                <a:lnTo>
                  <a:pt x="2818434" y="305181"/>
                </a:lnTo>
                <a:lnTo>
                  <a:pt x="2819400" y="300329"/>
                </a:lnTo>
                <a:lnTo>
                  <a:pt x="2819400" y="33045"/>
                </a:lnTo>
                <a:lnTo>
                  <a:pt x="2791206" y="965"/>
                </a:lnTo>
                <a:lnTo>
                  <a:pt x="27863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9131300" y="457972"/>
            <a:ext cx="254254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55">
                <a:solidFill>
                  <a:srgbClr val="D97705"/>
                </a:solidFill>
                <a:latin typeface="Times New Roman"/>
                <a:cs typeface="Times New Roman"/>
              </a:rPr>
              <a:t>1</a:t>
            </a:r>
            <a:r>
              <a:rPr dirty="0" sz="1000" spc="-10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185">
                <a:solidFill>
                  <a:srgbClr val="D97705"/>
                </a:solidFill>
                <a:latin typeface="Times New Roman"/>
                <a:cs typeface="Times New Roman"/>
              </a:rPr>
              <a:t>.</a:t>
            </a:r>
            <a:r>
              <a:rPr dirty="0" sz="1000" spc="39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Times New Roman"/>
                <a:cs typeface="Times New Roman"/>
              </a:rPr>
              <a:t>SYSTEM</a:t>
            </a:r>
            <a:r>
              <a:rPr dirty="0" sz="1000" spc="24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40">
                <a:solidFill>
                  <a:srgbClr val="D97705"/>
                </a:solidFill>
                <a:latin typeface="Times New Roman"/>
                <a:cs typeface="Times New Roman"/>
              </a:rPr>
              <a:t>REQUIREMENTS</a:t>
            </a:r>
            <a:r>
              <a:rPr dirty="0" sz="1000" spc="22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&amp;</a:t>
            </a:r>
            <a:r>
              <a:rPr dirty="0" sz="1000" spc="17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20">
                <a:solidFill>
                  <a:srgbClr val="D97705"/>
                </a:solidFill>
                <a:latin typeface="Times New Roman"/>
                <a:cs typeface="Times New Roman"/>
              </a:rPr>
              <a:t>HARDWARE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9300" y="6286468"/>
            <a:ext cx="12490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SRS</a:t>
            </a:r>
            <a:r>
              <a:rPr dirty="0" sz="1050" spc="-12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Sections</a:t>
            </a:r>
            <a:r>
              <a:rPr dirty="0" sz="1050" spc="-12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35">
                <a:solidFill>
                  <a:srgbClr val="465469"/>
                </a:solidFill>
                <a:latin typeface="Courier New"/>
                <a:cs typeface="Courier New"/>
              </a:rPr>
              <a:t>3–</a:t>
            </a:r>
            <a:r>
              <a:rPr dirty="0" sz="1050" spc="-50">
                <a:solidFill>
                  <a:srgbClr val="465469"/>
                </a:solidFill>
                <a:latin typeface="Courier New"/>
                <a:cs typeface="Courier New"/>
              </a:rPr>
              <a:t>7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3</a:t>
            </a:fld>
          </a:p>
        </p:txBody>
      </p:sp>
      <p:sp>
        <p:nvSpPr>
          <p:cNvPr id="37" name="object 37"/>
          <p:cNvSpPr txBox="1"/>
          <p:nvPr/>
        </p:nvSpPr>
        <p:spPr>
          <a:xfrm>
            <a:off x="7597775" y="1548509"/>
            <a:ext cx="3596640" cy="711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FEFEFE"/>
                </a:solidFill>
                <a:latin typeface="Times New Roman"/>
                <a:cs typeface="Times New Roman"/>
              </a:rPr>
              <a:t>The</a:t>
            </a:r>
            <a:r>
              <a:rPr dirty="0" sz="1050" spc="5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FEFEFE"/>
                </a:solidFill>
                <a:latin typeface="Times New Roman"/>
                <a:cs typeface="Times New Roman"/>
              </a:rPr>
              <a:t>prototype</a:t>
            </a:r>
            <a:r>
              <a:rPr dirty="0" sz="1050" spc="6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FEFEFE"/>
                </a:solidFill>
                <a:latin typeface="Times New Roman"/>
                <a:cs typeface="Times New Roman"/>
              </a:rPr>
              <a:t>is</a:t>
            </a:r>
            <a:r>
              <a:rPr dirty="0" sz="1050" spc="10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FEFEFE"/>
                </a:solidFill>
                <a:latin typeface="Times New Roman"/>
                <a:cs typeface="Times New Roman"/>
              </a:rPr>
              <a:t>a</a:t>
            </a:r>
            <a:r>
              <a:rPr dirty="0" sz="1050" spc="6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FEFEFE"/>
                </a:solidFill>
                <a:latin typeface="Times New Roman"/>
                <a:cs typeface="Times New Roman"/>
              </a:rPr>
              <a:t>monitoring</a:t>
            </a:r>
            <a:r>
              <a:rPr dirty="0" sz="1050" spc="11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FEFEFE"/>
                </a:solidFill>
                <a:latin typeface="Times New Roman"/>
                <a:cs typeface="Times New Roman"/>
              </a:rPr>
              <a:t>and</a:t>
            </a:r>
            <a:r>
              <a:rPr dirty="0" sz="1050" spc="3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FEFEFE"/>
                </a:solidFill>
                <a:latin typeface="Times New Roman"/>
                <a:cs typeface="Times New Roman"/>
              </a:rPr>
              <a:t>decision-</a:t>
            </a:r>
            <a:r>
              <a:rPr dirty="0" sz="1050" spc="95">
                <a:solidFill>
                  <a:srgbClr val="FEFEFE"/>
                </a:solidFill>
                <a:latin typeface="Times New Roman"/>
                <a:cs typeface="Times New Roman"/>
              </a:rPr>
              <a:t>support</a:t>
            </a:r>
            <a:r>
              <a:rPr dirty="0" sz="1050" spc="4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Times New Roman"/>
                <a:cs typeface="Times New Roman"/>
              </a:rPr>
              <a:t>tool.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FEFEFE"/>
                </a:solidFill>
                <a:latin typeface="Times New Roman"/>
                <a:cs typeface="Times New Roman"/>
              </a:rPr>
              <a:t>It</a:t>
            </a:r>
            <a:r>
              <a:rPr dirty="0" sz="1050" spc="10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FEFEFE"/>
                </a:solidFill>
                <a:latin typeface="Times New Roman"/>
                <a:cs typeface="Times New Roman"/>
              </a:rPr>
              <a:t>is</a:t>
            </a:r>
            <a:r>
              <a:rPr dirty="0" sz="1050" spc="12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FEFEFE"/>
                </a:solidFill>
                <a:latin typeface="Times New Roman"/>
                <a:cs typeface="Times New Roman"/>
              </a:rPr>
              <a:t>not </a:t>
            </a:r>
            <a:r>
              <a:rPr dirty="0" sz="1050" spc="60">
                <a:solidFill>
                  <a:srgbClr val="FEFEFE"/>
                </a:solidFill>
                <a:latin typeface="Times New Roman"/>
                <a:cs typeface="Times New Roman"/>
              </a:rPr>
              <a:t>a</a:t>
            </a:r>
            <a:r>
              <a:rPr dirty="0" sz="1050" spc="8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FEFEFE"/>
                </a:solidFill>
                <a:latin typeface="Times New Roman"/>
                <a:cs typeface="Times New Roman"/>
              </a:rPr>
              <a:t>cl</a:t>
            </a:r>
            <a:r>
              <a:rPr dirty="0" sz="1050" spc="-15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FEFEFE"/>
                </a:solidFill>
                <a:latin typeface="Times New Roman"/>
                <a:cs typeface="Times New Roman"/>
              </a:rPr>
              <a:t>inical</a:t>
            </a:r>
            <a:r>
              <a:rPr dirty="0" sz="1050" spc="204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FEFEFE"/>
                </a:solidFill>
                <a:latin typeface="Times New Roman"/>
                <a:cs typeface="Times New Roman"/>
              </a:rPr>
              <a:t>diagnostic</a:t>
            </a:r>
            <a:r>
              <a:rPr dirty="0" sz="1050" spc="9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FEFEFE"/>
                </a:solidFill>
                <a:latin typeface="Times New Roman"/>
                <a:cs typeface="Times New Roman"/>
              </a:rPr>
              <a:t>device.</a:t>
            </a:r>
            <a:r>
              <a:rPr dirty="0" sz="1050" spc="18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FEFEFE"/>
                </a:solidFill>
                <a:latin typeface="Times New Roman"/>
                <a:cs typeface="Times New Roman"/>
              </a:rPr>
              <a:t>Threshol</a:t>
            </a:r>
            <a:r>
              <a:rPr dirty="0" sz="1050" spc="-15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125">
                <a:solidFill>
                  <a:srgbClr val="FEFEFE"/>
                </a:solidFill>
                <a:latin typeface="Times New Roman"/>
                <a:cs typeface="Times New Roman"/>
              </a:rPr>
              <a:t>ds </a:t>
            </a:r>
            <a:r>
              <a:rPr dirty="0" sz="1050" spc="-25">
                <a:solidFill>
                  <a:srgbClr val="FEFEFE"/>
                </a:solidFill>
                <a:latin typeface="Times New Roman"/>
                <a:cs typeface="Times New Roman"/>
              </a:rPr>
              <a:t>are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50">
                <a:solidFill>
                  <a:srgbClr val="FEFEFE"/>
                </a:solidFill>
                <a:latin typeface="Times New Roman"/>
                <a:cs typeface="Times New Roman"/>
              </a:rPr>
              <a:t>engineering</a:t>
            </a:r>
            <a:r>
              <a:rPr dirty="0" sz="1050" spc="45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FEFEFE"/>
                </a:solidFill>
                <a:latin typeface="Times New Roman"/>
                <a:cs typeface="Times New Roman"/>
              </a:rPr>
              <a:t>parameters,</a:t>
            </a:r>
            <a:r>
              <a:rPr dirty="0" sz="1050" spc="10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FEFEFE"/>
                </a:solidFill>
                <a:latin typeface="Times New Roman"/>
                <a:cs typeface="Times New Roman"/>
              </a:rPr>
              <a:t>not</a:t>
            </a:r>
            <a:r>
              <a:rPr dirty="0" sz="1050" spc="7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FEFEFE"/>
                </a:solidFill>
                <a:latin typeface="Times New Roman"/>
                <a:cs typeface="Times New Roman"/>
              </a:rPr>
              <a:t>medical</a:t>
            </a:r>
            <a:r>
              <a:rPr dirty="0" sz="1050" spc="160">
                <a:solidFill>
                  <a:srgbClr val="FEFEFE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FEFEFE"/>
                </a:solidFill>
                <a:latin typeface="Times New Roman"/>
                <a:cs typeface="Times New Roman"/>
              </a:rPr>
              <a:t>diagnoses.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07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25"/>
              </a:spcBef>
            </a:pPr>
            <a:r>
              <a:rPr dirty="0" spc="225"/>
              <a:t>F</a:t>
            </a:r>
            <a:r>
              <a:rPr dirty="0" spc="340"/>
              <a:t>i</a:t>
            </a:r>
            <a:r>
              <a:rPr dirty="0" spc="75"/>
              <a:t>v</a:t>
            </a:r>
            <a:r>
              <a:rPr dirty="0" spc="195"/>
              <a:t>e</a:t>
            </a:r>
            <a:r>
              <a:rPr dirty="0" sz="250" spc="225"/>
              <a:t>-</a:t>
            </a:r>
            <a:r>
              <a:rPr dirty="0" sz="250" spc="20"/>
              <a:t> </a:t>
            </a:r>
            <a:r>
              <a:rPr dirty="0" spc="265"/>
              <a:t>Plane</a:t>
            </a:r>
            <a:r>
              <a:rPr dirty="0" spc="-25"/>
              <a:t> </a:t>
            </a:r>
            <a:r>
              <a:rPr dirty="0" spc="285"/>
              <a:t>E</a:t>
            </a:r>
            <a:r>
              <a:rPr dirty="0" spc="320"/>
              <a:t>d</a:t>
            </a:r>
            <a:r>
              <a:rPr dirty="0" spc="315"/>
              <a:t>g</a:t>
            </a:r>
            <a:r>
              <a:rPr dirty="0" spc="280"/>
              <a:t>e</a:t>
            </a:r>
            <a:r>
              <a:rPr dirty="0" sz="250" spc="290"/>
              <a:t>–</a:t>
            </a:r>
            <a:r>
              <a:rPr dirty="0" spc="235"/>
              <a:t>Cloud</a:t>
            </a:r>
            <a:r>
              <a:rPr dirty="0" spc="30"/>
              <a:t> </a:t>
            </a:r>
            <a:r>
              <a:rPr dirty="0" spc="215"/>
              <a:t>Architecture</a:t>
            </a:r>
            <a:endParaRPr sz="250"/>
          </a:p>
        </p:txBody>
      </p:sp>
      <p:sp>
        <p:nvSpPr>
          <p:cNvPr id="3" name="object 3"/>
          <p:cNvSpPr/>
          <p:nvPr/>
        </p:nvSpPr>
        <p:spPr>
          <a:xfrm>
            <a:off x="9144000" y="380999"/>
            <a:ext cx="2667000" cy="333375"/>
          </a:xfrm>
          <a:custGeom>
            <a:avLst/>
            <a:gdLst/>
            <a:ahLst/>
            <a:cxnLst/>
            <a:rect l="l" t="t" r="r" b="b"/>
            <a:pathLst>
              <a:path w="2667000" h="333375">
                <a:moveTo>
                  <a:pt x="26339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2633954" y="333375"/>
                </a:lnTo>
                <a:lnTo>
                  <a:pt x="2666034" y="305181"/>
                </a:lnTo>
                <a:lnTo>
                  <a:pt x="2667000" y="300329"/>
                </a:lnTo>
                <a:lnTo>
                  <a:pt x="2667000" y="33045"/>
                </a:lnTo>
                <a:lnTo>
                  <a:pt x="2638806" y="965"/>
                </a:lnTo>
                <a:lnTo>
                  <a:pt x="26339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283700" y="457919"/>
            <a:ext cx="239014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140">
                <a:solidFill>
                  <a:srgbClr val="D97705"/>
                </a:solidFill>
                <a:latin typeface="Times New Roman"/>
                <a:cs typeface="Times New Roman"/>
              </a:rPr>
              <a:t>2.</a:t>
            </a:r>
            <a:r>
              <a:rPr dirty="0" sz="1000" spc="38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Times New Roman"/>
                <a:cs typeface="Times New Roman"/>
              </a:rPr>
              <a:t>SYSTEM</a:t>
            </a:r>
            <a:r>
              <a:rPr dirty="0" sz="1000" spc="22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DESIGN</a:t>
            </a:r>
            <a:r>
              <a:rPr dirty="0" sz="1000" spc="229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&amp;</a:t>
            </a:r>
            <a:r>
              <a:rPr dirty="0" sz="1000" spc="16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D97705"/>
                </a:solidFill>
                <a:latin typeface="Times New Roman"/>
                <a:cs typeface="Times New Roman"/>
              </a:rPr>
              <a:t>ARCHITECTURE</a:t>
            </a:r>
            <a:endParaRPr sz="10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942974"/>
            <a:ext cx="10668000" cy="51625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882900" y="5129912"/>
            <a:ext cx="2386330" cy="17526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50" spc="200">
                <a:solidFill>
                  <a:srgbClr val="465469"/>
                </a:solidFill>
                <a:latin typeface="Times New Roman"/>
                <a:cs typeface="Times New Roman"/>
              </a:rPr>
              <a:t>Security</a:t>
            </a:r>
            <a:r>
              <a:rPr dirty="0" sz="950" spc="3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950" spc="180">
                <a:solidFill>
                  <a:srgbClr val="465469"/>
                </a:solidFill>
                <a:latin typeface="Times New Roman"/>
                <a:cs typeface="Times New Roman"/>
              </a:rPr>
              <a:t>Plane:</a:t>
            </a:r>
            <a:r>
              <a:rPr dirty="0" sz="950" spc="170">
                <a:solidFill>
                  <a:srgbClr val="465469"/>
                </a:solidFill>
                <a:latin typeface="Times New Roman"/>
                <a:cs typeface="Times New Roman"/>
              </a:rPr>
              <a:t> 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Device</a:t>
            </a:r>
            <a:r>
              <a:rPr dirty="0" sz="950" spc="8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465469"/>
                </a:solidFill>
                <a:latin typeface="Courier New"/>
                <a:cs typeface="Courier New"/>
              </a:rPr>
              <a:t>Identity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1300" y="5130800"/>
            <a:ext cx="3986529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5100" indent="-152400">
              <a:lnSpc>
                <a:spcPct val="100000"/>
              </a:lnSpc>
              <a:spcBef>
                <a:spcPts val="125"/>
              </a:spcBef>
              <a:buChar char="•"/>
              <a:tabLst>
                <a:tab pos="165100" algn="l"/>
              </a:tabLst>
            </a:pP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TLS</a:t>
            </a:r>
            <a:r>
              <a:rPr dirty="0" sz="950" spc="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Encryption</a:t>
            </a:r>
            <a:r>
              <a:rPr dirty="0" sz="950" spc="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•</a:t>
            </a:r>
            <a:r>
              <a:rPr dirty="0" sz="950" spc="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Authenticated</a:t>
            </a:r>
            <a:r>
              <a:rPr dirty="0" sz="950" spc="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API</a:t>
            </a:r>
            <a:r>
              <a:rPr dirty="0" sz="950" spc="114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•</a:t>
            </a:r>
            <a:r>
              <a:rPr dirty="0" sz="950" spc="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Audit</a:t>
            </a:r>
            <a:r>
              <a:rPr dirty="0" sz="950" spc="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465469"/>
                </a:solidFill>
                <a:latin typeface="Courier New"/>
                <a:cs typeface="Courier New"/>
              </a:rPr>
              <a:t>Logging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17076" y="2086954"/>
            <a:ext cx="114236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MAX301</a:t>
            </a:r>
            <a:r>
              <a:rPr dirty="0" sz="1000" spc="-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0E162A"/>
                </a:solidFill>
                <a:latin typeface="Times New Roman"/>
                <a:cs typeface="Times New Roman"/>
              </a:rPr>
              <a:t>02</a:t>
            </a:r>
            <a:r>
              <a:rPr dirty="0" sz="1000" spc="-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(Vitals)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4535" y="2086954"/>
            <a:ext cx="77089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60">
                <a:solidFill>
                  <a:srgbClr val="0E162A"/>
                </a:solidFill>
                <a:latin typeface="Times New Roman"/>
                <a:cs typeface="Times New Roman"/>
              </a:rPr>
              <a:t>DHT1</a:t>
            </a:r>
            <a:r>
              <a:rPr dirty="0" sz="1000" spc="-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1</a:t>
            </a:r>
            <a:r>
              <a:rPr dirty="0" sz="1000" spc="8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(Env)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53856" y="2086954"/>
            <a:ext cx="98044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25">
                <a:solidFill>
                  <a:srgbClr val="0E162A"/>
                </a:solidFill>
                <a:latin typeface="Times New Roman"/>
                <a:cs typeface="Times New Roman"/>
              </a:rPr>
              <a:t>MQ-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Series</a:t>
            </a:r>
            <a:r>
              <a:rPr dirty="0" sz="1000" spc="2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(Gas)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67586" y="1747688"/>
            <a:ext cx="883285" cy="1536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800" spc="30">
                <a:solidFill>
                  <a:srgbClr val="FFFFFF"/>
                </a:solidFill>
                <a:latin typeface="Times New Roman"/>
                <a:cs typeface="Times New Roman"/>
              </a:rPr>
              <a:t>SENSI</a:t>
            </a:r>
            <a:r>
              <a:rPr dirty="0" sz="800" spc="-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20">
                <a:solidFill>
                  <a:srgbClr val="FFFFFF"/>
                </a:solidFill>
                <a:latin typeface="Times New Roman"/>
                <a:cs typeface="Times New Roman"/>
              </a:rPr>
              <a:t>NG</a:t>
            </a:r>
            <a:r>
              <a:rPr dirty="0" sz="8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imes New Roman"/>
                <a:cs typeface="Times New Roman"/>
              </a:rPr>
              <a:t>PLANE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9498" y="3248953"/>
            <a:ext cx="104838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65">
                <a:solidFill>
                  <a:srgbClr val="0E756E"/>
                </a:solidFill>
                <a:latin typeface="Times New Roman"/>
                <a:cs typeface="Times New Roman"/>
              </a:rPr>
              <a:t>Collector</a:t>
            </a:r>
            <a:r>
              <a:rPr dirty="0" sz="1000" spc="-5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E756E"/>
                </a:solidFill>
                <a:latin typeface="Times New Roman"/>
                <a:cs typeface="Times New Roman"/>
              </a:rPr>
              <a:t>&amp;</a:t>
            </a:r>
            <a:r>
              <a:rPr dirty="0" sz="1000" spc="-8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0E756E"/>
                </a:solidFill>
                <a:latin typeface="Times New Roman"/>
                <a:cs typeface="Times New Roman"/>
              </a:rPr>
              <a:t>Filter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97525" y="3248953"/>
            <a:ext cx="99631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55">
                <a:solidFill>
                  <a:srgbClr val="0E756E"/>
                </a:solidFill>
                <a:latin typeface="Times New Roman"/>
                <a:cs typeface="Times New Roman"/>
              </a:rPr>
              <a:t>Decision</a:t>
            </a:r>
            <a:r>
              <a:rPr dirty="0" sz="1000" spc="-1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0E756E"/>
                </a:solidFill>
                <a:latin typeface="Times New Roman"/>
                <a:cs typeface="Times New Roman"/>
              </a:rPr>
              <a:t>Engine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03651" y="3251232"/>
            <a:ext cx="8724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70">
                <a:solidFill>
                  <a:srgbClr val="D97705"/>
                </a:solidFill>
                <a:latin typeface="Times New Roman"/>
                <a:cs typeface="Times New Roman"/>
              </a:rPr>
              <a:t>SQLite</a:t>
            </a:r>
            <a:r>
              <a:rPr dirty="0" sz="1000" spc="-2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D97705"/>
                </a:solidFill>
                <a:latin typeface="Times New Roman"/>
                <a:cs typeface="Times New Roman"/>
              </a:rPr>
              <a:t>Queue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67586" y="2909738"/>
            <a:ext cx="1605915" cy="1536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800" spc="1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dirty="0" sz="8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10">
                <a:solidFill>
                  <a:srgbClr val="FFFFFF"/>
                </a:solidFill>
                <a:latin typeface="Times New Roman"/>
                <a:cs typeface="Times New Roman"/>
              </a:rPr>
              <a:t>PLANE</a:t>
            </a:r>
            <a:r>
              <a:rPr dirty="0" sz="8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75">
                <a:solidFill>
                  <a:srgbClr val="FFFFFF"/>
                </a:solidFill>
                <a:latin typeface="Times New Roman"/>
                <a:cs typeface="Times New Roman"/>
              </a:rPr>
              <a:t>(RASPBERRY</a:t>
            </a:r>
            <a:r>
              <a:rPr dirty="0" sz="8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65">
                <a:solidFill>
                  <a:srgbClr val="FFFFFF"/>
                </a:solidFill>
                <a:latin typeface="Times New Roman"/>
                <a:cs typeface="Times New Roman"/>
              </a:rPr>
              <a:t>PI</a:t>
            </a:r>
            <a:r>
              <a:rPr dirty="0" sz="8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-5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44850" y="3244850"/>
            <a:ext cx="2004060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7064" algn="l"/>
              </a:tabLst>
            </a:pPr>
            <a:r>
              <a:rPr dirty="0" u="heavy" sz="750">
                <a:solidFill>
                  <a:srgbClr val="CBD5E1"/>
                </a:solidFill>
                <a:uFill>
                  <a:solidFill>
                    <a:srgbClr val="CBD5E1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750" spc="-50">
                <a:solidFill>
                  <a:srgbClr val="CBD5E1"/>
                </a:solidFill>
                <a:uFill>
                  <a:solidFill>
                    <a:srgbClr val="CBD5E1"/>
                  </a:solidFill>
                </a:uFill>
                <a:latin typeface="Lucida Sans Unicode"/>
                <a:cs typeface="Lucida Sans Unicode"/>
              </a:rPr>
              <a:t>▶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88175" y="3244850"/>
            <a:ext cx="2004695" cy="139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18335" algn="l"/>
              </a:tabLst>
            </a:pPr>
            <a:r>
              <a:rPr dirty="0" u="heavy" sz="750">
                <a:solidFill>
                  <a:srgbClr val="CBD5E1"/>
                </a:solidFill>
                <a:uFill>
                  <a:solidFill>
                    <a:srgbClr val="CBD5E1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750" spc="-50">
                <a:solidFill>
                  <a:srgbClr val="CBD5E1"/>
                </a:solidFill>
                <a:uFill>
                  <a:solidFill>
                    <a:srgbClr val="CBD5E1"/>
                  </a:solidFill>
                </a:uFill>
                <a:latin typeface="Lucida Sans Unicode"/>
                <a:cs typeface="Lucida Sans Unicode"/>
              </a:rPr>
              <a:t>▶</a:t>
            </a:r>
            <a:endParaRPr sz="75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76375" y="4162425"/>
            <a:ext cx="9239250" cy="685800"/>
            <a:chOff x="1476375" y="4162425"/>
            <a:chExt cx="9239250" cy="685800"/>
          </a:xfrm>
        </p:grpSpPr>
        <p:sp>
          <p:nvSpPr>
            <p:cNvPr id="19" name="object 19"/>
            <p:cNvSpPr/>
            <p:nvPr/>
          </p:nvSpPr>
          <p:spPr>
            <a:xfrm>
              <a:off x="1485900" y="4171950"/>
              <a:ext cx="9220200" cy="666750"/>
            </a:xfrm>
            <a:custGeom>
              <a:avLst/>
              <a:gdLst/>
              <a:ahLst/>
              <a:cxnLst/>
              <a:rect l="l" t="t" r="r" b="b"/>
              <a:pathLst>
                <a:path w="9220200" h="666750">
                  <a:moveTo>
                    <a:pt x="9157906" y="0"/>
                  </a:moveTo>
                  <a:lnTo>
                    <a:pt x="62293" y="0"/>
                  </a:lnTo>
                  <a:lnTo>
                    <a:pt x="57962" y="431"/>
                  </a:lnTo>
                  <a:lnTo>
                    <a:pt x="22618" y="16433"/>
                  </a:lnTo>
                  <a:lnTo>
                    <a:pt x="2133" y="49364"/>
                  </a:lnTo>
                  <a:lnTo>
                    <a:pt x="0" y="62293"/>
                  </a:lnTo>
                  <a:lnTo>
                    <a:pt x="0" y="600075"/>
                  </a:lnTo>
                  <a:lnTo>
                    <a:pt x="0" y="604456"/>
                  </a:lnTo>
                  <a:lnTo>
                    <a:pt x="13665" y="640753"/>
                  </a:lnTo>
                  <a:lnTo>
                    <a:pt x="45199" y="663346"/>
                  </a:lnTo>
                  <a:lnTo>
                    <a:pt x="62293" y="666750"/>
                  </a:lnTo>
                  <a:lnTo>
                    <a:pt x="9157906" y="666750"/>
                  </a:lnTo>
                  <a:lnTo>
                    <a:pt x="9194215" y="653072"/>
                  </a:lnTo>
                  <a:lnTo>
                    <a:pt x="9216796" y="621550"/>
                  </a:lnTo>
                  <a:lnTo>
                    <a:pt x="9220200" y="604456"/>
                  </a:lnTo>
                  <a:lnTo>
                    <a:pt x="9220200" y="62293"/>
                  </a:lnTo>
                  <a:lnTo>
                    <a:pt x="9206534" y="25984"/>
                  </a:lnTo>
                  <a:lnTo>
                    <a:pt x="9175000" y="3403"/>
                  </a:lnTo>
                  <a:lnTo>
                    <a:pt x="9162237" y="431"/>
                  </a:lnTo>
                  <a:lnTo>
                    <a:pt x="9157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485900" y="4171950"/>
              <a:ext cx="9220200" cy="666750"/>
            </a:xfrm>
            <a:custGeom>
              <a:avLst/>
              <a:gdLst/>
              <a:ahLst/>
              <a:cxnLst/>
              <a:rect l="l" t="t" r="r" b="b"/>
              <a:pathLst>
                <a:path w="9220200" h="666750">
                  <a:moveTo>
                    <a:pt x="0" y="600075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31" y="57962"/>
                  </a:lnTo>
                  <a:lnTo>
                    <a:pt x="1282" y="53670"/>
                  </a:lnTo>
                  <a:lnTo>
                    <a:pt x="2133" y="49364"/>
                  </a:lnTo>
                  <a:lnTo>
                    <a:pt x="3403" y="45199"/>
                  </a:lnTo>
                  <a:lnTo>
                    <a:pt x="5080" y="41160"/>
                  </a:lnTo>
                  <a:lnTo>
                    <a:pt x="6756" y="37109"/>
                  </a:lnTo>
                  <a:lnTo>
                    <a:pt x="8801" y="33274"/>
                  </a:lnTo>
                  <a:lnTo>
                    <a:pt x="11239" y="29629"/>
                  </a:lnTo>
                  <a:lnTo>
                    <a:pt x="13665" y="25984"/>
                  </a:lnTo>
                  <a:lnTo>
                    <a:pt x="16433" y="22618"/>
                  </a:lnTo>
                  <a:lnTo>
                    <a:pt x="19532" y="19519"/>
                  </a:lnTo>
                  <a:lnTo>
                    <a:pt x="22618" y="16433"/>
                  </a:lnTo>
                  <a:lnTo>
                    <a:pt x="25984" y="13665"/>
                  </a:lnTo>
                  <a:lnTo>
                    <a:pt x="29629" y="11239"/>
                  </a:lnTo>
                  <a:lnTo>
                    <a:pt x="33274" y="8801"/>
                  </a:lnTo>
                  <a:lnTo>
                    <a:pt x="37109" y="6756"/>
                  </a:lnTo>
                  <a:lnTo>
                    <a:pt x="41160" y="5080"/>
                  </a:lnTo>
                  <a:lnTo>
                    <a:pt x="45199" y="3403"/>
                  </a:lnTo>
                  <a:lnTo>
                    <a:pt x="49377" y="2133"/>
                  </a:lnTo>
                  <a:lnTo>
                    <a:pt x="53670" y="1282"/>
                  </a:lnTo>
                  <a:lnTo>
                    <a:pt x="57962" y="431"/>
                  </a:lnTo>
                  <a:lnTo>
                    <a:pt x="62293" y="0"/>
                  </a:lnTo>
                  <a:lnTo>
                    <a:pt x="66675" y="0"/>
                  </a:lnTo>
                  <a:lnTo>
                    <a:pt x="9153525" y="0"/>
                  </a:lnTo>
                  <a:lnTo>
                    <a:pt x="9157906" y="0"/>
                  </a:lnTo>
                  <a:lnTo>
                    <a:pt x="9162237" y="431"/>
                  </a:lnTo>
                  <a:lnTo>
                    <a:pt x="9166529" y="1282"/>
                  </a:lnTo>
                  <a:lnTo>
                    <a:pt x="9170822" y="2133"/>
                  </a:lnTo>
                  <a:lnTo>
                    <a:pt x="9175000" y="3403"/>
                  </a:lnTo>
                  <a:lnTo>
                    <a:pt x="9179039" y="5080"/>
                  </a:lnTo>
                  <a:lnTo>
                    <a:pt x="9183078" y="6756"/>
                  </a:lnTo>
                  <a:lnTo>
                    <a:pt x="9186926" y="8801"/>
                  </a:lnTo>
                  <a:lnTo>
                    <a:pt x="9190571" y="11239"/>
                  </a:lnTo>
                  <a:lnTo>
                    <a:pt x="9194215" y="13665"/>
                  </a:lnTo>
                  <a:lnTo>
                    <a:pt x="9208960" y="29629"/>
                  </a:lnTo>
                  <a:lnTo>
                    <a:pt x="9211399" y="33274"/>
                  </a:lnTo>
                  <a:lnTo>
                    <a:pt x="9213443" y="37109"/>
                  </a:lnTo>
                  <a:lnTo>
                    <a:pt x="9215120" y="41160"/>
                  </a:lnTo>
                  <a:lnTo>
                    <a:pt x="9216796" y="45199"/>
                  </a:lnTo>
                  <a:lnTo>
                    <a:pt x="9218066" y="49364"/>
                  </a:lnTo>
                  <a:lnTo>
                    <a:pt x="9218917" y="53670"/>
                  </a:lnTo>
                  <a:lnTo>
                    <a:pt x="9219768" y="57962"/>
                  </a:lnTo>
                  <a:lnTo>
                    <a:pt x="9220200" y="62293"/>
                  </a:lnTo>
                  <a:lnTo>
                    <a:pt x="9220200" y="66675"/>
                  </a:lnTo>
                  <a:lnTo>
                    <a:pt x="9220200" y="600075"/>
                  </a:lnTo>
                  <a:lnTo>
                    <a:pt x="9220200" y="604456"/>
                  </a:lnTo>
                  <a:lnTo>
                    <a:pt x="9219768" y="608787"/>
                  </a:lnTo>
                  <a:lnTo>
                    <a:pt x="9218917" y="613079"/>
                  </a:lnTo>
                  <a:lnTo>
                    <a:pt x="9218066" y="617372"/>
                  </a:lnTo>
                  <a:lnTo>
                    <a:pt x="9216796" y="621550"/>
                  </a:lnTo>
                  <a:lnTo>
                    <a:pt x="9215120" y="625589"/>
                  </a:lnTo>
                  <a:lnTo>
                    <a:pt x="9213443" y="629627"/>
                  </a:lnTo>
                  <a:lnTo>
                    <a:pt x="9211399" y="633476"/>
                  </a:lnTo>
                  <a:lnTo>
                    <a:pt x="9208960" y="637120"/>
                  </a:lnTo>
                  <a:lnTo>
                    <a:pt x="9206534" y="640753"/>
                  </a:lnTo>
                  <a:lnTo>
                    <a:pt x="9203766" y="644118"/>
                  </a:lnTo>
                  <a:lnTo>
                    <a:pt x="9200667" y="647217"/>
                  </a:lnTo>
                  <a:lnTo>
                    <a:pt x="9197581" y="650316"/>
                  </a:lnTo>
                  <a:lnTo>
                    <a:pt x="9194215" y="653072"/>
                  </a:lnTo>
                  <a:lnTo>
                    <a:pt x="9190571" y="655510"/>
                  </a:lnTo>
                  <a:lnTo>
                    <a:pt x="9186926" y="657948"/>
                  </a:lnTo>
                  <a:lnTo>
                    <a:pt x="9166529" y="665467"/>
                  </a:lnTo>
                  <a:lnTo>
                    <a:pt x="9162237" y="666318"/>
                  </a:lnTo>
                  <a:lnTo>
                    <a:pt x="9157906" y="666750"/>
                  </a:lnTo>
                  <a:lnTo>
                    <a:pt x="9153525" y="666750"/>
                  </a:lnTo>
                  <a:lnTo>
                    <a:pt x="66675" y="666750"/>
                  </a:lnTo>
                  <a:lnTo>
                    <a:pt x="62293" y="666750"/>
                  </a:lnTo>
                  <a:lnTo>
                    <a:pt x="57962" y="666318"/>
                  </a:lnTo>
                  <a:lnTo>
                    <a:pt x="53670" y="665467"/>
                  </a:lnTo>
                  <a:lnTo>
                    <a:pt x="49377" y="664616"/>
                  </a:lnTo>
                  <a:lnTo>
                    <a:pt x="45199" y="663346"/>
                  </a:lnTo>
                  <a:lnTo>
                    <a:pt x="41160" y="661670"/>
                  </a:lnTo>
                  <a:lnTo>
                    <a:pt x="37109" y="659993"/>
                  </a:lnTo>
                  <a:lnTo>
                    <a:pt x="19532" y="647217"/>
                  </a:lnTo>
                  <a:lnTo>
                    <a:pt x="16433" y="644118"/>
                  </a:lnTo>
                  <a:lnTo>
                    <a:pt x="13665" y="640753"/>
                  </a:lnTo>
                  <a:lnTo>
                    <a:pt x="11239" y="637120"/>
                  </a:lnTo>
                  <a:lnTo>
                    <a:pt x="8801" y="633476"/>
                  </a:lnTo>
                  <a:lnTo>
                    <a:pt x="6756" y="629627"/>
                  </a:lnTo>
                  <a:lnTo>
                    <a:pt x="5080" y="625589"/>
                  </a:lnTo>
                  <a:lnTo>
                    <a:pt x="3403" y="621550"/>
                  </a:lnTo>
                  <a:lnTo>
                    <a:pt x="2133" y="617372"/>
                  </a:lnTo>
                  <a:lnTo>
                    <a:pt x="1282" y="613079"/>
                  </a:lnTo>
                  <a:lnTo>
                    <a:pt x="431" y="608787"/>
                  </a:lnTo>
                  <a:lnTo>
                    <a:pt x="0" y="604456"/>
                  </a:lnTo>
                  <a:lnTo>
                    <a:pt x="0" y="600075"/>
                  </a:lnTo>
                  <a:close/>
                </a:path>
              </a:pathLst>
            </a:custGeom>
            <a:ln w="19050">
              <a:solidFill>
                <a:srgbClr val="0A1E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309812" y="4329112"/>
              <a:ext cx="1419225" cy="352425"/>
            </a:xfrm>
            <a:custGeom>
              <a:avLst/>
              <a:gdLst/>
              <a:ahLst/>
              <a:cxnLst/>
              <a:rect l="l" t="t" r="r" b="b"/>
              <a:pathLst>
                <a:path w="1419225" h="352425">
                  <a:moveTo>
                    <a:pt x="1390307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1390307" y="352425"/>
                  </a:lnTo>
                  <a:lnTo>
                    <a:pt x="1419225" y="323507"/>
                  </a:lnTo>
                  <a:lnTo>
                    <a:pt x="1419225" y="28917"/>
                  </a:lnTo>
                  <a:lnTo>
                    <a:pt x="1394561" y="838"/>
                  </a:lnTo>
                  <a:lnTo>
                    <a:pt x="139030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309812" y="4329112"/>
              <a:ext cx="1419225" cy="352425"/>
            </a:xfrm>
            <a:custGeom>
              <a:avLst/>
              <a:gdLst/>
              <a:ahLst/>
              <a:cxnLst/>
              <a:rect l="l" t="t" r="r" b="b"/>
              <a:pathLst>
                <a:path w="141922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1385887" y="0"/>
                  </a:lnTo>
                  <a:lnTo>
                    <a:pt x="1390307" y="0"/>
                  </a:lnTo>
                  <a:lnTo>
                    <a:pt x="1394561" y="838"/>
                  </a:lnTo>
                  <a:lnTo>
                    <a:pt x="1398651" y="2540"/>
                  </a:lnTo>
                  <a:lnTo>
                    <a:pt x="1402727" y="4229"/>
                  </a:lnTo>
                  <a:lnTo>
                    <a:pt x="1419225" y="28917"/>
                  </a:lnTo>
                  <a:lnTo>
                    <a:pt x="1419225" y="33337"/>
                  </a:lnTo>
                  <a:lnTo>
                    <a:pt x="1419225" y="319087"/>
                  </a:lnTo>
                  <a:lnTo>
                    <a:pt x="1419225" y="323507"/>
                  </a:lnTo>
                  <a:lnTo>
                    <a:pt x="1418374" y="327761"/>
                  </a:lnTo>
                  <a:lnTo>
                    <a:pt x="1416685" y="331838"/>
                  </a:lnTo>
                  <a:lnTo>
                    <a:pt x="1414995" y="335927"/>
                  </a:lnTo>
                  <a:lnTo>
                    <a:pt x="1390307" y="352425"/>
                  </a:lnTo>
                  <a:lnTo>
                    <a:pt x="1385887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3" y="351574"/>
                  </a:lnTo>
                  <a:lnTo>
                    <a:pt x="2540" y="331838"/>
                  </a:lnTo>
                  <a:lnTo>
                    <a:pt x="83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615603" y="4411055"/>
            <a:ext cx="80391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65">
                <a:solidFill>
                  <a:srgbClr val="0E162A"/>
                </a:solidFill>
                <a:latin typeface="Times New Roman"/>
                <a:cs typeface="Times New Roman"/>
              </a:rPr>
              <a:t>I</a:t>
            </a:r>
            <a:r>
              <a:rPr dirty="0" sz="1000" spc="-1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0E162A"/>
                </a:solidFill>
                <a:latin typeface="Times New Roman"/>
                <a:cs typeface="Times New Roman"/>
              </a:rPr>
              <a:t>ngestion</a:t>
            </a:r>
            <a:r>
              <a:rPr dirty="0" sz="1000" spc="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E162A"/>
                </a:solidFill>
                <a:latin typeface="Times New Roman"/>
                <a:cs typeface="Times New Roman"/>
              </a:rPr>
              <a:t>API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76850" y="4324350"/>
            <a:ext cx="1428750" cy="361950"/>
            <a:chOff x="5276850" y="4324350"/>
            <a:chExt cx="1428750" cy="361950"/>
          </a:xfrm>
        </p:grpSpPr>
        <p:sp>
          <p:nvSpPr>
            <p:cNvPr id="25" name="object 25"/>
            <p:cNvSpPr/>
            <p:nvPr/>
          </p:nvSpPr>
          <p:spPr>
            <a:xfrm>
              <a:off x="5281612" y="4329112"/>
              <a:ext cx="1419225" cy="352425"/>
            </a:xfrm>
            <a:custGeom>
              <a:avLst/>
              <a:gdLst/>
              <a:ahLst/>
              <a:cxnLst/>
              <a:rect l="l" t="t" r="r" b="b"/>
              <a:pathLst>
                <a:path w="1419225" h="352425">
                  <a:moveTo>
                    <a:pt x="1390307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1390307" y="352425"/>
                  </a:lnTo>
                  <a:lnTo>
                    <a:pt x="1419225" y="323507"/>
                  </a:lnTo>
                  <a:lnTo>
                    <a:pt x="1419225" y="28917"/>
                  </a:lnTo>
                  <a:lnTo>
                    <a:pt x="1394561" y="838"/>
                  </a:lnTo>
                  <a:lnTo>
                    <a:pt x="139030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81612" y="4329112"/>
              <a:ext cx="1419225" cy="352425"/>
            </a:xfrm>
            <a:custGeom>
              <a:avLst/>
              <a:gdLst/>
              <a:ahLst/>
              <a:cxnLst/>
              <a:rect l="l" t="t" r="r" b="b"/>
              <a:pathLst>
                <a:path w="141922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1385887" y="0"/>
                  </a:lnTo>
                  <a:lnTo>
                    <a:pt x="1390307" y="0"/>
                  </a:lnTo>
                  <a:lnTo>
                    <a:pt x="1394561" y="838"/>
                  </a:lnTo>
                  <a:lnTo>
                    <a:pt x="1398638" y="2540"/>
                  </a:lnTo>
                  <a:lnTo>
                    <a:pt x="1402727" y="4229"/>
                  </a:lnTo>
                  <a:lnTo>
                    <a:pt x="1419225" y="28917"/>
                  </a:lnTo>
                  <a:lnTo>
                    <a:pt x="1419225" y="33337"/>
                  </a:lnTo>
                  <a:lnTo>
                    <a:pt x="1419225" y="319087"/>
                  </a:lnTo>
                  <a:lnTo>
                    <a:pt x="1419225" y="323507"/>
                  </a:lnTo>
                  <a:lnTo>
                    <a:pt x="1418374" y="327761"/>
                  </a:lnTo>
                  <a:lnTo>
                    <a:pt x="1416685" y="331838"/>
                  </a:lnTo>
                  <a:lnTo>
                    <a:pt x="1414995" y="335927"/>
                  </a:lnTo>
                  <a:lnTo>
                    <a:pt x="1398638" y="349885"/>
                  </a:lnTo>
                  <a:lnTo>
                    <a:pt x="1394561" y="351574"/>
                  </a:lnTo>
                  <a:lnTo>
                    <a:pt x="1390307" y="352425"/>
                  </a:lnTo>
                  <a:lnTo>
                    <a:pt x="1385887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3" y="351574"/>
                  </a:lnTo>
                  <a:lnTo>
                    <a:pt x="2540" y="331838"/>
                  </a:lnTo>
                  <a:lnTo>
                    <a:pt x="83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702300" y="4411055"/>
            <a:ext cx="56515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50">
                <a:solidFill>
                  <a:srgbClr val="0E162A"/>
                </a:solidFill>
                <a:latin typeface="Times New Roman"/>
                <a:cs typeface="Times New Roman"/>
              </a:rPr>
              <a:t>Cloud</a:t>
            </a:r>
            <a:r>
              <a:rPr dirty="0" sz="100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0E162A"/>
                </a:solidFill>
                <a:latin typeface="Times New Roman"/>
                <a:cs typeface="Times New Roman"/>
              </a:rPr>
              <a:t>DB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239125" y="4324350"/>
            <a:ext cx="1647825" cy="361950"/>
            <a:chOff x="8239125" y="4324350"/>
            <a:chExt cx="1647825" cy="361950"/>
          </a:xfrm>
        </p:grpSpPr>
        <p:sp>
          <p:nvSpPr>
            <p:cNvPr id="29" name="object 29"/>
            <p:cNvSpPr/>
            <p:nvPr/>
          </p:nvSpPr>
          <p:spPr>
            <a:xfrm>
              <a:off x="8243887" y="4329112"/>
              <a:ext cx="1638300" cy="352425"/>
            </a:xfrm>
            <a:custGeom>
              <a:avLst/>
              <a:gdLst/>
              <a:ahLst/>
              <a:cxnLst/>
              <a:rect l="l" t="t" r="r" b="b"/>
              <a:pathLst>
                <a:path w="1638300" h="352425">
                  <a:moveTo>
                    <a:pt x="1609382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1609382" y="352425"/>
                  </a:lnTo>
                  <a:lnTo>
                    <a:pt x="1638300" y="323507"/>
                  </a:lnTo>
                  <a:lnTo>
                    <a:pt x="1638300" y="28917"/>
                  </a:lnTo>
                  <a:lnTo>
                    <a:pt x="1613636" y="838"/>
                  </a:lnTo>
                  <a:lnTo>
                    <a:pt x="1609382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243887" y="4329112"/>
              <a:ext cx="1638300" cy="352425"/>
            </a:xfrm>
            <a:custGeom>
              <a:avLst/>
              <a:gdLst/>
              <a:ahLst/>
              <a:cxnLst/>
              <a:rect l="l" t="t" r="r" b="b"/>
              <a:pathLst>
                <a:path w="1638300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1604962" y="0"/>
                  </a:lnTo>
                  <a:lnTo>
                    <a:pt x="1609382" y="0"/>
                  </a:lnTo>
                  <a:lnTo>
                    <a:pt x="1613636" y="838"/>
                  </a:lnTo>
                  <a:lnTo>
                    <a:pt x="1617713" y="2540"/>
                  </a:lnTo>
                  <a:lnTo>
                    <a:pt x="1621802" y="4229"/>
                  </a:lnTo>
                  <a:lnTo>
                    <a:pt x="1638300" y="28917"/>
                  </a:lnTo>
                  <a:lnTo>
                    <a:pt x="1638300" y="33337"/>
                  </a:lnTo>
                  <a:lnTo>
                    <a:pt x="1638300" y="319087"/>
                  </a:lnTo>
                  <a:lnTo>
                    <a:pt x="1638300" y="323507"/>
                  </a:lnTo>
                  <a:lnTo>
                    <a:pt x="1637449" y="327761"/>
                  </a:lnTo>
                  <a:lnTo>
                    <a:pt x="1635760" y="331838"/>
                  </a:lnTo>
                  <a:lnTo>
                    <a:pt x="1634070" y="335927"/>
                  </a:lnTo>
                  <a:lnTo>
                    <a:pt x="1617713" y="349885"/>
                  </a:lnTo>
                  <a:lnTo>
                    <a:pt x="1613636" y="351574"/>
                  </a:lnTo>
                  <a:lnTo>
                    <a:pt x="1609382" y="352425"/>
                  </a:lnTo>
                  <a:lnTo>
                    <a:pt x="1604962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3" y="351574"/>
                  </a:lnTo>
                  <a:lnTo>
                    <a:pt x="2540" y="331838"/>
                  </a:lnTo>
                  <a:lnTo>
                    <a:pt x="83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422284" y="4411055"/>
            <a:ext cx="126873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Caregiver</a:t>
            </a:r>
            <a:r>
              <a:rPr dirty="0" sz="1000" spc="20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0E162A"/>
                </a:solidFill>
                <a:latin typeface="Times New Roman"/>
                <a:cs typeface="Times New Roman"/>
              </a:rPr>
              <a:t>Dashboard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9300" y="6286468"/>
            <a:ext cx="24682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SRS</a:t>
            </a:r>
            <a:r>
              <a:rPr dirty="0" sz="1050" spc="-9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Section</a:t>
            </a:r>
            <a:r>
              <a:rPr dirty="0" sz="1050" spc="-9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4</a:t>
            </a:r>
            <a:r>
              <a:rPr dirty="0" sz="1050" spc="-9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9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architecture.mmd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883898" y="6286468"/>
            <a:ext cx="5632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Slide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465469"/>
                </a:solidFill>
                <a:latin typeface="Courier New"/>
                <a:cs typeface="Courier New"/>
              </a:rPr>
              <a:t>4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685925" y="4067175"/>
            <a:ext cx="952500" cy="171450"/>
          </a:xfrm>
          <a:prstGeom prst="rect">
            <a:avLst/>
          </a:prstGeom>
          <a:solidFill>
            <a:srgbClr val="0A1E36"/>
          </a:solidFill>
        </p:spPr>
        <p:txBody>
          <a:bodyPr wrap="square" lIns="0" tIns="7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0"/>
              </a:spcBef>
            </a:pPr>
            <a:endParaRPr sz="100">
              <a:latin typeface="Times New Roman"/>
              <a:cs typeface="Times New Roman"/>
            </a:endParaRPr>
          </a:p>
          <a:p>
            <a:pPr marL="93980">
              <a:lnSpc>
                <a:spcPct val="100000"/>
              </a:lnSpc>
            </a:pPr>
            <a:r>
              <a:rPr dirty="0" sz="80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r>
              <a:rPr dirty="0" sz="800" spc="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Times New Roman"/>
                <a:cs typeface="Times New Roman"/>
              </a:rPr>
              <a:t>PLANE</a:t>
            </a:r>
            <a:endParaRPr sz="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8053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25"/>
              </a:spcBef>
            </a:pPr>
            <a:r>
              <a:rPr dirty="0" spc="240"/>
              <a:t>N</a:t>
            </a:r>
            <a:r>
              <a:rPr dirty="0" spc="260"/>
              <a:t>o</a:t>
            </a:r>
            <a:r>
              <a:rPr dirty="0" spc="380"/>
              <a:t>i</a:t>
            </a:r>
            <a:r>
              <a:rPr dirty="0" spc="245"/>
              <a:t>s</a:t>
            </a:r>
            <a:r>
              <a:rPr dirty="0" spc="235"/>
              <a:t>e</a:t>
            </a:r>
            <a:r>
              <a:rPr dirty="0" sz="250" spc="275"/>
              <a:t>-</a:t>
            </a:r>
            <a:r>
              <a:rPr dirty="0" spc="235"/>
              <a:t>Aware</a:t>
            </a:r>
            <a:r>
              <a:rPr dirty="0" spc="-10"/>
              <a:t> </a:t>
            </a:r>
            <a:r>
              <a:rPr dirty="0" spc="325"/>
              <a:t>and</a:t>
            </a:r>
            <a:r>
              <a:rPr dirty="0" spc="45"/>
              <a:t> </a:t>
            </a:r>
            <a:r>
              <a:rPr dirty="0" spc="200"/>
              <a:t>Explainable</a:t>
            </a:r>
            <a:r>
              <a:rPr dirty="0" spc="-5"/>
              <a:t> </a:t>
            </a:r>
            <a:r>
              <a:rPr dirty="0" spc="215"/>
              <a:t>Decision</a:t>
            </a:r>
            <a:r>
              <a:rPr dirty="0" spc="70"/>
              <a:t> </a:t>
            </a:r>
            <a:r>
              <a:rPr dirty="0" spc="250"/>
              <a:t>Path</a:t>
            </a:r>
            <a:endParaRPr sz="250"/>
          </a:p>
        </p:txBody>
      </p:sp>
      <p:grpSp>
        <p:nvGrpSpPr>
          <p:cNvPr id="3" name="object 3"/>
          <p:cNvGrpSpPr/>
          <p:nvPr/>
        </p:nvGrpSpPr>
        <p:grpSpPr>
          <a:xfrm>
            <a:off x="762000" y="1038224"/>
            <a:ext cx="5143500" cy="1152525"/>
            <a:chOff x="762000" y="1038224"/>
            <a:chExt cx="5143500" cy="1152525"/>
          </a:xfrm>
        </p:grpSpPr>
        <p:sp>
          <p:nvSpPr>
            <p:cNvPr id="4" name="object 4"/>
            <p:cNvSpPr/>
            <p:nvPr/>
          </p:nvSpPr>
          <p:spPr>
            <a:xfrm>
              <a:off x="766762" y="1042987"/>
              <a:ext cx="5133975" cy="1143000"/>
            </a:xfrm>
            <a:custGeom>
              <a:avLst/>
              <a:gdLst/>
              <a:ahLst/>
              <a:cxnLst/>
              <a:rect l="l" t="t" r="r" b="b"/>
              <a:pathLst>
                <a:path w="5133975" h="1143000">
                  <a:moveTo>
                    <a:pt x="51050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1109662"/>
                  </a:lnTo>
                  <a:lnTo>
                    <a:pt x="0" y="1114082"/>
                  </a:lnTo>
                  <a:lnTo>
                    <a:pt x="28917" y="1143000"/>
                  </a:lnTo>
                  <a:lnTo>
                    <a:pt x="5105057" y="1143000"/>
                  </a:lnTo>
                  <a:lnTo>
                    <a:pt x="5133975" y="1114082"/>
                  </a:lnTo>
                  <a:lnTo>
                    <a:pt x="5133975" y="28917"/>
                  </a:lnTo>
                  <a:lnTo>
                    <a:pt x="5109311" y="838"/>
                  </a:lnTo>
                  <a:lnTo>
                    <a:pt x="51050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6762" y="1042987"/>
              <a:ext cx="5133975" cy="1143000"/>
            </a:xfrm>
            <a:custGeom>
              <a:avLst/>
              <a:gdLst/>
              <a:ahLst/>
              <a:cxnLst/>
              <a:rect l="l" t="t" r="r" b="b"/>
              <a:pathLst>
                <a:path w="5133975" h="1143000">
                  <a:moveTo>
                    <a:pt x="0" y="110966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100637" y="0"/>
                  </a:lnTo>
                  <a:lnTo>
                    <a:pt x="5105057" y="0"/>
                  </a:lnTo>
                  <a:lnTo>
                    <a:pt x="5109311" y="838"/>
                  </a:lnTo>
                  <a:lnTo>
                    <a:pt x="5113388" y="2540"/>
                  </a:lnTo>
                  <a:lnTo>
                    <a:pt x="5117477" y="4229"/>
                  </a:lnTo>
                  <a:lnTo>
                    <a:pt x="5121084" y="6642"/>
                  </a:lnTo>
                  <a:lnTo>
                    <a:pt x="5124208" y="9766"/>
                  </a:lnTo>
                  <a:lnTo>
                    <a:pt x="5127332" y="12890"/>
                  </a:lnTo>
                  <a:lnTo>
                    <a:pt x="5129745" y="16497"/>
                  </a:lnTo>
                  <a:lnTo>
                    <a:pt x="5131435" y="20574"/>
                  </a:lnTo>
                  <a:lnTo>
                    <a:pt x="5133124" y="24663"/>
                  </a:lnTo>
                  <a:lnTo>
                    <a:pt x="5133975" y="28917"/>
                  </a:lnTo>
                  <a:lnTo>
                    <a:pt x="5133975" y="33337"/>
                  </a:lnTo>
                  <a:lnTo>
                    <a:pt x="5133975" y="1109662"/>
                  </a:lnTo>
                  <a:lnTo>
                    <a:pt x="5133975" y="1114082"/>
                  </a:lnTo>
                  <a:lnTo>
                    <a:pt x="5133124" y="1118336"/>
                  </a:lnTo>
                  <a:lnTo>
                    <a:pt x="5131435" y="1122426"/>
                  </a:lnTo>
                  <a:lnTo>
                    <a:pt x="5129745" y="1126502"/>
                  </a:lnTo>
                  <a:lnTo>
                    <a:pt x="5127332" y="1130109"/>
                  </a:lnTo>
                  <a:lnTo>
                    <a:pt x="5124208" y="1133233"/>
                  </a:lnTo>
                  <a:lnTo>
                    <a:pt x="5121084" y="1136357"/>
                  </a:lnTo>
                  <a:lnTo>
                    <a:pt x="5117477" y="1138770"/>
                  </a:lnTo>
                  <a:lnTo>
                    <a:pt x="5113388" y="1140460"/>
                  </a:lnTo>
                  <a:lnTo>
                    <a:pt x="5109311" y="1142149"/>
                  </a:lnTo>
                  <a:lnTo>
                    <a:pt x="5105057" y="1143000"/>
                  </a:lnTo>
                  <a:lnTo>
                    <a:pt x="5100637" y="1143000"/>
                  </a:lnTo>
                  <a:lnTo>
                    <a:pt x="33337" y="1143000"/>
                  </a:lnTo>
                  <a:lnTo>
                    <a:pt x="28917" y="1143000"/>
                  </a:lnTo>
                  <a:lnTo>
                    <a:pt x="24665" y="1142149"/>
                  </a:lnTo>
                  <a:lnTo>
                    <a:pt x="20577" y="1140460"/>
                  </a:lnTo>
                  <a:lnTo>
                    <a:pt x="16494" y="1138770"/>
                  </a:lnTo>
                  <a:lnTo>
                    <a:pt x="12887" y="1136357"/>
                  </a:lnTo>
                  <a:lnTo>
                    <a:pt x="9763" y="1133233"/>
                  </a:lnTo>
                  <a:lnTo>
                    <a:pt x="6638" y="1130109"/>
                  </a:lnTo>
                  <a:lnTo>
                    <a:pt x="4231" y="1126502"/>
                  </a:lnTo>
                  <a:lnTo>
                    <a:pt x="2540" y="1122426"/>
                  </a:lnTo>
                  <a:lnTo>
                    <a:pt x="843" y="1118336"/>
                  </a:lnTo>
                  <a:lnTo>
                    <a:pt x="0" y="1114082"/>
                  </a:lnTo>
                  <a:lnTo>
                    <a:pt x="0" y="110966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025" y="1238249"/>
              <a:ext cx="228600" cy="228600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62000" y="2381250"/>
            <a:ext cx="5143500" cy="1152525"/>
            <a:chOff x="762000" y="2381250"/>
            <a:chExt cx="5143500" cy="1152525"/>
          </a:xfrm>
        </p:grpSpPr>
        <p:sp>
          <p:nvSpPr>
            <p:cNvPr id="8" name="object 8"/>
            <p:cNvSpPr/>
            <p:nvPr/>
          </p:nvSpPr>
          <p:spPr>
            <a:xfrm>
              <a:off x="766762" y="2386012"/>
              <a:ext cx="5133975" cy="1143000"/>
            </a:xfrm>
            <a:custGeom>
              <a:avLst/>
              <a:gdLst/>
              <a:ahLst/>
              <a:cxnLst/>
              <a:rect l="l" t="t" r="r" b="b"/>
              <a:pathLst>
                <a:path w="5133975" h="1143000">
                  <a:moveTo>
                    <a:pt x="51050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1109662"/>
                  </a:lnTo>
                  <a:lnTo>
                    <a:pt x="0" y="1114082"/>
                  </a:lnTo>
                  <a:lnTo>
                    <a:pt x="28917" y="1143000"/>
                  </a:lnTo>
                  <a:lnTo>
                    <a:pt x="5105057" y="1143000"/>
                  </a:lnTo>
                  <a:lnTo>
                    <a:pt x="5133975" y="1114082"/>
                  </a:lnTo>
                  <a:lnTo>
                    <a:pt x="5133975" y="28917"/>
                  </a:lnTo>
                  <a:lnTo>
                    <a:pt x="5109311" y="838"/>
                  </a:lnTo>
                  <a:lnTo>
                    <a:pt x="51050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66762" y="2386012"/>
              <a:ext cx="5133975" cy="1143000"/>
            </a:xfrm>
            <a:custGeom>
              <a:avLst/>
              <a:gdLst/>
              <a:ahLst/>
              <a:cxnLst/>
              <a:rect l="l" t="t" r="r" b="b"/>
              <a:pathLst>
                <a:path w="5133975" h="1143000">
                  <a:moveTo>
                    <a:pt x="0" y="110966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100637" y="0"/>
                  </a:lnTo>
                  <a:lnTo>
                    <a:pt x="5105057" y="0"/>
                  </a:lnTo>
                  <a:lnTo>
                    <a:pt x="5109311" y="838"/>
                  </a:lnTo>
                  <a:lnTo>
                    <a:pt x="5113388" y="2540"/>
                  </a:lnTo>
                  <a:lnTo>
                    <a:pt x="5117477" y="4229"/>
                  </a:lnTo>
                  <a:lnTo>
                    <a:pt x="5121084" y="6642"/>
                  </a:lnTo>
                  <a:lnTo>
                    <a:pt x="5124208" y="9766"/>
                  </a:lnTo>
                  <a:lnTo>
                    <a:pt x="5127332" y="12890"/>
                  </a:lnTo>
                  <a:lnTo>
                    <a:pt x="5129745" y="16497"/>
                  </a:lnTo>
                  <a:lnTo>
                    <a:pt x="5131435" y="20574"/>
                  </a:lnTo>
                  <a:lnTo>
                    <a:pt x="5133124" y="24663"/>
                  </a:lnTo>
                  <a:lnTo>
                    <a:pt x="5133975" y="28917"/>
                  </a:lnTo>
                  <a:lnTo>
                    <a:pt x="5133975" y="33337"/>
                  </a:lnTo>
                  <a:lnTo>
                    <a:pt x="5133975" y="1109662"/>
                  </a:lnTo>
                  <a:lnTo>
                    <a:pt x="5133975" y="1114082"/>
                  </a:lnTo>
                  <a:lnTo>
                    <a:pt x="5133124" y="1118336"/>
                  </a:lnTo>
                  <a:lnTo>
                    <a:pt x="5131435" y="1122413"/>
                  </a:lnTo>
                  <a:lnTo>
                    <a:pt x="5129745" y="1126502"/>
                  </a:lnTo>
                  <a:lnTo>
                    <a:pt x="5127332" y="1130109"/>
                  </a:lnTo>
                  <a:lnTo>
                    <a:pt x="5124208" y="1133233"/>
                  </a:lnTo>
                  <a:lnTo>
                    <a:pt x="5121084" y="1136357"/>
                  </a:lnTo>
                  <a:lnTo>
                    <a:pt x="5117477" y="1138770"/>
                  </a:lnTo>
                  <a:lnTo>
                    <a:pt x="5113388" y="1140460"/>
                  </a:lnTo>
                  <a:lnTo>
                    <a:pt x="5109311" y="1142149"/>
                  </a:lnTo>
                  <a:lnTo>
                    <a:pt x="5105057" y="1143000"/>
                  </a:lnTo>
                  <a:lnTo>
                    <a:pt x="5100637" y="1143000"/>
                  </a:lnTo>
                  <a:lnTo>
                    <a:pt x="33337" y="1143000"/>
                  </a:lnTo>
                  <a:lnTo>
                    <a:pt x="28917" y="1143000"/>
                  </a:lnTo>
                  <a:lnTo>
                    <a:pt x="24665" y="1142149"/>
                  </a:lnTo>
                  <a:lnTo>
                    <a:pt x="20577" y="1140460"/>
                  </a:lnTo>
                  <a:lnTo>
                    <a:pt x="16494" y="1138770"/>
                  </a:lnTo>
                  <a:lnTo>
                    <a:pt x="12887" y="1136357"/>
                  </a:lnTo>
                  <a:lnTo>
                    <a:pt x="9763" y="1133233"/>
                  </a:lnTo>
                  <a:lnTo>
                    <a:pt x="6638" y="1130109"/>
                  </a:lnTo>
                  <a:lnTo>
                    <a:pt x="4231" y="1126502"/>
                  </a:lnTo>
                  <a:lnTo>
                    <a:pt x="2540" y="1122413"/>
                  </a:lnTo>
                  <a:lnTo>
                    <a:pt x="843" y="1118336"/>
                  </a:lnTo>
                  <a:lnTo>
                    <a:pt x="0" y="1114082"/>
                  </a:lnTo>
                  <a:lnTo>
                    <a:pt x="0" y="110966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025" y="2581275"/>
              <a:ext cx="228600" cy="22860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62000" y="3724275"/>
            <a:ext cx="5143500" cy="1152525"/>
            <a:chOff x="762000" y="3724275"/>
            <a:chExt cx="5143500" cy="1152525"/>
          </a:xfrm>
        </p:grpSpPr>
        <p:sp>
          <p:nvSpPr>
            <p:cNvPr id="12" name="object 12"/>
            <p:cNvSpPr/>
            <p:nvPr/>
          </p:nvSpPr>
          <p:spPr>
            <a:xfrm>
              <a:off x="766762" y="3729037"/>
              <a:ext cx="5133975" cy="1143000"/>
            </a:xfrm>
            <a:custGeom>
              <a:avLst/>
              <a:gdLst/>
              <a:ahLst/>
              <a:cxnLst/>
              <a:rect l="l" t="t" r="r" b="b"/>
              <a:pathLst>
                <a:path w="5133975" h="1143000">
                  <a:moveTo>
                    <a:pt x="51050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1109662"/>
                  </a:lnTo>
                  <a:lnTo>
                    <a:pt x="0" y="1114082"/>
                  </a:lnTo>
                  <a:lnTo>
                    <a:pt x="28917" y="1143000"/>
                  </a:lnTo>
                  <a:lnTo>
                    <a:pt x="5105057" y="1143000"/>
                  </a:lnTo>
                  <a:lnTo>
                    <a:pt x="5133975" y="1114082"/>
                  </a:lnTo>
                  <a:lnTo>
                    <a:pt x="5133975" y="28917"/>
                  </a:lnTo>
                  <a:lnTo>
                    <a:pt x="5109311" y="838"/>
                  </a:lnTo>
                  <a:lnTo>
                    <a:pt x="51050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66762" y="3729037"/>
              <a:ext cx="5133975" cy="1143000"/>
            </a:xfrm>
            <a:custGeom>
              <a:avLst/>
              <a:gdLst/>
              <a:ahLst/>
              <a:cxnLst/>
              <a:rect l="l" t="t" r="r" b="b"/>
              <a:pathLst>
                <a:path w="5133975" h="1143000">
                  <a:moveTo>
                    <a:pt x="0" y="110966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100637" y="0"/>
                  </a:lnTo>
                  <a:lnTo>
                    <a:pt x="5105057" y="0"/>
                  </a:lnTo>
                  <a:lnTo>
                    <a:pt x="5109311" y="838"/>
                  </a:lnTo>
                  <a:lnTo>
                    <a:pt x="5113388" y="2540"/>
                  </a:lnTo>
                  <a:lnTo>
                    <a:pt x="5117477" y="4229"/>
                  </a:lnTo>
                  <a:lnTo>
                    <a:pt x="5133975" y="28917"/>
                  </a:lnTo>
                  <a:lnTo>
                    <a:pt x="5133975" y="33337"/>
                  </a:lnTo>
                  <a:lnTo>
                    <a:pt x="5133975" y="1109662"/>
                  </a:lnTo>
                  <a:lnTo>
                    <a:pt x="5133975" y="1114082"/>
                  </a:lnTo>
                  <a:lnTo>
                    <a:pt x="5133124" y="1118336"/>
                  </a:lnTo>
                  <a:lnTo>
                    <a:pt x="5131435" y="1122413"/>
                  </a:lnTo>
                  <a:lnTo>
                    <a:pt x="5129745" y="1126502"/>
                  </a:lnTo>
                  <a:lnTo>
                    <a:pt x="5113388" y="1140460"/>
                  </a:lnTo>
                  <a:lnTo>
                    <a:pt x="5109311" y="1142149"/>
                  </a:lnTo>
                  <a:lnTo>
                    <a:pt x="5105057" y="1143000"/>
                  </a:lnTo>
                  <a:lnTo>
                    <a:pt x="5100637" y="1143000"/>
                  </a:lnTo>
                  <a:lnTo>
                    <a:pt x="33337" y="1143000"/>
                  </a:lnTo>
                  <a:lnTo>
                    <a:pt x="28917" y="1143000"/>
                  </a:lnTo>
                  <a:lnTo>
                    <a:pt x="24665" y="1142149"/>
                  </a:lnTo>
                  <a:lnTo>
                    <a:pt x="20577" y="1140460"/>
                  </a:lnTo>
                  <a:lnTo>
                    <a:pt x="16494" y="1138770"/>
                  </a:lnTo>
                  <a:lnTo>
                    <a:pt x="12887" y="1136357"/>
                  </a:lnTo>
                  <a:lnTo>
                    <a:pt x="9763" y="1133233"/>
                  </a:lnTo>
                  <a:lnTo>
                    <a:pt x="6638" y="1130109"/>
                  </a:lnTo>
                  <a:lnTo>
                    <a:pt x="4231" y="1126502"/>
                  </a:lnTo>
                  <a:lnTo>
                    <a:pt x="2540" y="1122413"/>
                  </a:lnTo>
                  <a:lnTo>
                    <a:pt x="843" y="1118336"/>
                  </a:lnTo>
                  <a:lnTo>
                    <a:pt x="0" y="1114082"/>
                  </a:lnTo>
                  <a:lnTo>
                    <a:pt x="0" y="110966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2025" y="3924300"/>
              <a:ext cx="228600" cy="2286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30287" y="1271438"/>
            <a:ext cx="73660" cy="1536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800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3175" y="1240417"/>
            <a:ext cx="969644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55">
                <a:solidFill>
                  <a:srgbClr val="0A1E36"/>
                </a:solidFill>
                <a:latin typeface="Times New Roman"/>
                <a:cs typeface="Times New Roman"/>
              </a:rPr>
              <a:t>Quality</a:t>
            </a:r>
            <a:r>
              <a:rPr dirty="0" sz="1300" spc="-7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300" spc="35">
                <a:solidFill>
                  <a:srgbClr val="0A1E36"/>
                </a:solidFill>
                <a:latin typeface="Times New Roman"/>
                <a:cs typeface="Times New Roman"/>
              </a:rPr>
              <a:t>Gate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9325" y="1510409"/>
            <a:ext cx="4406265" cy="463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85">
                <a:solidFill>
                  <a:srgbClr val="465469"/>
                </a:solidFill>
                <a:latin typeface="Times New Roman"/>
                <a:cs typeface="Times New Roman"/>
              </a:rPr>
              <a:t>Checks </a:t>
            </a:r>
            <a:r>
              <a:rPr dirty="0" sz="1050" spc="105">
                <a:solidFill>
                  <a:srgbClr val="465469"/>
                </a:solidFill>
                <a:latin typeface="Times New Roman"/>
                <a:cs typeface="Times New Roman"/>
              </a:rPr>
              <a:t>missingness,</a:t>
            </a:r>
            <a:r>
              <a:rPr dirty="0" sz="1050" spc="9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physical</a:t>
            </a:r>
            <a:r>
              <a:rPr dirty="0" sz="1050" spc="16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Times New Roman"/>
                <a:cs typeface="Times New Roman"/>
              </a:rPr>
              <a:t>pl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465469"/>
                </a:solidFill>
                <a:latin typeface="Times New Roman"/>
                <a:cs typeface="Times New Roman"/>
              </a:rPr>
              <a:t>ausibil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65469"/>
                </a:solidFill>
                <a:latin typeface="Times New Roman"/>
                <a:cs typeface="Times New Roman"/>
              </a:rPr>
              <a:t>ity,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465469"/>
                </a:solidFill>
                <a:latin typeface="Times New Roman"/>
                <a:cs typeface="Times New Roman"/>
              </a:rPr>
              <a:t>and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465469"/>
                </a:solidFill>
                <a:latin typeface="Times New Roman"/>
                <a:cs typeface="Times New Roman"/>
              </a:rPr>
              <a:t>short-window</a:t>
            </a:r>
            <a:r>
              <a:rPr dirty="0" sz="1050" spc="-2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stabil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465469"/>
                </a:solidFill>
                <a:latin typeface="Times New Roman"/>
                <a:cs typeface="Times New Roman"/>
              </a:rPr>
              <a:t>ity.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Marks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465469"/>
                </a:solidFill>
                <a:latin typeface="Times New Roman"/>
                <a:cs typeface="Times New Roman"/>
              </a:rPr>
              <a:t>sampl</a:t>
            </a:r>
            <a:r>
              <a:rPr dirty="0" sz="1050" spc="-16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465469"/>
                </a:solidFill>
                <a:latin typeface="Times New Roman"/>
                <a:cs typeface="Times New Roman"/>
              </a:rPr>
              <a:t>es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125">
                <a:solidFill>
                  <a:srgbClr val="465469"/>
                </a:solidFill>
                <a:latin typeface="Times New Roman"/>
                <a:cs typeface="Times New Roman"/>
              </a:rPr>
              <a:t>as</a:t>
            </a:r>
            <a:r>
              <a:rPr dirty="0" sz="1050" spc="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60">
                <a:solidFill>
                  <a:srgbClr val="465469"/>
                </a:solidFill>
                <a:latin typeface="Times New Roman"/>
                <a:cs typeface="Times New Roman"/>
              </a:rPr>
              <a:t>INVALID,</a:t>
            </a:r>
            <a:r>
              <a:rPr dirty="0" sz="1050" spc="7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75">
                <a:solidFill>
                  <a:srgbClr val="465469"/>
                </a:solidFill>
                <a:latin typeface="Times New Roman"/>
                <a:cs typeface="Times New Roman"/>
              </a:rPr>
              <a:t>LOW,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 or</a:t>
            </a:r>
            <a:r>
              <a:rPr dirty="0" sz="1050" spc="1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Times New Roman"/>
                <a:cs typeface="Times New Roman"/>
              </a:rPr>
              <a:t>ACCEPTABLE.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30287" y="2614463"/>
            <a:ext cx="92710" cy="1536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800" spc="7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3175" y="2583442"/>
            <a:ext cx="125603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 spc="114">
                <a:solidFill>
                  <a:srgbClr val="0A1E36"/>
                </a:solidFill>
                <a:latin typeface="Times New Roman"/>
                <a:cs typeface="Times New Roman"/>
              </a:rPr>
              <a:t>Robust</a:t>
            </a:r>
            <a:r>
              <a:rPr dirty="0" sz="1300" spc="-2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0A1E36"/>
                </a:solidFill>
                <a:latin typeface="Times New Roman"/>
                <a:cs typeface="Times New Roman"/>
              </a:rPr>
              <a:t>Filtering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9325" y="2853434"/>
            <a:ext cx="4413250" cy="463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465469"/>
                </a:solidFill>
                <a:latin typeface="Times New Roman"/>
                <a:cs typeface="Times New Roman"/>
              </a:rPr>
              <a:t>Appl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465469"/>
                </a:solidFill>
                <a:latin typeface="Times New Roman"/>
                <a:cs typeface="Times New Roman"/>
              </a:rPr>
              <a:t>ies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a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465469"/>
                </a:solidFill>
                <a:latin typeface="Times New Roman"/>
                <a:cs typeface="Times New Roman"/>
              </a:rPr>
              <a:t>median </a:t>
            </a:r>
            <a:r>
              <a:rPr dirty="0" sz="1050" spc="-50">
                <a:solidFill>
                  <a:srgbClr val="465469"/>
                </a:solidFill>
                <a:latin typeface="Times New Roman"/>
                <a:cs typeface="Times New Roman"/>
              </a:rPr>
              <a:t>fil</a:t>
            </a:r>
            <a:r>
              <a:rPr dirty="0" sz="1050" spc="-1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465469"/>
                </a:solidFill>
                <a:latin typeface="Times New Roman"/>
                <a:cs typeface="Times New Roman"/>
              </a:rPr>
              <a:t>ter</a:t>
            </a:r>
            <a:r>
              <a:rPr dirty="0" sz="1050" spc="4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65469"/>
                </a:solidFill>
                <a:latin typeface="Times New Roman"/>
                <a:cs typeface="Times New Roman"/>
              </a:rPr>
              <a:t>over</a:t>
            </a:r>
            <a:r>
              <a:rPr dirty="0" sz="1050" spc="4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a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short</a:t>
            </a:r>
            <a:r>
              <a:rPr dirty="0" sz="1050" spc="8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465469"/>
                </a:solidFill>
                <a:latin typeface="Times New Roman"/>
                <a:cs typeface="Times New Roman"/>
              </a:rPr>
              <a:t>window</a:t>
            </a:r>
            <a:r>
              <a:rPr dirty="0" sz="1050" spc="-2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465469"/>
                </a:solidFill>
                <a:latin typeface="Times New Roman"/>
                <a:cs typeface="Times New Roman"/>
              </a:rPr>
              <a:t>to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reduce</a:t>
            </a:r>
            <a:r>
              <a:rPr dirty="0" sz="1050" spc="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465469"/>
                </a:solidFill>
                <a:latin typeface="Times New Roman"/>
                <a:cs typeface="Times New Roman"/>
              </a:rPr>
              <a:t>isol</a:t>
            </a:r>
            <a:r>
              <a:rPr dirty="0" sz="1050" spc="-1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465469"/>
                </a:solidFill>
                <a:latin typeface="Times New Roman"/>
                <a:cs typeface="Times New Roman"/>
              </a:rPr>
              <a:t>ated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465469"/>
                </a:solidFill>
                <a:latin typeface="Times New Roman"/>
                <a:cs typeface="Times New Roman"/>
              </a:rPr>
              <a:t>spikes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465469"/>
                </a:solidFill>
                <a:latin typeface="Times New Roman"/>
                <a:cs typeface="Times New Roman"/>
              </a:rPr>
              <a:t>whil</a:t>
            </a:r>
            <a:r>
              <a:rPr dirty="0" sz="1050" spc="-14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e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preserving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65469"/>
                </a:solidFill>
                <a:latin typeface="Times New Roman"/>
                <a:cs typeface="Times New Roman"/>
              </a:rPr>
              <a:t>raw</a:t>
            </a:r>
            <a:r>
              <a:rPr dirty="0" sz="1050" spc="1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465469"/>
                </a:solidFill>
                <a:latin typeface="Times New Roman"/>
                <a:cs typeface="Times New Roman"/>
              </a:rPr>
              <a:t>data</a:t>
            </a:r>
            <a:r>
              <a:rPr dirty="0" sz="1050" spc="10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465469"/>
                </a:solidFill>
                <a:latin typeface="Times New Roman"/>
                <a:cs typeface="Times New Roman"/>
              </a:rPr>
              <a:t>for</a:t>
            </a:r>
            <a:r>
              <a:rPr dirty="0" sz="1050" spc="8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40">
                <a:solidFill>
                  <a:srgbClr val="465469"/>
                </a:solidFill>
                <a:latin typeface="Times New Roman"/>
                <a:cs typeface="Times New Roman"/>
              </a:rPr>
              <a:t>audit.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30287" y="3957488"/>
            <a:ext cx="91440" cy="1536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800" spc="65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73175" y="3926467"/>
            <a:ext cx="1244600" cy="224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00">
                <a:solidFill>
                  <a:srgbClr val="0A1E36"/>
                </a:solidFill>
                <a:latin typeface="Times New Roman"/>
                <a:cs typeface="Times New Roman"/>
              </a:rPr>
              <a:t>Hybrid</a:t>
            </a:r>
            <a:r>
              <a:rPr dirty="0" sz="1300" spc="24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0A1E36"/>
                </a:solidFill>
                <a:latin typeface="Times New Roman"/>
                <a:cs typeface="Times New Roman"/>
              </a:rPr>
              <a:t>Decision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9325" y="4196459"/>
            <a:ext cx="4272280" cy="463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Combines</a:t>
            </a:r>
            <a:r>
              <a:rPr dirty="0" sz="1050" spc="8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465469"/>
                </a:solidFill>
                <a:latin typeface="Times New Roman"/>
                <a:cs typeface="Times New Roman"/>
              </a:rPr>
              <a:t>transparent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 basel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465469"/>
                </a:solidFill>
                <a:latin typeface="Times New Roman"/>
                <a:cs typeface="Times New Roman"/>
              </a:rPr>
              <a:t>ine</a:t>
            </a:r>
            <a:r>
              <a:rPr dirty="0" sz="1050" spc="4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Times New Roman"/>
                <a:cs typeface="Times New Roman"/>
              </a:rPr>
              <a:t>rul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120">
                <a:solidFill>
                  <a:srgbClr val="465469"/>
                </a:solidFill>
                <a:latin typeface="Times New Roman"/>
                <a:cs typeface="Times New Roman"/>
              </a:rPr>
              <a:t>es</a:t>
            </a:r>
            <a:r>
              <a:rPr dirty="0" sz="1050" spc="8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465469"/>
                </a:solidFill>
                <a:latin typeface="Times New Roman"/>
                <a:cs typeface="Times New Roman"/>
              </a:rPr>
              <a:t>with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465469"/>
                </a:solidFill>
                <a:latin typeface="Times New Roman"/>
                <a:cs typeface="Times New Roman"/>
              </a:rPr>
              <a:t>optional</a:t>
            </a:r>
            <a:r>
              <a:rPr dirty="0" sz="1050" spc="15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Isol</a:t>
            </a:r>
            <a:r>
              <a:rPr dirty="0" sz="1050" spc="-1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465469"/>
                </a:solidFill>
                <a:latin typeface="Times New Roman"/>
                <a:cs typeface="Times New Roman"/>
              </a:rPr>
              <a:t>ation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465469"/>
                </a:solidFill>
                <a:latin typeface="Times New Roman"/>
                <a:cs typeface="Times New Roman"/>
              </a:rPr>
              <a:t>Forest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85">
                <a:solidFill>
                  <a:srgbClr val="465469"/>
                </a:solidFill>
                <a:latin typeface="Times New Roman"/>
                <a:cs typeface="Times New Roman"/>
              </a:rPr>
              <a:t>scores.</a:t>
            </a:r>
            <a:r>
              <a:rPr dirty="0" sz="1050" spc="12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465469"/>
                </a:solidFill>
                <a:latin typeface="Times New Roman"/>
                <a:cs typeface="Times New Roman"/>
              </a:rPr>
              <a:t>Generates</a:t>
            </a:r>
            <a:r>
              <a:rPr dirty="0" sz="1050" spc="7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465469"/>
                </a:solidFill>
                <a:latin typeface="Times New Roman"/>
                <a:cs typeface="Times New Roman"/>
              </a:rPr>
              <a:t>reason</a:t>
            </a:r>
            <a:r>
              <a:rPr dirty="0" sz="1050" spc="5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100">
                <a:solidFill>
                  <a:srgbClr val="465469"/>
                </a:solidFill>
                <a:latin typeface="Times New Roman"/>
                <a:cs typeface="Times New Roman"/>
              </a:rPr>
              <a:t>codes</a:t>
            </a:r>
            <a:r>
              <a:rPr dirty="0" sz="1050" spc="7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465469"/>
                </a:solidFill>
                <a:latin typeface="Times New Roman"/>
                <a:cs typeface="Times New Roman"/>
              </a:rPr>
              <a:t>and</a:t>
            </a:r>
            <a:r>
              <a:rPr dirty="0" sz="1050" spc="4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Times New Roman"/>
                <a:cs typeface="Times New Roman"/>
              </a:rPr>
              <a:t>severity.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86500" y="1038224"/>
            <a:ext cx="5143500" cy="3324225"/>
          </a:xfrm>
          <a:custGeom>
            <a:avLst/>
            <a:gdLst/>
            <a:ahLst/>
            <a:cxnLst/>
            <a:rect l="l" t="t" r="r" b="b"/>
            <a:pathLst>
              <a:path w="5143500" h="3324225">
                <a:moveTo>
                  <a:pt x="51104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3286125"/>
                </a:lnTo>
                <a:lnTo>
                  <a:pt x="0" y="3291179"/>
                </a:lnTo>
                <a:lnTo>
                  <a:pt x="28194" y="3323259"/>
                </a:lnTo>
                <a:lnTo>
                  <a:pt x="33045" y="3324225"/>
                </a:lnTo>
                <a:lnTo>
                  <a:pt x="5110454" y="3324225"/>
                </a:lnTo>
                <a:lnTo>
                  <a:pt x="5142534" y="3296031"/>
                </a:lnTo>
                <a:lnTo>
                  <a:pt x="5143500" y="3291179"/>
                </a:lnTo>
                <a:lnTo>
                  <a:pt x="5143500" y="33045"/>
                </a:lnTo>
                <a:lnTo>
                  <a:pt x="5115306" y="965"/>
                </a:lnTo>
                <a:lnTo>
                  <a:pt x="51104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464300" y="1202689"/>
            <a:ext cx="4748530" cy="296862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950">
                <a:solidFill>
                  <a:srgbClr val="93A2B7"/>
                </a:solidFill>
                <a:latin typeface="Courier New"/>
                <a:cs typeface="Courier New"/>
              </a:rPr>
              <a:t>#</a:t>
            </a:r>
            <a:r>
              <a:rPr dirty="0" sz="950" spc="135">
                <a:solidFill>
                  <a:srgbClr val="93A2B7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93A2B7"/>
                </a:solidFill>
                <a:latin typeface="Courier New"/>
                <a:cs typeface="Courier New"/>
              </a:rPr>
              <a:t>Explainable</a:t>
            </a:r>
            <a:r>
              <a:rPr dirty="0" sz="950" spc="135">
                <a:solidFill>
                  <a:srgbClr val="93A2B7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93A2B7"/>
                </a:solidFill>
                <a:latin typeface="Courier New"/>
                <a:cs typeface="Courier New"/>
              </a:rPr>
              <a:t>Decision</a:t>
            </a:r>
            <a:r>
              <a:rPr dirty="0" sz="950" spc="135">
                <a:solidFill>
                  <a:srgbClr val="93A2B7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93A2B7"/>
                </a:solidFill>
                <a:latin typeface="Courier New"/>
                <a:cs typeface="Courier New"/>
              </a:rPr>
              <a:t>Record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-50">
                <a:solidFill>
                  <a:srgbClr val="F8FAFC"/>
                </a:solidFill>
                <a:latin typeface="Courier New"/>
                <a:cs typeface="Courier New"/>
              </a:rPr>
              <a:t>{</a:t>
            </a:r>
            <a:endParaRPr sz="950">
              <a:latin typeface="Courier New"/>
              <a:cs typeface="Courier New"/>
            </a:endParaRPr>
          </a:p>
          <a:p>
            <a:pPr marL="165100" marR="2214880">
              <a:lnSpc>
                <a:spcPts val="1430"/>
              </a:lnSpc>
              <a:spcBef>
                <a:spcPts val="15"/>
              </a:spcBef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"quality_status"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9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DE046"/>
                </a:solidFill>
                <a:latin typeface="Courier New"/>
                <a:cs typeface="Courier New"/>
              </a:rPr>
              <a:t>"ACCEPTABLE"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,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"processed_value"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31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98.2,</a:t>
            </a:r>
            <a:endParaRPr sz="9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"baseline"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0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97.0,</a:t>
            </a:r>
            <a:endParaRPr sz="950">
              <a:latin typeface="Courier New"/>
              <a:cs typeface="Courier New"/>
            </a:endParaRPr>
          </a:p>
          <a:p>
            <a:pPr marL="165100" marR="2976880">
              <a:lnSpc>
                <a:spcPct val="118400"/>
              </a:lnSpc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"deviation"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1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20">
                <a:solidFill>
                  <a:srgbClr val="F8FAFC"/>
                </a:solidFill>
                <a:latin typeface="Courier New"/>
                <a:cs typeface="Courier New"/>
              </a:rPr>
              <a:t>1.2,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"severity"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0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DE046"/>
                </a:solidFill>
                <a:latin typeface="Courier New"/>
                <a:cs typeface="Courier New"/>
              </a:rPr>
              <a:t>"NORMAL"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,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"reason_codes"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6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25">
                <a:solidFill>
                  <a:srgbClr val="F8FAFC"/>
                </a:solidFill>
                <a:latin typeface="Courier New"/>
                <a:cs typeface="Courier New"/>
              </a:rPr>
              <a:t>[],</a:t>
            </a:r>
            <a:endParaRPr sz="9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285"/>
              </a:spcBef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"explanation"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19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"Within</a:t>
            </a:r>
            <a:r>
              <a:rPr dirty="0" sz="950" spc="195">
                <a:solidFill>
                  <a:srgbClr val="FDE04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DE046"/>
                </a:solidFill>
                <a:latin typeface="Courier New"/>
                <a:cs typeface="Courier New"/>
              </a:rPr>
              <a:t>baseline."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950" spc="-50">
                <a:solidFill>
                  <a:srgbClr val="F8FAFC"/>
                </a:solidFill>
                <a:latin typeface="Courier New"/>
                <a:cs typeface="Courier New"/>
              </a:rPr>
              <a:t>}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93A2B7"/>
                </a:solidFill>
                <a:latin typeface="Courier New"/>
                <a:cs typeface="Courier New"/>
              </a:rPr>
              <a:t>#</a:t>
            </a:r>
            <a:r>
              <a:rPr dirty="0" sz="950" spc="90">
                <a:solidFill>
                  <a:srgbClr val="93A2B7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93A2B7"/>
                </a:solidFill>
                <a:latin typeface="Courier New"/>
                <a:cs typeface="Courier New"/>
              </a:rPr>
              <a:t>Anomaly</a:t>
            </a:r>
            <a:r>
              <a:rPr dirty="0" sz="950" spc="95">
                <a:solidFill>
                  <a:srgbClr val="93A2B7"/>
                </a:solidFill>
                <a:latin typeface="Courier New"/>
                <a:cs typeface="Courier New"/>
              </a:rPr>
              <a:t> </a:t>
            </a:r>
            <a:r>
              <a:rPr dirty="0" sz="950" spc="-20">
                <a:solidFill>
                  <a:srgbClr val="93A2B7"/>
                </a:solidFill>
                <a:latin typeface="Courier New"/>
                <a:cs typeface="Courier New"/>
              </a:rPr>
              <a:t>Case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950" spc="-50">
                <a:solidFill>
                  <a:srgbClr val="F8FAFC"/>
                </a:solidFill>
                <a:latin typeface="Courier New"/>
                <a:cs typeface="Courier New"/>
              </a:rPr>
              <a:t>{</a:t>
            </a:r>
            <a:endParaRPr sz="9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209"/>
              </a:spcBef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"severity"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0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DE046"/>
                </a:solidFill>
                <a:latin typeface="Courier New"/>
                <a:cs typeface="Courier New"/>
              </a:rPr>
              <a:t>"REVIEW"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,</a:t>
            </a:r>
            <a:endParaRPr sz="9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284"/>
              </a:spcBef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"reason_codes"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26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[</a:t>
            </a:r>
            <a:r>
              <a:rPr dirty="0" sz="950" spc="-10">
                <a:solidFill>
                  <a:srgbClr val="FDE046"/>
                </a:solidFill>
                <a:latin typeface="Courier New"/>
                <a:cs typeface="Courier New"/>
              </a:rPr>
              <a:t>"deviation_from_baseline"</a:t>
            </a:r>
            <a:r>
              <a:rPr dirty="0" sz="950" spc="-10">
                <a:solidFill>
                  <a:srgbClr val="F8FAFC"/>
                </a:solidFill>
                <a:latin typeface="Courier New"/>
                <a:cs typeface="Courier New"/>
              </a:rPr>
              <a:t>],</a:t>
            </a:r>
            <a:endParaRPr sz="95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  <a:spcBef>
                <a:spcPts val="209"/>
              </a:spcBef>
            </a:pP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"explanation"</a:t>
            </a:r>
            <a:r>
              <a:rPr dirty="0" sz="950">
                <a:solidFill>
                  <a:srgbClr val="F8FAFC"/>
                </a:solidFill>
                <a:latin typeface="Courier New"/>
                <a:cs typeface="Courier New"/>
              </a:rPr>
              <a:t>:</a:t>
            </a:r>
            <a:r>
              <a:rPr dirty="0" sz="950" spc="15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"Decision</a:t>
            </a:r>
            <a:r>
              <a:rPr dirty="0" sz="950" spc="150">
                <a:solidFill>
                  <a:srgbClr val="FDE04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based</a:t>
            </a:r>
            <a:r>
              <a:rPr dirty="0" sz="950" spc="155">
                <a:solidFill>
                  <a:srgbClr val="FDE046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FDE046"/>
                </a:solidFill>
                <a:latin typeface="Courier New"/>
                <a:cs typeface="Courier New"/>
              </a:rPr>
              <a:t>on:</a:t>
            </a:r>
            <a:r>
              <a:rPr dirty="0" sz="950" spc="150">
                <a:solidFill>
                  <a:srgbClr val="FDE046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FDE046"/>
                </a:solidFill>
                <a:latin typeface="Courier New"/>
                <a:cs typeface="Courier New"/>
              </a:rPr>
              <a:t>deviation_from_baseline."</a:t>
            </a:r>
            <a:endParaRPr sz="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dirty="0" sz="950" spc="-50">
                <a:solidFill>
                  <a:srgbClr val="F8FAFC"/>
                </a:solidFill>
                <a:latin typeface="Courier New"/>
                <a:cs typeface="Courier New"/>
              </a:rPr>
              <a:t>}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42879" y="4530903"/>
            <a:ext cx="4975225" cy="1854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555" i="1">
                <a:solidFill>
                  <a:srgbClr val="465469"/>
                </a:solidFill>
                <a:latin typeface="Arial"/>
                <a:cs typeface="Arial"/>
              </a:rPr>
              <a:t>T</a:t>
            </a:r>
            <a:r>
              <a:rPr dirty="0" sz="1050" spc="-425" i="1">
                <a:solidFill>
                  <a:srgbClr val="465469"/>
                </a:solidFill>
                <a:latin typeface="Arial"/>
                <a:cs typeface="Arial"/>
              </a:rPr>
              <a:t>h</a:t>
            </a:r>
            <a:r>
              <a:rPr dirty="0" sz="1050" spc="-290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s</a:t>
            </a:r>
            <a:r>
              <a:rPr dirty="0" sz="1050" spc="-495" i="1">
                <a:solidFill>
                  <a:srgbClr val="465469"/>
                </a:solidFill>
                <a:latin typeface="Arial"/>
                <a:cs typeface="Arial"/>
              </a:rPr>
              <a:t>y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s</a:t>
            </a:r>
            <a:r>
              <a:rPr dirty="0" sz="1050" spc="-355" i="1">
                <a:solidFill>
                  <a:srgbClr val="465469"/>
                </a:solidFill>
                <a:latin typeface="Arial"/>
                <a:cs typeface="Arial"/>
              </a:rPr>
              <a:t>t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1050" spc="-300" i="1">
                <a:solidFill>
                  <a:srgbClr val="465469"/>
                </a:solidFill>
                <a:latin typeface="Arial"/>
                <a:cs typeface="Arial"/>
              </a:rPr>
              <a:t>m</a:t>
            </a:r>
            <a:r>
              <a:rPr dirty="0" sz="1050" spc="-434" i="1">
                <a:solidFill>
                  <a:srgbClr val="465469"/>
                </a:solidFill>
                <a:latin typeface="Arial"/>
                <a:cs typeface="Arial"/>
              </a:rPr>
              <a:t>p</a:t>
            </a:r>
            <a:r>
              <a:rPr dirty="0" sz="1050" spc="-525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1050" spc="-640" i="1">
                <a:solidFill>
                  <a:srgbClr val="465469"/>
                </a:solidFill>
                <a:latin typeface="Arial"/>
                <a:cs typeface="Arial"/>
              </a:rPr>
              <a:t>i</a:t>
            </a:r>
            <a:r>
              <a:rPr dirty="0" sz="1050" spc="-440" i="1">
                <a:solidFill>
                  <a:srgbClr val="465469"/>
                </a:solidFill>
                <a:latin typeface="Arial"/>
                <a:cs typeface="Arial"/>
              </a:rPr>
              <a:t>o</a:t>
            </a:r>
            <a:r>
              <a:rPr dirty="0" sz="1050" spc="-525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1050" spc="-640" i="1">
                <a:solidFill>
                  <a:srgbClr val="465469"/>
                </a:solidFill>
                <a:latin typeface="Arial"/>
                <a:cs typeface="Arial"/>
              </a:rPr>
              <a:t>i</a:t>
            </a:r>
            <a:r>
              <a:rPr dirty="0" sz="1050" spc="-355" i="1">
                <a:solidFill>
                  <a:srgbClr val="465469"/>
                </a:solidFill>
                <a:latin typeface="Arial"/>
                <a:cs typeface="Arial"/>
              </a:rPr>
              <a:t>t</a:t>
            </a:r>
            <a:r>
              <a:rPr dirty="0" sz="1050" spc="-640" i="1">
                <a:solidFill>
                  <a:srgbClr val="465469"/>
                </a:solidFill>
                <a:latin typeface="Arial"/>
                <a:cs typeface="Arial"/>
              </a:rPr>
              <a:t>i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ze</a:t>
            </a:r>
            <a:r>
              <a:rPr dirty="0" sz="1050" spc="-250" i="1">
                <a:solidFill>
                  <a:srgbClr val="465469"/>
                </a:solidFill>
                <a:latin typeface="Arial"/>
                <a:cs typeface="Arial"/>
              </a:rPr>
              <a:t>s</a:t>
            </a:r>
            <a:r>
              <a:rPr dirty="0" sz="900" spc="-254" i="1">
                <a:solidFill>
                  <a:srgbClr val="465469"/>
                </a:solidFill>
                <a:latin typeface="Arial"/>
                <a:cs typeface="Arial"/>
              </a:rPr>
              <a:t>t</a:t>
            </a:r>
            <a:r>
              <a:rPr dirty="0" sz="900" spc="-390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900" spc="-38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900" spc="-320" i="1">
                <a:solidFill>
                  <a:srgbClr val="465469"/>
                </a:solidFill>
                <a:latin typeface="Arial"/>
                <a:cs typeface="Arial"/>
              </a:rPr>
              <a:t>n</a:t>
            </a:r>
            <a:r>
              <a:rPr dirty="0" sz="900" spc="-380" i="1">
                <a:solidFill>
                  <a:srgbClr val="465469"/>
                </a:solidFill>
                <a:latin typeface="Arial"/>
                <a:cs typeface="Arial"/>
              </a:rPr>
              <a:t>s</a:t>
            </a:r>
            <a:r>
              <a:rPr dirty="0" sz="900" spc="-330" i="1">
                <a:solidFill>
                  <a:srgbClr val="465469"/>
                </a:solidFill>
                <a:latin typeface="Arial"/>
                <a:cs typeface="Arial"/>
              </a:rPr>
              <a:t>p</a:t>
            </a:r>
            <a:r>
              <a:rPr dirty="0" sz="900" spc="-38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900" spc="-390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900" spc="-325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900" spc="-320" i="1">
                <a:solidFill>
                  <a:srgbClr val="465469"/>
                </a:solidFill>
                <a:latin typeface="Arial"/>
                <a:cs typeface="Arial"/>
              </a:rPr>
              <a:t>n</a:t>
            </a:r>
            <a:r>
              <a:rPr dirty="0" sz="900" spc="-380" i="1">
                <a:solidFill>
                  <a:srgbClr val="465469"/>
                </a:solidFill>
                <a:latin typeface="Arial"/>
                <a:cs typeface="Arial"/>
              </a:rPr>
              <a:t>c</a:t>
            </a:r>
            <a:r>
              <a:rPr dirty="0" sz="900" spc="-405" i="1">
                <a:solidFill>
                  <a:srgbClr val="465469"/>
                </a:solidFill>
                <a:latin typeface="Arial"/>
                <a:cs typeface="Arial"/>
              </a:rPr>
              <a:t>y</a:t>
            </a:r>
            <a:r>
              <a:rPr dirty="0" sz="1050" spc="-335" i="1">
                <a:solidFill>
                  <a:srgbClr val="465469"/>
                </a:solidFill>
                <a:latin typeface="Arial"/>
                <a:cs typeface="Arial"/>
              </a:rPr>
              <a:t>:</a:t>
            </a:r>
            <a:r>
              <a:rPr dirty="0" sz="1050" spc="-495" i="1">
                <a:solidFill>
                  <a:srgbClr val="465469"/>
                </a:solidFill>
                <a:latin typeface="Arial"/>
                <a:cs typeface="Arial"/>
              </a:rPr>
              <a:t>c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1050" spc="-525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g</a:t>
            </a:r>
            <a:r>
              <a:rPr dirty="0" sz="1050" spc="-640" i="1">
                <a:solidFill>
                  <a:srgbClr val="465469"/>
                </a:solidFill>
                <a:latin typeface="Arial"/>
                <a:cs typeface="Arial"/>
              </a:rPr>
              <a:t>i</a:t>
            </a:r>
            <a:r>
              <a:rPr dirty="0" sz="1050" spc="-495" i="1">
                <a:solidFill>
                  <a:srgbClr val="465469"/>
                </a:solidFill>
                <a:latin typeface="Arial"/>
                <a:cs typeface="Arial"/>
              </a:rPr>
              <a:t>v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1050" spc="-525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1050" spc="-280" i="1">
                <a:solidFill>
                  <a:srgbClr val="465469"/>
                </a:solidFill>
                <a:latin typeface="Arial"/>
                <a:cs typeface="Arial"/>
              </a:rPr>
              <a:t>s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se</a:t>
            </a:r>
            <a:r>
              <a:rPr dirty="0" sz="1050" spc="-290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ex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1050" spc="-495" i="1">
                <a:solidFill>
                  <a:srgbClr val="465469"/>
                </a:solidFill>
                <a:latin typeface="Arial"/>
                <a:cs typeface="Arial"/>
              </a:rPr>
              <a:t>c</a:t>
            </a:r>
            <a:r>
              <a:rPr dirty="0" sz="1050" spc="-355" i="1">
                <a:solidFill>
                  <a:srgbClr val="465469"/>
                </a:solidFill>
                <a:latin typeface="Arial"/>
                <a:cs typeface="Arial"/>
              </a:rPr>
              <a:t>t</a:t>
            </a:r>
            <a:r>
              <a:rPr dirty="0" sz="1050" spc="-665" i="1">
                <a:solidFill>
                  <a:srgbClr val="465469"/>
                </a:solidFill>
                <a:latin typeface="Arial"/>
                <a:cs typeface="Arial"/>
              </a:rPr>
              <a:t>l</a:t>
            </a:r>
            <a:r>
              <a:rPr dirty="0" sz="1050" spc="-275" i="1">
                <a:solidFill>
                  <a:srgbClr val="465469"/>
                </a:solidFill>
                <a:latin typeface="Arial"/>
                <a:cs typeface="Arial"/>
              </a:rPr>
              <a:t>y</a:t>
            </a:r>
            <a:r>
              <a:rPr dirty="0" sz="1050" spc="-480" i="1">
                <a:solidFill>
                  <a:srgbClr val="465469"/>
                </a:solidFill>
                <a:latin typeface="Arial"/>
                <a:cs typeface="Arial"/>
              </a:rPr>
              <a:t>w</a:t>
            </a:r>
            <a:r>
              <a:rPr dirty="0" sz="1050" spc="-425" i="1">
                <a:solidFill>
                  <a:srgbClr val="465469"/>
                </a:solidFill>
                <a:latin typeface="Arial"/>
                <a:cs typeface="Arial"/>
              </a:rPr>
              <a:t>h</a:t>
            </a:r>
            <a:r>
              <a:rPr dirty="0" sz="1050" spc="-275" i="1">
                <a:solidFill>
                  <a:srgbClr val="465469"/>
                </a:solidFill>
                <a:latin typeface="Arial"/>
                <a:cs typeface="Arial"/>
              </a:rPr>
              <a:t>y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1050" spc="-210" i="1">
                <a:solidFill>
                  <a:srgbClr val="465469"/>
                </a:solidFill>
                <a:latin typeface="Arial"/>
                <a:cs typeface="Arial"/>
              </a:rPr>
              <a:t>n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1050" spc="-665" i="1">
                <a:solidFill>
                  <a:srgbClr val="465469"/>
                </a:solidFill>
                <a:latin typeface="Arial"/>
                <a:cs typeface="Arial"/>
              </a:rPr>
              <a:t>l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e</a:t>
            </a:r>
            <a:r>
              <a:rPr dirty="0" sz="1050" spc="-525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1050" spc="-180" i="1">
                <a:solidFill>
                  <a:srgbClr val="465469"/>
                </a:solidFill>
                <a:latin typeface="Arial"/>
                <a:cs typeface="Arial"/>
              </a:rPr>
              <a:t>t</a:t>
            </a:r>
            <a:r>
              <a:rPr dirty="0" sz="1050" spc="-480" i="1">
                <a:solidFill>
                  <a:srgbClr val="465469"/>
                </a:solidFill>
                <a:latin typeface="Arial"/>
                <a:cs typeface="Arial"/>
              </a:rPr>
              <a:t>w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1050" spc="-280" i="1">
                <a:solidFill>
                  <a:srgbClr val="465469"/>
                </a:solidFill>
                <a:latin typeface="Arial"/>
                <a:cs typeface="Arial"/>
              </a:rPr>
              <a:t>s</a:t>
            </a:r>
            <a:r>
              <a:rPr dirty="0" sz="1050" spc="-525" i="1">
                <a:solidFill>
                  <a:srgbClr val="465469"/>
                </a:solidFill>
                <a:latin typeface="Arial"/>
                <a:cs typeface="Arial"/>
              </a:rPr>
              <a:t>r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a</a:t>
            </a:r>
            <a:r>
              <a:rPr dirty="0" sz="1050" spc="-640" i="1">
                <a:solidFill>
                  <a:srgbClr val="465469"/>
                </a:solidFill>
                <a:latin typeface="Arial"/>
                <a:cs typeface="Arial"/>
              </a:rPr>
              <a:t>i</a:t>
            </a:r>
            <a:r>
              <a:rPr dirty="0" sz="1050" spc="-500" i="1">
                <a:solidFill>
                  <a:srgbClr val="465469"/>
                </a:solidFill>
                <a:latin typeface="Arial"/>
                <a:cs typeface="Arial"/>
              </a:rPr>
              <a:t>se</a:t>
            </a:r>
            <a:r>
              <a:rPr dirty="0" sz="1050" spc="-430" i="1">
                <a:solidFill>
                  <a:srgbClr val="465469"/>
                </a:solidFill>
                <a:latin typeface="Arial"/>
                <a:cs typeface="Arial"/>
              </a:rPr>
              <a:t>d</a:t>
            </a:r>
            <a:r>
              <a:rPr dirty="0" sz="1050" spc="25" i="1">
                <a:solidFill>
                  <a:srgbClr val="465469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839200" y="380999"/>
            <a:ext cx="2971800" cy="333375"/>
          </a:xfrm>
          <a:custGeom>
            <a:avLst/>
            <a:gdLst/>
            <a:ahLst/>
            <a:cxnLst/>
            <a:rect l="l" t="t" r="r" b="b"/>
            <a:pathLst>
              <a:path w="2971800" h="333375">
                <a:moveTo>
                  <a:pt x="29387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2938754" y="333375"/>
                </a:lnTo>
                <a:lnTo>
                  <a:pt x="2970834" y="305181"/>
                </a:lnTo>
                <a:lnTo>
                  <a:pt x="2971800" y="300329"/>
                </a:lnTo>
                <a:lnTo>
                  <a:pt x="2971800" y="33045"/>
                </a:lnTo>
                <a:lnTo>
                  <a:pt x="2943606" y="965"/>
                </a:lnTo>
                <a:lnTo>
                  <a:pt x="29387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978900" y="457919"/>
            <a:ext cx="269557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140">
                <a:solidFill>
                  <a:srgbClr val="D97705"/>
                </a:solidFill>
                <a:latin typeface="Times New Roman"/>
                <a:cs typeface="Times New Roman"/>
              </a:rPr>
              <a:t>3.</a:t>
            </a:r>
            <a:r>
              <a:rPr dirty="0" sz="1000" spc="39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70">
                <a:solidFill>
                  <a:srgbClr val="D97705"/>
                </a:solidFill>
                <a:latin typeface="Times New Roman"/>
                <a:cs typeface="Times New Roman"/>
              </a:rPr>
              <a:t>ALGORITHM</a:t>
            </a:r>
            <a:r>
              <a:rPr dirty="0" sz="1000" spc="23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&amp;</a:t>
            </a:r>
            <a:r>
              <a:rPr dirty="0" sz="1000" spc="17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90">
                <a:solidFill>
                  <a:srgbClr val="D97705"/>
                </a:solidFill>
                <a:latin typeface="Times New Roman"/>
                <a:cs typeface="Times New Roman"/>
              </a:rPr>
              <a:t>MODEL</a:t>
            </a:r>
            <a:r>
              <a:rPr dirty="0" sz="1000" spc="23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D97705"/>
                </a:solidFill>
                <a:latin typeface="Times New Roman"/>
                <a:cs typeface="Times New Roman"/>
              </a:rPr>
              <a:t>IMPLEMENTATION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9300" y="6286468"/>
            <a:ext cx="24682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SRS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Section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11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Courier New"/>
                <a:cs typeface="Courier New"/>
              </a:rPr>
              <a:t>edge_monitor.py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883898" y="6286468"/>
            <a:ext cx="5632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Slide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465469"/>
                </a:solidFill>
                <a:latin typeface="Courier New"/>
                <a:cs typeface="Courier New"/>
              </a:rPr>
              <a:t>5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8149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30"/>
              </a:spcBef>
            </a:pPr>
            <a:r>
              <a:rPr dirty="0" spc="155"/>
              <a:t>Offline</a:t>
            </a:r>
            <a:r>
              <a:rPr dirty="0" spc="-15"/>
              <a:t> </a:t>
            </a:r>
            <a:r>
              <a:rPr dirty="0" spc="210"/>
              <a:t>Resilience</a:t>
            </a:r>
            <a:r>
              <a:rPr dirty="0" spc="-15"/>
              <a:t> </a:t>
            </a:r>
            <a:r>
              <a:rPr dirty="0" spc="325"/>
              <a:t>and</a:t>
            </a:r>
            <a:r>
              <a:rPr dirty="0" spc="40"/>
              <a:t> </a:t>
            </a:r>
            <a:r>
              <a:rPr dirty="0" spc="225"/>
              <a:t>Synchronization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0" y="1038224"/>
            <a:ext cx="5143500" cy="3495675"/>
            <a:chOff x="762000" y="1038224"/>
            <a:chExt cx="5143500" cy="3495675"/>
          </a:xfrm>
        </p:grpSpPr>
        <p:sp>
          <p:nvSpPr>
            <p:cNvPr id="4" name="object 4"/>
            <p:cNvSpPr/>
            <p:nvPr/>
          </p:nvSpPr>
          <p:spPr>
            <a:xfrm>
              <a:off x="771525" y="1047749"/>
              <a:ext cx="5124450" cy="3476625"/>
            </a:xfrm>
            <a:custGeom>
              <a:avLst/>
              <a:gdLst/>
              <a:ahLst/>
              <a:cxnLst/>
              <a:rect l="l" t="t" r="r" b="b"/>
              <a:pathLst>
                <a:path w="5124450" h="3476625">
                  <a:moveTo>
                    <a:pt x="5062156" y="0"/>
                  </a:moveTo>
                  <a:lnTo>
                    <a:pt x="62299" y="0"/>
                  </a:lnTo>
                  <a:lnTo>
                    <a:pt x="57964" y="431"/>
                  </a:lnTo>
                  <a:lnTo>
                    <a:pt x="22622" y="16433"/>
                  </a:lnTo>
                  <a:lnTo>
                    <a:pt x="2133" y="49364"/>
                  </a:lnTo>
                  <a:lnTo>
                    <a:pt x="0" y="62293"/>
                  </a:lnTo>
                  <a:lnTo>
                    <a:pt x="0" y="3409950"/>
                  </a:lnTo>
                  <a:lnTo>
                    <a:pt x="0" y="3414331"/>
                  </a:lnTo>
                  <a:lnTo>
                    <a:pt x="13667" y="3450628"/>
                  </a:lnTo>
                  <a:lnTo>
                    <a:pt x="45204" y="3473221"/>
                  </a:lnTo>
                  <a:lnTo>
                    <a:pt x="62299" y="3476625"/>
                  </a:lnTo>
                  <a:lnTo>
                    <a:pt x="5062156" y="3476625"/>
                  </a:lnTo>
                  <a:lnTo>
                    <a:pt x="5098453" y="3462947"/>
                  </a:lnTo>
                  <a:lnTo>
                    <a:pt x="5121046" y="3431425"/>
                  </a:lnTo>
                  <a:lnTo>
                    <a:pt x="5124450" y="3414331"/>
                  </a:lnTo>
                  <a:lnTo>
                    <a:pt x="5124450" y="62293"/>
                  </a:lnTo>
                  <a:lnTo>
                    <a:pt x="5110784" y="25984"/>
                  </a:lnTo>
                  <a:lnTo>
                    <a:pt x="5079250" y="3403"/>
                  </a:lnTo>
                  <a:lnTo>
                    <a:pt x="5066487" y="431"/>
                  </a:lnTo>
                  <a:lnTo>
                    <a:pt x="5062156" y="0"/>
                  </a:lnTo>
                  <a:close/>
                </a:path>
              </a:pathLst>
            </a:custGeom>
            <a:solidFill>
              <a:srgbClr val="F8FA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71525" y="1047749"/>
              <a:ext cx="5124450" cy="3476625"/>
            </a:xfrm>
            <a:custGeom>
              <a:avLst/>
              <a:gdLst/>
              <a:ahLst/>
              <a:cxnLst/>
              <a:rect l="l" t="t" r="r" b="b"/>
              <a:pathLst>
                <a:path w="5124450" h="3476625">
                  <a:moveTo>
                    <a:pt x="0" y="3409950"/>
                  </a:moveTo>
                  <a:lnTo>
                    <a:pt x="0" y="66675"/>
                  </a:lnTo>
                  <a:lnTo>
                    <a:pt x="0" y="62293"/>
                  </a:lnTo>
                  <a:lnTo>
                    <a:pt x="426" y="57962"/>
                  </a:lnTo>
                  <a:lnTo>
                    <a:pt x="1280" y="53670"/>
                  </a:lnTo>
                  <a:lnTo>
                    <a:pt x="2133" y="49364"/>
                  </a:lnTo>
                  <a:lnTo>
                    <a:pt x="3398" y="45199"/>
                  </a:lnTo>
                  <a:lnTo>
                    <a:pt x="5074" y="41160"/>
                  </a:lnTo>
                  <a:lnTo>
                    <a:pt x="6751" y="37109"/>
                  </a:lnTo>
                  <a:lnTo>
                    <a:pt x="8806" y="33274"/>
                  </a:lnTo>
                  <a:lnTo>
                    <a:pt x="29631" y="11239"/>
                  </a:lnTo>
                  <a:lnTo>
                    <a:pt x="33272" y="8801"/>
                  </a:lnTo>
                  <a:lnTo>
                    <a:pt x="37113" y="6756"/>
                  </a:lnTo>
                  <a:lnTo>
                    <a:pt x="41160" y="5080"/>
                  </a:lnTo>
                  <a:lnTo>
                    <a:pt x="45204" y="3403"/>
                  </a:lnTo>
                  <a:lnTo>
                    <a:pt x="49371" y="2133"/>
                  </a:lnTo>
                  <a:lnTo>
                    <a:pt x="53667" y="1282"/>
                  </a:lnTo>
                  <a:lnTo>
                    <a:pt x="57964" y="431"/>
                  </a:lnTo>
                  <a:lnTo>
                    <a:pt x="62299" y="0"/>
                  </a:lnTo>
                  <a:lnTo>
                    <a:pt x="66675" y="0"/>
                  </a:lnTo>
                  <a:lnTo>
                    <a:pt x="5057775" y="0"/>
                  </a:lnTo>
                  <a:lnTo>
                    <a:pt x="5062156" y="0"/>
                  </a:lnTo>
                  <a:lnTo>
                    <a:pt x="5066487" y="431"/>
                  </a:lnTo>
                  <a:lnTo>
                    <a:pt x="5070779" y="1282"/>
                  </a:lnTo>
                  <a:lnTo>
                    <a:pt x="5075072" y="2133"/>
                  </a:lnTo>
                  <a:lnTo>
                    <a:pt x="5079250" y="3403"/>
                  </a:lnTo>
                  <a:lnTo>
                    <a:pt x="5083289" y="5080"/>
                  </a:lnTo>
                  <a:lnTo>
                    <a:pt x="5087327" y="6756"/>
                  </a:lnTo>
                  <a:lnTo>
                    <a:pt x="5091176" y="8801"/>
                  </a:lnTo>
                  <a:lnTo>
                    <a:pt x="5094820" y="11239"/>
                  </a:lnTo>
                  <a:lnTo>
                    <a:pt x="5098453" y="13665"/>
                  </a:lnTo>
                  <a:lnTo>
                    <a:pt x="5113210" y="29629"/>
                  </a:lnTo>
                  <a:lnTo>
                    <a:pt x="5115648" y="33274"/>
                  </a:lnTo>
                  <a:lnTo>
                    <a:pt x="5117693" y="37109"/>
                  </a:lnTo>
                  <a:lnTo>
                    <a:pt x="5119370" y="41160"/>
                  </a:lnTo>
                  <a:lnTo>
                    <a:pt x="5121046" y="45199"/>
                  </a:lnTo>
                  <a:lnTo>
                    <a:pt x="5122316" y="49364"/>
                  </a:lnTo>
                  <a:lnTo>
                    <a:pt x="5123167" y="53670"/>
                  </a:lnTo>
                  <a:lnTo>
                    <a:pt x="5124018" y="57962"/>
                  </a:lnTo>
                  <a:lnTo>
                    <a:pt x="5124450" y="62293"/>
                  </a:lnTo>
                  <a:lnTo>
                    <a:pt x="5124450" y="66675"/>
                  </a:lnTo>
                  <a:lnTo>
                    <a:pt x="5124450" y="3409950"/>
                  </a:lnTo>
                  <a:lnTo>
                    <a:pt x="5124450" y="3414331"/>
                  </a:lnTo>
                  <a:lnTo>
                    <a:pt x="5124018" y="3418662"/>
                  </a:lnTo>
                  <a:lnTo>
                    <a:pt x="5123167" y="3422954"/>
                  </a:lnTo>
                  <a:lnTo>
                    <a:pt x="5122316" y="3427247"/>
                  </a:lnTo>
                  <a:lnTo>
                    <a:pt x="5121046" y="3431425"/>
                  </a:lnTo>
                  <a:lnTo>
                    <a:pt x="5119370" y="3435464"/>
                  </a:lnTo>
                  <a:lnTo>
                    <a:pt x="5117693" y="3439502"/>
                  </a:lnTo>
                  <a:lnTo>
                    <a:pt x="5115648" y="3443351"/>
                  </a:lnTo>
                  <a:lnTo>
                    <a:pt x="5113210" y="3446995"/>
                  </a:lnTo>
                  <a:lnTo>
                    <a:pt x="5110784" y="3450628"/>
                  </a:lnTo>
                  <a:lnTo>
                    <a:pt x="5108016" y="3453993"/>
                  </a:lnTo>
                  <a:lnTo>
                    <a:pt x="5104917" y="3457092"/>
                  </a:lnTo>
                  <a:lnTo>
                    <a:pt x="5101818" y="3460191"/>
                  </a:lnTo>
                  <a:lnTo>
                    <a:pt x="5083289" y="3471545"/>
                  </a:lnTo>
                  <a:lnTo>
                    <a:pt x="5079250" y="3473221"/>
                  </a:lnTo>
                  <a:lnTo>
                    <a:pt x="5075072" y="3474491"/>
                  </a:lnTo>
                  <a:lnTo>
                    <a:pt x="5070779" y="3475342"/>
                  </a:lnTo>
                  <a:lnTo>
                    <a:pt x="5066487" y="3476193"/>
                  </a:lnTo>
                  <a:lnTo>
                    <a:pt x="5062156" y="3476625"/>
                  </a:lnTo>
                  <a:lnTo>
                    <a:pt x="5057775" y="3476625"/>
                  </a:lnTo>
                  <a:lnTo>
                    <a:pt x="66675" y="3476625"/>
                  </a:lnTo>
                  <a:lnTo>
                    <a:pt x="62299" y="3476625"/>
                  </a:lnTo>
                  <a:lnTo>
                    <a:pt x="57964" y="3476193"/>
                  </a:lnTo>
                  <a:lnTo>
                    <a:pt x="53667" y="3475342"/>
                  </a:lnTo>
                  <a:lnTo>
                    <a:pt x="49371" y="3474491"/>
                  </a:lnTo>
                  <a:lnTo>
                    <a:pt x="45204" y="3473221"/>
                  </a:lnTo>
                  <a:lnTo>
                    <a:pt x="41160" y="3471545"/>
                  </a:lnTo>
                  <a:lnTo>
                    <a:pt x="37113" y="3469868"/>
                  </a:lnTo>
                  <a:lnTo>
                    <a:pt x="33272" y="3467823"/>
                  </a:lnTo>
                  <a:lnTo>
                    <a:pt x="29631" y="3465385"/>
                  </a:lnTo>
                  <a:lnTo>
                    <a:pt x="25990" y="3462947"/>
                  </a:lnTo>
                  <a:lnTo>
                    <a:pt x="3398" y="3431425"/>
                  </a:lnTo>
                  <a:lnTo>
                    <a:pt x="0" y="3414331"/>
                  </a:lnTo>
                  <a:lnTo>
                    <a:pt x="0" y="3409950"/>
                  </a:lnTo>
                  <a:close/>
                </a:path>
              </a:pathLst>
            </a:custGeom>
            <a:ln w="19050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76312" y="164306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46859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4685957" y="352425"/>
                  </a:lnTo>
                  <a:lnTo>
                    <a:pt x="4714875" y="323507"/>
                  </a:lnTo>
                  <a:lnTo>
                    <a:pt x="4714875" y="28917"/>
                  </a:lnTo>
                  <a:lnTo>
                    <a:pt x="4690211" y="838"/>
                  </a:lnTo>
                  <a:lnTo>
                    <a:pt x="4685957" y="0"/>
                  </a:lnTo>
                  <a:close/>
                </a:path>
              </a:pathLst>
            </a:custGeom>
            <a:solidFill>
              <a:srgbClr val="0E75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976312" y="164306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8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4681537" y="0"/>
                  </a:lnTo>
                  <a:lnTo>
                    <a:pt x="4685957" y="0"/>
                  </a:lnTo>
                  <a:lnTo>
                    <a:pt x="4690211" y="838"/>
                  </a:lnTo>
                  <a:lnTo>
                    <a:pt x="4694301" y="2540"/>
                  </a:lnTo>
                  <a:lnTo>
                    <a:pt x="4698377" y="4229"/>
                  </a:lnTo>
                  <a:lnTo>
                    <a:pt x="4701984" y="6642"/>
                  </a:lnTo>
                  <a:lnTo>
                    <a:pt x="4705108" y="9766"/>
                  </a:lnTo>
                  <a:lnTo>
                    <a:pt x="4708232" y="12890"/>
                  </a:lnTo>
                  <a:lnTo>
                    <a:pt x="4710645" y="16497"/>
                  </a:lnTo>
                  <a:lnTo>
                    <a:pt x="4712335" y="20574"/>
                  </a:lnTo>
                  <a:lnTo>
                    <a:pt x="4714024" y="24663"/>
                  </a:lnTo>
                  <a:lnTo>
                    <a:pt x="4714875" y="28917"/>
                  </a:lnTo>
                  <a:lnTo>
                    <a:pt x="4714875" y="33337"/>
                  </a:lnTo>
                  <a:lnTo>
                    <a:pt x="4714875" y="319087"/>
                  </a:lnTo>
                  <a:lnTo>
                    <a:pt x="4714875" y="323507"/>
                  </a:lnTo>
                  <a:lnTo>
                    <a:pt x="4714024" y="327761"/>
                  </a:lnTo>
                  <a:lnTo>
                    <a:pt x="4712335" y="331851"/>
                  </a:lnTo>
                  <a:lnTo>
                    <a:pt x="4710645" y="335927"/>
                  </a:lnTo>
                  <a:lnTo>
                    <a:pt x="4708232" y="339534"/>
                  </a:lnTo>
                  <a:lnTo>
                    <a:pt x="4705108" y="342658"/>
                  </a:lnTo>
                  <a:lnTo>
                    <a:pt x="4701984" y="345782"/>
                  </a:lnTo>
                  <a:lnTo>
                    <a:pt x="4698377" y="348195"/>
                  </a:lnTo>
                  <a:lnTo>
                    <a:pt x="4694301" y="349885"/>
                  </a:lnTo>
                  <a:lnTo>
                    <a:pt x="4690211" y="351574"/>
                  </a:lnTo>
                  <a:lnTo>
                    <a:pt x="4685957" y="352425"/>
                  </a:lnTo>
                  <a:lnTo>
                    <a:pt x="4681537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5" y="351574"/>
                  </a:lnTo>
                  <a:lnTo>
                    <a:pt x="20577" y="349885"/>
                  </a:lnTo>
                  <a:lnTo>
                    <a:pt x="16494" y="348195"/>
                  </a:lnTo>
                  <a:lnTo>
                    <a:pt x="12887" y="345782"/>
                  </a:lnTo>
                  <a:lnTo>
                    <a:pt x="9763" y="342658"/>
                  </a:lnTo>
                  <a:lnTo>
                    <a:pt x="6638" y="339534"/>
                  </a:lnTo>
                  <a:lnTo>
                    <a:pt x="4231" y="335927"/>
                  </a:lnTo>
                  <a:lnTo>
                    <a:pt x="2540" y="331851"/>
                  </a:lnTo>
                  <a:lnTo>
                    <a:pt x="84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0E756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976312" y="238601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46859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4685957" y="352425"/>
                  </a:lnTo>
                  <a:lnTo>
                    <a:pt x="4714875" y="323507"/>
                  </a:lnTo>
                  <a:lnTo>
                    <a:pt x="4714875" y="28917"/>
                  </a:lnTo>
                  <a:lnTo>
                    <a:pt x="4690211" y="838"/>
                  </a:lnTo>
                  <a:lnTo>
                    <a:pt x="4685957" y="0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976312" y="238601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8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4681537" y="0"/>
                  </a:lnTo>
                  <a:lnTo>
                    <a:pt x="4685957" y="0"/>
                  </a:lnTo>
                  <a:lnTo>
                    <a:pt x="4690211" y="838"/>
                  </a:lnTo>
                  <a:lnTo>
                    <a:pt x="4694301" y="2540"/>
                  </a:lnTo>
                  <a:lnTo>
                    <a:pt x="4698377" y="4229"/>
                  </a:lnTo>
                  <a:lnTo>
                    <a:pt x="4701984" y="6642"/>
                  </a:lnTo>
                  <a:lnTo>
                    <a:pt x="4705108" y="9766"/>
                  </a:lnTo>
                  <a:lnTo>
                    <a:pt x="4708232" y="12890"/>
                  </a:lnTo>
                  <a:lnTo>
                    <a:pt x="4710645" y="16497"/>
                  </a:lnTo>
                  <a:lnTo>
                    <a:pt x="4712335" y="20574"/>
                  </a:lnTo>
                  <a:lnTo>
                    <a:pt x="4714024" y="24663"/>
                  </a:lnTo>
                  <a:lnTo>
                    <a:pt x="4714875" y="28917"/>
                  </a:lnTo>
                  <a:lnTo>
                    <a:pt x="4714875" y="33337"/>
                  </a:lnTo>
                  <a:lnTo>
                    <a:pt x="4714875" y="319087"/>
                  </a:lnTo>
                  <a:lnTo>
                    <a:pt x="4714875" y="323507"/>
                  </a:lnTo>
                  <a:lnTo>
                    <a:pt x="4714024" y="327761"/>
                  </a:lnTo>
                  <a:lnTo>
                    <a:pt x="4712335" y="331838"/>
                  </a:lnTo>
                  <a:lnTo>
                    <a:pt x="4710645" y="335927"/>
                  </a:lnTo>
                  <a:lnTo>
                    <a:pt x="4708232" y="339534"/>
                  </a:lnTo>
                  <a:lnTo>
                    <a:pt x="4705108" y="342658"/>
                  </a:lnTo>
                  <a:lnTo>
                    <a:pt x="4701984" y="345782"/>
                  </a:lnTo>
                  <a:lnTo>
                    <a:pt x="4698377" y="348195"/>
                  </a:lnTo>
                  <a:lnTo>
                    <a:pt x="4694301" y="349885"/>
                  </a:lnTo>
                  <a:lnTo>
                    <a:pt x="4690211" y="351574"/>
                  </a:lnTo>
                  <a:lnTo>
                    <a:pt x="4685957" y="352425"/>
                  </a:lnTo>
                  <a:lnTo>
                    <a:pt x="4681537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5" y="351574"/>
                  </a:lnTo>
                  <a:lnTo>
                    <a:pt x="20577" y="349885"/>
                  </a:lnTo>
                  <a:lnTo>
                    <a:pt x="16494" y="348195"/>
                  </a:lnTo>
                  <a:lnTo>
                    <a:pt x="12887" y="345782"/>
                  </a:lnTo>
                  <a:lnTo>
                    <a:pt x="9763" y="342658"/>
                  </a:lnTo>
                  <a:lnTo>
                    <a:pt x="6638" y="339534"/>
                  </a:lnTo>
                  <a:lnTo>
                    <a:pt x="4231" y="335927"/>
                  </a:lnTo>
                  <a:lnTo>
                    <a:pt x="2540" y="331838"/>
                  </a:lnTo>
                  <a:lnTo>
                    <a:pt x="84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D9770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976312" y="312896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46859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4685957" y="352425"/>
                  </a:lnTo>
                  <a:lnTo>
                    <a:pt x="4714875" y="323507"/>
                  </a:lnTo>
                  <a:lnTo>
                    <a:pt x="4714875" y="28917"/>
                  </a:lnTo>
                  <a:lnTo>
                    <a:pt x="4690211" y="838"/>
                  </a:lnTo>
                  <a:lnTo>
                    <a:pt x="4685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76312" y="312896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8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4681537" y="0"/>
                  </a:lnTo>
                  <a:lnTo>
                    <a:pt x="4685957" y="0"/>
                  </a:lnTo>
                  <a:lnTo>
                    <a:pt x="4690211" y="838"/>
                  </a:lnTo>
                  <a:lnTo>
                    <a:pt x="4694301" y="2540"/>
                  </a:lnTo>
                  <a:lnTo>
                    <a:pt x="4698377" y="4229"/>
                  </a:lnTo>
                  <a:lnTo>
                    <a:pt x="4701984" y="6642"/>
                  </a:lnTo>
                  <a:lnTo>
                    <a:pt x="4705108" y="9766"/>
                  </a:lnTo>
                  <a:lnTo>
                    <a:pt x="4708232" y="12890"/>
                  </a:lnTo>
                  <a:lnTo>
                    <a:pt x="4710645" y="16497"/>
                  </a:lnTo>
                  <a:lnTo>
                    <a:pt x="4712335" y="20574"/>
                  </a:lnTo>
                  <a:lnTo>
                    <a:pt x="4714024" y="24663"/>
                  </a:lnTo>
                  <a:lnTo>
                    <a:pt x="4714875" y="28917"/>
                  </a:lnTo>
                  <a:lnTo>
                    <a:pt x="4714875" y="33337"/>
                  </a:lnTo>
                  <a:lnTo>
                    <a:pt x="4714875" y="319087"/>
                  </a:lnTo>
                  <a:lnTo>
                    <a:pt x="4714875" y="323507"/>
                  </a:lnTo>
                  <a:lnTo>
                    <a:pt x="4714024" y="327761"/>
                  </a:lnTo>
                  <a:lnTo>
                    <a:pt x="4712335" y="331838"/>
                  </a:lnTo>
                  <a:lnTo>
                    <a:pt x="4710645" y="335927"/>
                  </a:lnTo>
                  <a:lnTo>
                    <a:pt x="4708232" y="339534"/>
                  </a:lnTo>
                  <a:lnTo>
                    <a:pt x="4705108" y="342658"/>
                  </a:lnTo>
                  <a:lnTo>
                    <a:pt x="4701984" y="345782"/>
                  </a:lnTo>
                  <a:lnTo>
                    <a:pt x="4698377" y="348195"/>
                  </a:lnTo>
                  <a:lnTo>
                    <a:pt x="4694301" y="349885"/>
                  </a:lnTo>
                  <a:lnTo>
                    <a:pt x="4690211" y="351574"/>
                  </a:lnTo>
                  <a:lnTo>
                    <a:pt x="4685957" y="352425"/>
                  </a:lnTo>
                  <a:lnTo>
                    <a:pt x="4681537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5" y="351574"/>
                  </a:lnTo>
                  <a:lnTo>
                    <a:pt x="20577" y="349885"/>
                  </a:lnTo>
                  <a:lnTo>
                    <a:pt x="16494" y="348195"/>
                  </a:lnTo>
                  <a:lnTo>
                    <a:pt x="12887" y="345782"/>
                  </a:lnTo>
                  <a:lnTo>
                    <a:pt x="9763" y="342658"/>
                  </a:lnTo>
                  <a:lnTo>
                    <a:pt x="6638" y="339534"/>
                  </a:lnTo>
                  <a:lnTo>
                    <a:pt x="4231" y="335927"/>
                  </a:lnTo>
                  <a:lnTo>
                    <a:pt x="2540" y="331838"/>
                  </a:lnTo>
                  <a:lnTo>
                    <a:pt x="84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0A1E3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76312" y="387191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46859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319087"/>
                  </a:lnTo>
                  <a:lnTo>
                    <a:pt x="0" y="323507"/>
                  </a:lnTo>
                  <a:lnTo>
                    <a:pt x="28917" y="352425"/>
                  </a:lnTo>
                  <a:lnTo>
                    <a:pt x="4685957" y="352425"/>
                  </a:lnTo>
                  <a:lnTo>
                    <a:pt x="4714875" y="323507"/>
                  </a:lnTo>
                  <a:lnTo>
                    <a:pt x="4714875" y="28917"/>
                  </a:lnTo>
                  <a:lnTo>
                    <a:pt x="4690211" y="838"/>
                  </a:lnTo>
                  <a:lnTo>
                    <a:pt x="468595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76312" y="3871912"/>
              <a:ext cx="4714875" cy="352425"/>
            </a:xfrm>
            <a:custGeom>
              <a:avLst/>
              <a:gdLst/>
              <a:ahLst/>
              <a:cxnLst/>
              <a:rect l="l" t="t" r="r" b="b"/>
              <a:pathLst>
                <a:path w="4714875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8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4681537" y="0"/>
                  </a:lnTo>
                  <a:lnTo>
                    <a:pt x="4685957" y="0"/>
                  </a:lnTo>
                  <a:lnTo>
                    <a:pt x="4690211" y="838"/>
                  </a:lnTo>
                  <a:lnTo>
                    <a:pt x="4694301" y="2540"/>
                  </a:lnTo>
                  <a:lnTo>
                    <a:pt x="4698377" y="4229"/>
                  </a:lnTo>
                  <a:lnTo>
                    <a:pt x="4714875" y="28917"/>
                  </a:lnTo>
                  <a:lnTo>
                    <a:pt x="4714875" y="33337"/>
                  </a:lnTo>
                  <a:lnTo>
                    <a:pt x="4714875" y="319087"/>
                  </a:lnTo>
                  <a:lnTo>
                    <a:pt x="4714875" y="323507"/>
                  </a:lnTo>
                  <a:lnTo>
                    <a:pt x="4714024" y="327761"/>
                  </a:lnTo>
                  <a:lnTo>
                    <a:pt x="4712335" y="331838"/>
                  </a:lnTo>
                  <a:lnTo>
                    <a:pt x="4710645" y="335927"/>
                  </a:lnTo>
                  <a:lnTo>
                    <a:pt x="4685957" y="352425"/>
                  </a:lnTo>
                  <a:lnTo>
                    <a:pt x="4681537" y="352425"/>
                  </a:lnTo>
                  <a:lnTo>
                    <a:pt x="33337" y="352425"/>
                  </a:lnTo>
                  <a:lnTo>
                    <a:pt x="28917" y="352425"/>
                  </a:lnTo>
                  <a:lnTo>
                    <a:pt x="24665" y="351574"/>
                  </a:lnTo>
                  <a:lnTo>
                    <a:pt x="20577" y="349885"/>
                  </a:lnTo>
                  <a:lnTo>
                    <a:pt x="16494" y="348195"/>
                  </a:lnTo>
                  <a:lnTo>
                    <a:pt x="12887" y="345782"/>
                  </a:lnTo>
                  <a:lnTo>
                    <a:pt x="9763" y="342658"/>
                  </a:lnTo>
                  <a:lnTo>
                    <a:pt x="6638" y="339534"/>
                  </a:lnTo>
                  <a:lnTo>
                    <a:pt x="4231" y="335927"/>
                  </a:lnTo>
                  <a:lnTo>
                    <a:pt x="2540" y="331838"/>
                  </a:lnTo>
                  <a:lnTo>
                    <a:pt x="848" y="327761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5">
              <a:solidFill>
                <a:srgbClr val="0A1E3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278062" y="1226886"/>
            <a:ext cx="2114550" cy="22987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225">
                <a:solidFill>
                  <a:srgbClr val="0A1E36"/>
                </a:solidFill>
                <a:latin typeface="Times New Roman"/>
                <a:cs typeface="Times New Roman"/>
              </a:rPr>
              <a:t>System</a:t>
            </a:r>
            <a:r>
              <a:rPr dirty="0" sz="1300" spc="-6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0A1E36"/>
                </a:solidFill>
                <a:latin typeface="Times New Roman"/>
                <a:cs typeface="Times New Roman"/>
              </a:rPr>
              <a:t>Operating</a:t>
            </a:r>
            <a:r>
              <a:rPr dirty="0" sz="1300" spc="-3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300" spc="190">
                <a:solidFill>
                  <a:srgbClr val="0A1E36"/>
                </a:solidFill>
                <a:latin typeface="Times New Roman"/>
                <a:cs typeface="Times New Roman"/>
              </a:rPr>
              <a:t>States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44825" y="1723259"/>
            <a:ext cx="577215" cy="18288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0">
                <a:solidFill>
                  <a:srgbClr val="FFFFFF"/>
                </a:solidFill>
                <a:latin typeface="Times New Roman"/>
                <a:cs typeface="Times New Roman"/>
              </a:rPr>
              <a:t>NORMAL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82950" y="2073275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BD5E1"/>
                </a:solidFill>
                <a:latin typeface="Tahoma"/>
                <a:cs typeface="Tahoma"/>
              </a:rPr>
              <a:t>*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6212" y="2466209"/>
            <a:ext cx="1231265" cy="18288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45">
                <a:solidFill>
                  <a:srgbClr val="FFFFFF"/>
                </a:solidFill>
                <a:latin typeface="Times New Roman"/>
                <a:cs typeface="Times New Roman"/>
              </a:rPr>
              <a:t>DEGRADED</a:t>
            </a:r>
            <a:r>
              <a:rPr dirty="0" sz="10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000" spc="130">
                <a:solidFill>
                  <a:srgbClr val="FFFFFF"/>
                </a:solidFill>
                <a:latin typeface="Times New Roman"/>
                <a:cs typeface="Times New Roman"/>
              </a:rPr>
              <a:t>(Oline)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82950" y="2816225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BD5E1"/>
                </a:solidFill>
                <a:latin typeface="Tahoma"/>
                <a:cs typeface="Tahoma"/>
              </a:rPr>
              <a:t>*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11475" y="3215836"/>
            <a:ext cx="840740" cy="17462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50" spc="-10">
                <a:solidFill>
                  <a:srgbClr val="0E162A"/>
                </a:solidFill>
                <a:latin typeface="Times New Roman"/>
                <a:cs typeface="Times New Roman"/>
              </a:rPr>
              <a:t>RECOVERING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82950" y="3559175"/>
            <a:ext cx="101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CBD5E1"/>
                </a:solidFill>
                <a:latin typeface="Tahoma"/>
                <a:cs typeface="Tahoma"/>
              </a:rPr>
              <a:t>*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54337" y="3958786"/>
            <a:ext cx="761365" cy="174625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950" spc="75">
                <a:solidFill>
                  <a:srgbClr val="0E162A"/>
                </a:solidFill>
                <a:latin typeface="Times New Roman"/>
                <a:cs typeface="Times New Roman"/>
              </a:rPr>
              <a:t>SAFE-</a:t>
            </a:r>
            <a:r>
              <a:rPr dirty="0" sz="950" spc="100">
                <a:solidFill>
                  <a:srgbClr val="0E162A"/>
                </a:solidFill>
                <a:latin typeface="Times New Roman"/>
                <a:cs typeface="Times New Roman"/>
              </a:rPr>
              <a:t>STOP</a:t>
            </a:r>
            <a:endParaRPr sz="950">
              <a:latin typeface="Times New Roman"/>
              <a:cs typeface="Times New Roman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86500" y="1038224"/>
            <a:ext cx="5143500" cy="1104900"/>
            <a:chOff x="6286500" y="1038224"/>
            <a:chExt cx="5143500" cy="1104900"/>
          </a:xfrm>
        </p:grpSpPr>
        <p:sp>
          <p:nvSpPr>
            <p:cNvPr id="23" name="object 23"/>
            <p:cNvSpPr/>
            <p:nvPr/>
          </p:nvSpPr>
          <p:spPr>
            <a:xfrm>
              <a:off x="6291262" y="1042987"/>
              <a:ext cx="5133975" cy="1095375"/>
            </a:xfrm>
            <a:custGeom>
              <a:avLst/>
              <a:gdLst/>
              <a:ahLst/>
              <a:cxnLst/>
              <a:rect l="l" t="t" r="r" b="b"/>
              <a:pathLst>
                <a:path w="5133975" h="1095375">
                  <a:moveTo>
                    <a:pt x="5105057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1062037"/>
                  </a:lnTo>
                  <a:lnTo>
                    <a:pt x="0" y="1066457"/>
                  </a:lnTo>
                  <a:lnTo>
                    <a:pt x="28917" y="1095375"/>
                  </a:lnTo>
                  <a:lnTo>
                    <a:pt x="5105057" y="1095375"/>
                  </a:lnTo>
                  <a:lnTo>
                    <a:pt x="5133975" y="1066457"/>
                  </a:lnTo>
                  <a:lnTo>
                    <a:pt x="5133975" y="28917"/>
                  </a:lnTo>
                  <a:lnTo>
                    <a:pt x="5109311" y="838"/>
                  </a:lnTo>
                  <a:lnTo>
                    <a:pt x="51050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91262" y="1042987"/>
              <a:ext cx="5133975" cy="1095375"/>
            </a:xfrm>
            <a:custGeom>
              <a:avLst/>
              <a:gdLst/>
              <a:ahLst/>
              <a:cxnLst/>
              <a:rect l="l" t="t" r="r" b="b"/>
              <a:pathLst>
                <a:path w="5133975" h="1095375">
                  <a:moveTo>
                    <a:pt x="0" y="106203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100637" y="0"/>
                  </a:lnTo>
                  <a:lnTo>
                    <a:pt x="5105057" y="0"/>
                  </a:lnTo>
                  <a:lnTo>
                    <a:pt x="5109311" y="838"/>
                  </a:lnTo>
                  <a:lnTo>
                    <a:pt x="5113388" y="2540"/>
                  </a:lnTo>
                  <a:lnTo>
                    <a:pt x="5117477" y="4229"/>
                  </a:lnTo>
                  <a:lnTo>
                    <a:pt x="5121084" y="6642"/>
                  </a:lnTo>
                  <a:lnTo>
                    <a:pt x="5124208" y="9766"/>
                  </a:lnTo>
                  <a:lnTo>
                    <a:pt x="5127332" y="12890"/>
                  </a:lnTo>
                  <a:lnTo>
                    <a:pt x="5129745" y="16497"/>
                  </a:lnTo>
                  <a:lnTo>
                    <a:pt x="5131435" y="20574"/>
                  </a:lnTo>
                  <a:lnTo>
                    <a:pt x="5133124" y="24663"/>
                  </a:lnTo>
                  <a:lnTo>
                    <a:pt x="5133975" y="28917"/>
                  </a:lnTo>
                  <a:lnTo>
                    <a:pt x="5133975" y="33337"/>
                  </a:lnTo>
                  <a:lnTo>
                    <a:pt x="5133975" y="1062037"/>
                  </a:lnTo>
                  <a:lnTo>
                    <a:pt x="5133975" y="1066457"/>
                  </a:lnTo>
                  <a:lnTo>
                    <a:pt x="5133124" y="1070711"/>
                  </a:lnTo>
                  <a:lnTo>
                    <a:pt x="5131435" y="1074801"/>
                  </a:lnTo>
                  <a:lnTo>
                    <a:pt x="5129745" y="1078877"/>
                  </a:lnTo>
                  <a:lnTo>
                    <a:pt x="5127332" y="1082484"/>
                  </a:lnTo>
                  <a:lnTo>
                    <a:pt x="5124208" y="1085608"/>
                  </a:lnTo>
                  <a:lnTo>
                    <a:pt x="5121084" y="1088732"/>
                  </a:lnTo>
                  <a:lnTo>
                    <a:pt x="5117477" y="1091145"/>
                  </a:lnTo>
                  <a:lnTo>
                    <a:pt x="5113388" y="1092835"/>
                  </a:lnTo>
                  <a:lnTo>
                    <a:pt x="5109311" y="1094524"/>
                  </a:lnTo>
                  <a:lnTo>
                    <a:pt x="5105057" y="1095375"/>
                  </a:lnTo>
                  <a:lnTo>
                    <a:pt x="5100637" y="1095375"/>
                  </a:lnTo>
                  <a:lnTo>
                    <a:pt x="33337" y="1095375"/>
                  </a:lnTo>
                  <a:lnTo>
                    <a:pt x="28917" y="1095375"/>
                  </a:lnTo>
                  <a:lnTo>
                    <a:pt x="24663" y="1094524"/>
                  </a:lnTo>
                  <a:lnTo>
                    <a:pt x="20574" y="1092835"/>
                  </a:lnTo>
                  <a:lnTo>
                    <a:pt x="16497" y="1091145"/>
                  </a:lnTo>
                  <a:lnTo>
                    <a:pt x="12890" y="1088732"/>
                  </a:lnTo>
                  <a:lnTo>
                    <a:pt x="9766" y="1085608"/>
                  </a:lnTo>
                  <a:lnTo>
                    <a:pt x="6642" y="1082484"/>
                  </a:lnTo>
                  <a:lnTo>
                    <a:pt x="4229" y="1078877"/>
                  </a:lnTo>
                  <a:lnTo>
                    <a:pt x="2540" y="1074801"/>
                  </a:lnTo>
                  <a:lnTo>
                    <a:pt x="838" y="1070711"/>
                  </a:lnTo>
                  <a:lnTo>
                    <a:pt x="0" y="1066457"/>
                  </a:lnTo>
                  <a:lnTo>
                    <a:pt x="0" y="106203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6286500" y="2333625"/>
            <a:ext cx="5143500" cy="1104900"/>
            <a:chOff x="6286500" y="2333625"/>
            <a:chExt cx="5143500" cy="1104900"/>
          </a:xfrm>
        </p:grpSpPr>
        <p:sp>
          <p:nvSpPr>
            <p:cNvPr id="26" name="object 26"/>
            <p:cNvSpPr/>
            <p:nvPr/>
          </p:nvSpPr>
          <p:spPr>
            <a:xfrm>
              <a:off x="6291262" y="2338387"/>
              <a:ext cx="5133975" cy="1095375"/>
            </a:xfrm>
            <a:custGeom>
              <a:avLst/>
              <a:gdLst/>
              <a:ahLst/>
              <a:cxnLst/>
              <a:rect l="l" t="t" r="r" b="b"/>
              <a:pathLst>
                <a:path w="5133975" h="1095375">
                  <a:moveTo>
                    <a:pt x="5105057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1062037"/>
                  </a:lnTo>
                  <a:lnTo>
                    <a:pt x="0" y="1066457"/>
                  </a:lnTo>
                  <a:lnTo>
                    <a:pt x="28917" y="1095375"/>
                  </a:lnTo>
                  <a:lnTo>
                    <a:pt x="5105057" y="1095375"/>
                  </a:lnTo>
                  <a:lnTo>
                    <a:pt x="5133975" y="1066457"/>
                  </a:lnTo>
                  <a:lnTo>
                    <a:pt x="5133975" y="28917"/>
                  </a:lnTo>
                  <a:lnTo>
                    <a:pt x="5109311" y="838"/>
                  </a:lnTo>
                  <a:lnTo>
                    <a:pt x="51050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291262" y="2338387"/>
              <a:ext cx="5133975" cy="1095375"/>
            </a:xfrm>
            <a:custGeom>
              <a:avLst/>
              <a:gdLst/>
              <a:ahLst/>
              <a:cxnLst/>
              <a:rect l="l" t="t" r="r" b="b"/>
              <a:pathLst>
                <a:path w="5133975" h="1095375">
                  <a:moveTo>
                    <a:pt x="0" y="106203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100637" y="0"/>
                  </a:lnTo>
                  <a:lnTo>
                    <a:pt x="5105057" y="0"/>
                  </a:lnTo>
                  <a:lnTo>
                    <a:pt x="5109311" y="838"/>
                  </a:lnTo>
                  <a:lnTo>
                    <a:pt x="5113388" y="2540"/>
                  </a:lnTo>
                  <a:lnTo>
                    <a:pt x="5117477" y="4229"/>
                  </a:lnTo>
                  <a:lnTo>
                    <a:pt x="5121084" y="6642"/>
                  </a:lnTo>
                  <a:lnTo>
                    <a:pt x="5124208" y="9766"/>
                  </a:lnTo>
                  <a:lnTo>
                    <a:pt x="5127332" y="12890"/>
                  </a:lnTo>
                  <a:lnTo>
                    <a:pt x="5129745" y="16497"/>
                  </a:lnTo>
                  <a:lnTo>
                    <a:pt x="5131435" y="20574"/>
                  </a:lnTo>
                  <a:lnTo>
                    <a:pt x="5133124" y="24663"/>
                  </a:lnTo>
                  <a:lnTo>
                    <a:pt x="5133975" y="28917"/>
                  </a:lnTo>
                  <a:lnTo>
                    <a:pt x="5133975" y="33337"/>
                  </a:lnTo>
                  <a:lnTo>
                    <a:pt x="5133975" y="1062037"/>
                  </a:lnTo>
                  <a:lnTo>
                    <a:pt x="5133975" y="1066457"/>
                  </a:lnTo>
                  <a:lnTo>
                    <a:pt x="5133124" y="1070711"/>
                  </a:lnTo>
                  <a:lnTo>
                    <a:pt x="5131435" y="1074788"/>
                  </a:lnTo>
                  <a:lnTo>
                    <a:pt x="5129745" y="1078877"/>
                  </a:lnTo>
                  <a:lnTo>
                    <a:pt x="5127332" y="1082484"/>
                  </a:lnTo>
                  <a:lnTo>
                    <a:pt x="5124208" y="1085608"/>
                  </a:lnTo>
                  <a:lnTo>
                    <a:pt x="5121084" y="1088732"/>
                  </a:lnTo>
                  <a:lnTo>
                    <a:pt x="5117477" y="1091145"/>
                  </a:lnTo>
                  <a:lnTo>
                    <a:pt x="5113388" y="1092835"/>
                  </a:lnTo>
                  <a:lnTo>
                    <a:pt x="5109311" y="1094524"/>
                  </a:lnTo>
                  <a:lnTo>
                    <a:pt x="5105057" y="1095375"/>
                  </a:lnTo>
                  <a:lnTo>
                    <a:pt x="5100637" y="1095375"/>
                  </a:lnTo>
                  <a:lnTo>
                    <a:pt x="33337" y="1095375"/>
                  </a:lnTo>
                  <a:lnTo>
                    <a:pt x="28917" y="1095375"/>
                  </a:lnTo>
                  <a:lnTo>
                    <a:pt x="24663" y="1094524"/>
                  </a:lnTo>
                  <a:lnTo>
                    <a:pt x="20574" y="1092835"/>
                  </a:lnTo>
                  <a:lnTo>
                    <a:pt x="16497" y="1091145"/>
                  </a:lnTo>
                  <a:lnTo>
                    <a:pt x="12890" y="1088732"/>
                  </a:lnTo>
                  <a:lnTo>
                    <a:pt x="9766" y="1085608"/>
                  </a:lnTo>
                  <a:lnTo>
                    <a:pt x="6642" y="1082484"/>
                  </a:lnTo>
                  <a:lnTo>
                    <a:pt x="4229" y="1078877"/>
                  </a:lnTo>
                  <a:lnTo>
                    <a:pt x="2540" y="1074788"/>
                  </a:lnTo>
                  <a:lnTo>
                    <a:pt x="838" y="1070711"/>
                  </a:lnTo>
                  <a:lnTo>
                    <a:pt x="0" y="1066457"/>
                  </a:lnTo>
                  <a:lnTo>
                    <a:pt x="0" y="106203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6286500" y="3629025"/>
            <a:ext cx="5143500" cy="1104900"/>
            <a:chOff x="6286500" y="3629025"/>
            <a:chExt cx="5143500" cy="1104900"/>
          </a:xfrm>
        </p:grpSpPr>
        <p:sp>
          <p:nvSpPr>
            <p:cNvPr id="29" name="object 29"/>
            <p:cNvSpPr/>
            <p:nvPr/>
          </p:nvSpPr>
          <p:spPr>
            <a:xfrm>
              <a:off x="6291262" y="3633787"/>
              <a:ext cx="5133975" cy="1095375"/>
            </a:xfrm>
            <a:custGeom>
              <a:avLst/>
              <a:gdLst/>
              <a:ahLst/>
              <a:cxnLst/>
              <a:rect l="l" t="t" r="r" b="b"/>
              <a:pathLst>
                <a:path w="5133975" h="1095375">
                  <a:moveTo>
                    <a:pt x="5105057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1062037"/>
                  </a:lnTo>
                  <a:lnTo>
                    <a:pt x="0" y="1066457"/>
                  </a:lnTo>
                  <a:lnTo>
                    <a:pt x="28917" y="1095375"/>
                  </a:lnTo>
                  <a:lnTo>
                    <a:pt x="5105057" y="1095375"/>
                  </a:lnTo>
                  <a:lnTo>
                    <a:pt x="5133975" y="1066457"/>
                  </a:lnTo>
                  <a:lnTo>
                    <a:pt x="5133975" y="28917"/>
                  </a:lnTo>
                  <a:lnTo>
                    <a:pt x="5109311" y="838"/>
                  </a:lnTo>
                  <a:lnTo>
                    <a:pt x="51050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291262" y="3633787"/>
              <a:ext cx="5133975" cy="1095375"/>
            </a:xfrm>
            <a:custGeom>
              <a:avLst/>
              <a:gdLst/>
              <a:ahLst/>
              <a:cxnLst/>
              <a:rect l="l" t="t" r="r" b="b"/>
              <a:pathLst>
                <a:path w="5133975" h="1095375">
                  <a:moveTo>
                    <a:pt x="0" y="1062037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100637" y="0"/>
                  </a:lnTo>
                  <a:lnTo>
                    <a:pt x="5105057" y="0"/>
                  </a:lnTo>
                  <a:lnTo>
                    <a:pt x="5109311" y="838"/>
                  </a:lnTo>
                  <a:lnTo>
                    <a:pt x="5113388" y="2540"/>
                  </a:lnTo>
                  <a:lnTo>
                    <a:pt x="5117477" y="4229"/>
                  </a:lnTo>
                  <a:lnTo>
                    <a:pt x="5121084" y="6642"/>
                  </a:lnTo>
                  <a:lnTo>
                    <a:pt x="5124208" y="9766"/>
                  </a:lnTo>
                  <a:lnTo>
                    <a:pt x="5127332" y="12890"/>
                  </a:lnTo>
                  <a:lnTo>
                    <a:pt x="5129745" y="16497"/>
                  </a:lnTo>
                  <a:lnTo>
                    <a:pt x="5131435" y="20574"/>
                  </a:lnTo>
                  <a:lnTo>
                    <a:pt x="5133124" y="24663"/>
                  </a:lnTo>
                  <a:lnTo>
                    <a:pt x="5133975" y="28917"/>
                  </a:lnTo>
                  <a:lnTo>
                    <a:pt x="5133975" y="33337"/>
                  </a:lnTo>
                  <a:lnTo>
                    <a:pt x="5133975" y="1062037"/>
                  </a:lnTo>
                  <a:lnTo>
                    <a:pt x="5133975" y="1066457"/>
                  </a:lnTo>
                  <a:lnTo>
                    <a:pt x="5133124" y="1070711"/>
                  </a:lnTo>
                  <a:lnTo>
                    <a:pt x="5131435" y="1074788"/>
                  </a:lnTo>
                  <a:lnTo>
                    <a:pt x="5129745" y="1078877"/>
                  </a:lnTo>
                  <a:lnTo>
                    <a:pt x="5127332" y="1082484"/>
                  </a:lnTo>
                  <a:lnTo>
                    <a:pt x="5124208" y="1085608"/>
                  </a:lnTo>
                  <a:lnTo>
                    <a:pt x="5121084" y="1088732"/>
                  </a:lnTo>
                  <a:lnTo>
                    <a:pt x="5117477" y="1091145"/>
                  </a:lnTo>
                  <a:lnTo>
                    <a:pt x="5113388" y="1092835"/>
                  </a:lnTo>
                  <a:lnTo>
                    <a:pt x="5109311" y="1094524"/>
                  </a:lnTo>
                  <a:lnTo>
                    <a:pt x="5105057" y="1095375"/>
                  </a:lnTo>
                  <a:lnTo>
                    <a:pt x="5100637" y="1095375"/>
                  </a:lnTo>
                  <a:lnTo>
                    <a:pt x="33337" y="1095375"/>
                  </a:lnTo>
                  <a:lnTo>
                    <a:pt x="28917" y="1095375"/>
                  </a:lnTo>
                  <a:lnTo>
                    <a:pt x="24663" y="1094524"/>
                  </a:lnTo>
                  <a:lnTo>
                    <a:pt x="2540" y="1074788"/>
                  </a:lnTo>
                  <a:lnTo>
                    <a:pt x="838" y="1070711"/>
                  </a:lnTo>
                  <a:lnTo>
                    <a:pt x="0" y="1066457"/>
                  </a:lnTo>
                  <a:lnTo>
                    <a:pt x="0" y="106203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473825" y="1220773"/>
            <a:ext cx="195961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0E756E"/>
                </a:solidFill>
                <a:latin typeface="Times New Roman"/>
                <a:cs typeface="Times New Roman"/>
              </a:rPr>
              <a:t>Write-</a:t>
            </a:r>
            <a:r>
              <a:rPr dirty="0" sz="1150" spc="45">
                <a:solidFill>
                  <a:srgbClr val="0E756E"/>
                </a:solidFill>
                <a:latin typeface="Times New Roman"/>
                <a:cs typeface="Times New Roman"/>
              </a:rPr>
              <a:t>Before-</a:t>
            </a:r>
            <a:r>
              <a:rPr dirty="0" sz="1150" spc="110">
                <a:solidFill>
                  <a:srgbClr val="0E756E"/>
                </a:solidFill>
                <a:latin typeface="Times New Roman"/>
                <a:cs typeface="Times New Roman"/>
              </a:rPr>
              <a:t>Send</a:t>
            </a:r>
            <a:r>
              <a:rPr dirty="0" sz="1150" spc="160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E756E"/>
                </a:solidFill>
                <a:latin typeface="Times New Roman"/>
                <a:cs typeface="Times New Roman"/>
              </a:rPr>
              <a:t>Ordering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73825" y="1462784"/>
            <a:ext cx="4742815" cy="463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70">
                <a:solidFill>
                  <a:srgbClr val="0E162A"/>
                </a:solidFill>
                <a:latin typeface="Times New Roman"/>
                <a:cs typeface="Times New Roman"/>
              </a:rPr>
              <a:t>Observations</a:t>
            </a:r>
            <a:r>
              <a:rPr dirty="0" sz="1050" spc="1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are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0E162A"/>
                </a:solidFill>
                <a:latin typeface="Times New Roman"/>
                <a:cs typeface="Times New Roman"/>
              </a:rPr>
              <a:t>committed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114">
                <a:solidFill>
                  <a:srgbClr val="0E162A"/>
                </a:solidFill>
                <a:latin typeface="Times New Roman"/>
                <a:cs typeface="Times New Roman"/>
              </a:rPr>
              <a:t>to</a:t>
            </a:r>
            <a:r>
              <a:rPr dirty="0" sz="1050" spc="1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80">
                <a:solidFill>
                  <a:srgbClr val="0E162A"/>
                </a:solidFill>
                <a:latin typeface="Times New Roman"/>
                <a:cs typeface="Times New Roman"/>
              </a:rPr>
              <a:t>l</a:t>
            </a:r>
            <a:r>
              <a:rPr dirty="0" sz="1050" spc="-1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ocal</a:t>
            </a:r>
            <a:r>
              <a:rPr dirty="0" sz="1050" spc="2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SQLite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queue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0E162A"/>
                </a:solidFill>
                <a:latin typeface="Times New Roman"/>
                <a:cs typeface="Times New Roman"/>
              </a:rPr>
              <a:t>before</a:t>
            </a:r>
            <a:r>
              <a:rPr dirty="0" sz="1050" spc="6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0E162A"/>
                </a:solidFill>
                <a:latin typeface="Times New Roman"/>
                <a:cs typeface="Times New Roman"/>
              </a:rPr>
              <a:t>any</a:t>
            </a:r>
            <a:r>
              <a:rPr dirty="0" sz="10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0E162A"/>
                </a:solidFill>
                <a:latin typeface="Times New Roman"/>
                <a:cs typeface="Times New Roman"/>
              </a:rPr>
              <a:t>network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70">
                <a:solidFill>
                  <a:srgbClr val="0E162A"/>
                </a:solidFill>
                <a:latin typeface="Times New Roman"/>
                <a:cs typeface="Times New Roman"/>
              </a:rPr>
              <a:t>request.</a:t>
            </a:r>
            <a:r>
              <a:rPr dirty="0" sz="1050" spc="1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0E162A"/>
                </a:solidFill>
                <a:latin typeface="Times New Roman"/>
                <a:cs typeface="Times New Roman"/>
              </a:rPr>
              <a:t>This</a:t>
            </a:r>
            <a:r>
              <a:rPr dirty="0" sz="105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0E162A"/>
                </a:solidFill>
                <a:latin typeface="Times New Roman"/>
                <a:cs typeface="Times New Roman"/>
              </a:rPr>
              <a:t>ensures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5">
                <a:solidFill>
                  <a:srgbClr val="0E162A"/>
                </a:solidFill>
                <a:latin typeface="Times New Roman"/>
                <a:cs typeface="Times New Roman"/>
              </a:rPr>
              <a:t>that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0E162A"/>
                </a:solidFill>
                <a:latin typeface="Times New Roman"/>
                <a:cs typeface="Times New Roman"/>
              </a:rPr>
              <a:t>a</a:t>
            </a:r>
            <a:r>
              <a:rPr dirty="0" sz="1050" spc="65">
                <a:solidFill>
                  <a:srgbClr val="0E162A"/>
                </a:solidFill>
                <a:latin typeface="Times New Roman"/>
                <a:cs typeface="Times New Roman"/>
              </a:rPr>
              <a:t> network</a:t>
            </a:r>
            <a:r>
              <a:rPr dirty="0" sz="10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E162A"/>
                </a:solidFill>
                <a:latin typeface="Times New Roman"/>
                <a:cs typeface="Times New Roman"/>
              </a:rPr>
              <a:t>fail</a:t>
            </a:r>
            <a:r>
              <a:rPr dirty="0" sz="1050" spc="-1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ure</a:t>
            </a:r>
            <a:r>
              <a:rPr dirty="0" sz="10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cannot</a:t>
            </a:r>
            <a:r>
              <a:rPr dirty="0" sz="1050" spc="8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0E162A"/>
                </a:solidFill>
                <a:latin typeface="Times New Roman"/>
                <a:cs typeface="Times New Roman"/>
              </a:rPr>
              <a:t>erase</a:t>
            </a:r>
            <a:r>
              <a:rPr dirty="0" sz="10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050" spc="6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E162A"/>
                </a:solidFill>
                <a:latin typeface="Times New Roman"/>
                <a:cs typeface="Times New Roman"/>
              </a:rPr>
              <a:t>event.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473821" y="2516173"/>
            <a:ext cx="4297680" cy="706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90">
                <a:solidFill>
                  <a:srgbClr val="0E756E"/>
                </a:solidFill>
                <a:latin typeface="Times New Roman"/>
                <a:cs typeface="Times New Roman"/>
              </a:rPr>
              <a:t>Idempotent</a:t>
            </a:r>
            <a:r>
              <a:rPr dirty="0" sz="1150" spc="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0E756E"/>
                </a:solidFill>
                <a:latin typeface="Times New Roman"/>
                <a:cs typeface="Times New Roman"/>
              </a:rPr>
              <a:t>Synchronization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Every</a:t>
            </a:r>
            <a:r>
              <a:rPr dirty="0" sz="105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record</a:t>
            </a:r>
            <a:r>
              <a:rPr dirty="0" sz="1050" spc="7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105">
                <a:solidFill>
                  <a:srgbClr val="0E162A"/>
                </a:solidFill>
                <a:latin typeface="Times New Roman"/>
                <a:cs typeface="Times New Roman"/>
              </a:rPr>
              <a:t>has</a:t>
            </a:r>
            <a:r>
              <a:rPr dirty="0" sz="1050" spc="1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0E162A"/>
                </a:solidFill>
                <a:latin typeface="Times New Roman"/>
                <a:cs typeface="Times New Roman"/>
              </a:rPr>
              <a:t>a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70">
                <a:solidFill>
                  <a:srgbClr val="0E162A"/>
                </a:solidFill>
                <a:latin typeface="Times New Roman"/>
                <a:cs typeface="Times New Roman"/>
              </a:rPr>
              <a:t>unique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E162A"/>
                </a:solidFill>
                <a:latin typeface="Courier New"/>
                <a:cs typeface="Courier New"/>
              </a:rPr>
              <a:t>event_id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.</a:t>
            </a:r>
            <a:r>
              <a:rPr dirty="0" sz="1050" spc="17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050" spc="7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E162A"/>
                </a:solidFill>
                <a:latin typeface="Times New Roman"/>
                <a:cs typeface="Times New Roman"/>
              </a:rPr>
              <a:t>cl</a:t>
            </a:r>
            <a:r>
              <a:rPr dirty="0" sz="1050" spc="-1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oud</a:t>
            </a:r>
            <a:r>
              <a:rPr dirty="0" sz="1050" spc="7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API</a:t>
            </a:r>
            <a:r>
              <a:rPr dirty="0" sz="1050" spc="1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honors</a:t>
            </a:r>
            <a:r>
              <a:rPr dirty="0" sz="1050" spc="1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this</a:t>
            </a:r>
            <a:r>
              <a:rPr dirty="0" sz="1050" spc="1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0E162A"/>
                </a:solidFill>
                <a:latin typeface="Times New Roman"/>
                <a:cs typeface="Times New Roman"/>
              </a:rPr>
              <a:t>ID,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50">
                <a:solidFill>
                  <a:srgbClr val="0E162A"/>
                </a:solidFill>
                <a:latin typeface="Times New Roman"/>
                <a:cs typeface="Times New Roman"/>
              </a:rPr>
              <a:t>preventing</a:t>
            </a:r>
            <a:r>
              <a:rPr dirty="0" sz="105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0E162A"/>
                </a:solidFill>
                <a:latin typeface="Times New Roman"/>
                <a:cs typeface="Times New Roman"/>
              </a:rPr>
              <a:t>dupl</a:t>
            </a:r>
            <a:r>
              <a:rPr dirty="0" sz="1050" spc="-1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0E162A"/>
                </a:solidFill>
                <a:latin typeface="Times New Roman"/>
                <a:cs typeface="Times New Roman"/>
              </a:rPr>
              <a:t>icate</a:t>
            </a:r>
            <a:r>
              <a:rPr dirty="0" sz="105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0E162A"/>
                </a:solidFill>
                <a:latin typeface="Times New Roman"/>
                <a:cs typeface="Times New Roman"/>
              </a:rPr>
              <a:t>records</a:t>
            </a:r>
            <a:r>
              <a:rPr dirty="0" sz="1050" spc="1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0E162A"/>
                </a:solidFill>
                <a:latin typeface="Times New Roman"/>
                <a:cs typeface="Times New Roman"/>
              </a:rPr>
              <a:t>during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55">
                <a:solidFill>
                  <a:srgbClr val="0E162A"/>
                </a:solidFill>
                <a:latin typeface="Times New Roman"/>
                <a:cs typeface="Times New Roman"/>
              </a:rPr>
              <a:t>retries</a:t>
            </a:r>
            <a:r>
              <a:rPr dirty="0" sz="1050" spc="1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0E162A"/>
                </a:solidFill>
                <a:latin typeface="Times New Roman"/>
                <a:cs typeface="Times New Roman"/>
              </a:rPr>
              <a:t>after</a:t>
            </a:r>
            <a:r>
              <a:rPr dirty="0" sz="1050" spc="7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0E162A"/>
                </a:solidFill>
                <a:latin typeface="Times New Roman"/>
                <a:cs typeface="Times New Roman"/>
              </a:rPr>
              <a:t>reconnection.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473825" y="3811573"/>
            <a:ext cx="149098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>
                <a:solidFill>
                  <a:srgbClr val="0E756E"/>
                </a:solidFill>
                <a:latin typeface="Times New Roman"/>
                <a:cs typeface="Times New Roman"/>
              </a:rPr>
              <a:t>Graceful</a:t>
            </a:r>
            <a:r>
              <a:rPr dirty="0" sz="1150" spc="275">
                <a:solidFill>
                  <a:srgbClr val="0E756E"/>
                </a:solidFill>
                <a:latin typeface="Times New Roman"/>
                <a:cs typeface="Times New Roman"/>
              </a:rPr>
              <a:t> </a:t>
            </a:r>
            <a:r>
              <a:rPr dirty="0" sz="1150" spc="45">
                <a:solidFill>
                  <a:srgbClr val="0E756E"/>
                </a:solidFill>
                <a:latin typeface="Times New Roman"/>
                <a:cs typeface="Times New Roman"/>
              </a:rPr>
              <a:t>Degradation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73825" y="4053584"/>
            <a:ext cx="4413250" cy="4635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114">
                <a:solidFill>
                  <a:srgbClr val="0E162A"/>
                </a:solidFill>
                <a:latin typeface="Times New Roman"/>
                <a:cs typeface="Times New Roman"/>
              </a:rPr>
              <a:t>Loss</a:t>
            </a:r>
            <a:r>
              <a:rPr dirty="0" sz="1050" spc="1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of</a:t>
            </a:r>
            <a:r>
              <a:rPr dirty="0" sz="105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0E162A"/>
                </a:solidFill>
                <a:latin typeface="Times New Roman"/>
                <a:cs typeface="Times New Roman"/>
              </a:rPr>
              <a:t>connectivity</a:t>
            </a:r>
            <a:r>
              <a:rPr dirty="0" sz="105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0E162A"/>
                </a:solidFill>
                <a:latin typeface="Times New Roman"/>
                <a:cs typeface="Times New Roman"/>
              </a:rPr>
              <a:t>reduces</a:t>
            </a:r>
            <a:r>
              <a:rPr dirty="0" sz="105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0E162A"/>
                </a:solidFill>
                <a:latin typeface="Times New Roman"/>
                <a:cs typeface="Times New Roman"/>
              </a:rPr>
              <a:t>remote</a:t>
            </a:r>
            <a:r>
              <a:rPr dirty="0" sz="1050" spc="7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E162A"/>
                </a:solidFill>
                <a:latin typeface="Times New Roman"/>
                <a:cs typeface="Times New Roman"/>
              </a:rPr>
              <a:t>visibil</a:t>
            </a:r>
            <a:r>
              <a:rPr dirty="0" sz="1050" spc="-1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0">
                <a:solidFill>
                  <a:srgbClr val="0E162A"/>
                </a:solidFill>
                <a:latin typeface="Times New Roman"/>
                <a:cs typeface="Times New Roman"/>
              </a:rPr>
              <a:t>ity</a:t>
            </a:r>
            <a:r>
              <a:rPr dirty="0" sz="105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but</a:t>
            </a:r>
            <a:r>
              <a:rPr dirty="0" sz="105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0E162A"/>
                </a:solidFill>
                <a:latin typeface="Times New Roman"/>
                <a:cs typeface="Times New Roman"/>
              </a:rPr>
              <a:t>does</a:t>
            </a:r>
            <a:r>
              <a:rPr dirty="0" sz="105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0E162A"/>
                </a:solidFill>
                <a:latin typeface="Times New Roman"/>
                <a:cs typeface="Times New Roman"/>
              </a:rPr>
              <a:t>not</a:t>
            </a:r>
            <a:r>
              <a:rPr dirty="0" sz="10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140">
                <a:solidFill>
                  <a:srgbClr val="0E162A"/>
                </a:solidFill>
                <a:latin typeface="Times New Roman"/>
                <a:cs typeface="Times New Roman"/>
              </a:rPr>
              <a:t>stop</a:t>
            </a:r>
            <a:r>
              <a:rPr dirty="0" sz="10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80">
                <a:solidFill>
                  <a:srgbClr val="0E162A"/>
                </a:solidFill>
                <a:latin typeface="Times New Roman"/>
                <a:cs typeface="Times New Roman"/>
              </a:rPr>
              <a:t>l</a:t>
            </a:r>
            <a:r>
              <a:rPr dirty="0" sz="1050" spc="-1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0E162A"/>
                </a:solidFill>
                <a:latin typeface="Times New Roman"/>
                <a:cs typeface="Times New Roman"/>
              </a:rPr>
              <a:t>ocal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spc="80">
                <a:solidFill>
                  <a:srgbClr val="0E162A"/>
                </a:solidFill>
                <a:latin typeface="Times New Roman"/>
                <a:cs typeface="Times New Roman"/>
              </a:rPr>
              <a:t>monitoring</a:t>
            </a:r>
            <a:r>
              <a:rPr dirty="0" sz="10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0E162A"/>
                </a:solidFill>
                <a:latin typeface="Times New Roman"/>
                <a:cs typeface="Times New Roman"/>
              </a:rPr>
              <a:t>or</a:t>
            </a:r>
            <a:r>
              <a:rPr dirty="0" sz="105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75">
                <a:solidFill>
                  <a:srgbClr val="0E162A"/>
                </a:solidFill>
                <a:latin typeface="Times New Roman"/>
                <a:cs typeface="Times New Roman"/>
              </a:rPr>
              <a:t>erase</a:t>
            </a:r>
            <a:r>
              <a:rPr dirty="0" sz="10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E162A"/>
                </a:solidFill>
                <a:latin typeface="Times New Roman"/>
                <a:cs typeface="Times New Roman"/>
              </a:rPr>
              <a:t>evidence.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839200" y="380999"/>
            <a:ext cx="2971800" cy="333375"/>
          </a:xfrm>
          <a:custGeom>
            <a:avLst/>
            <a:gdLst/>
            <a:ahLst/>
            <a:cxnLst/>
            <a:rect l="l" t="t" r="r" b="b"/>
            <a:pathLst>
              <a:path w="2971800" h="333375">
                <a:moveTo>
                  <a:pt x="29387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2938754" y="333375"/>
                </a:lnTo>
                <a:lnTo>
                  <a:pt x="2970834" y="305181"/>
                </a:lnTo>
                <a:lnTo>
                  <a:pt x="2971800" y="300329"/>
                </a:lnTo>
                <a:lnTo>
                  <a:pt x="2971800" y="33045"/>
                </a:lnTo>
                <a:lnTo>
                  <a:pt x="2943606" y="965"/>
                </a:lnTo>
                <a:lnTo>
                  <a:pt x="29387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8978900" y="457919"/>
            <a:ext cx="269494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140">
                <a:solidFill>
                  <a:srgbClr val="D97705"/>
                </a:solidFill>
                <a:latin typeface="Times New Roman"/>
                <a:cs typeface="Times New Roman"/>
              </a:rPr>
              <a:t>4.</a:t>
            </a:r>
            <a:r>
              <a:rPr dirty="0" sz="1000" spc="39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20">
                <a:solidFill>
                  <a:srgbClr val="D97705"/>
                </a:solidFill>
                <a:latin typeface="Times New Roman"/>
                <a:cs typeface="Times New Roman"/>
              </a:rPr>
              <a:t>HARDWARE</a:t>
            </a:r>
            <a:r>
              <a:rPr dirty="0" sz="1000" spc="24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INTERFACING</a:t>
            </a:r>
            <a:r>
              <a:rPr dirty="0" sz="1000" spc="22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&amp;</a:t>
            </a:r>
            <a:r>
              <a:rPr dirty="0" sz="1000" spc="16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Times New Roman"/>
                <a:cs typeface="Times New Roman"/>
              </a:rPr>
              <a:t>PROTOTYPE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49300" y="6286468"/>
            <a:ext cx="26968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SRS</a:t>
            </a:r>
            <a:r>
              <a:rPr dirty="0" sz="1050" spc="-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Section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10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data_lifecycle.mmd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883896" y="6286468"/>
            <a:ext cx="5632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Slide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465469"/>
                </a:solidFill>
                <a:latin typeface="Courier New"/>
                <a:cs typeface="Courier New"/>
              </a:rPr>
              <a:t>6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28599"/>
            <a:ext cx="47625" cy="247650"/>
          </a:xfrm>
          <a:custGeom>
            <a:avLst/>
            <a:gdLst/>
            <a:ahLst/>
            <a:cxnLst/>
            <a:rect l="l" t="t" r="r" b="b"/>
            <a:pathLst>
              <a:path w="47625" h="247650">
                <a:moveTo>
                  <a:pt x="47625" y="0"/>
                </a:moveTo>
                <a:lnTo>
                  <a:pt x="0" y="0"/>
                </a:lnTo>
                <a:lnTo>
                  <a:pt x="0" y="247650"/>
                </a:lnTo>
                <a:lnTo>
                  <a:pt x="47625" y="247650"/>
                </a:lnTo>
                <a:lnTo>
                  <a:pt x="47625" y="0"/>
                </a:lnTo>
                <a:close/>
              </a:path>
            </a:pathLst>
          </a:custGeom>
          <a:solidFill>
            <a:srgbClr val="D977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50" spc="185"/>
              <a:t>Partial</a:t>
            </a:r>
            <a:r>
              <a:rPr dirty="0" sz="1750" spc="155"/>
              <a:t> </a:t>
            </a:r>
            <a:r>
              <a:rPr dirty="0" sz="1750" spc="229"/>
              <a:t>Implementation</a:t>
            </a:r>
            <a:r>
              <a:rPr dirty="0" sz="1750" spc="50"/>
              <a:t> </a:t>
            </a:r>
            <a:r>
              <a:rPr dirty="0" sz="1750" spc="90"/>
              <a:t>Evidence</a:t>
            </a:r>
            <a:endParaRPr sz="1750"/>
          </a:p>
        </p:txBody>
      </p:sp>
      <p:grpSp>
        <p:nvGrpSpPr>
          <p:cNvPr id="4" name="object 4"/>
          <p:cNvGrpSpPr/>
          <p:nvPr/>
        </p:nvGrpSpPr>
        <p:grpSpPr>
          <a:xfrm>
            <a:off x="457200" y="628649"/>
            <a:ext cx="5543550" cy="4886325"/>
            <a:chOff x="457200" y="628649"/>
            <a:chExt cx="5543550" cy="4886325"/>
          </a:xfrm>
        </p:grpSpPr>
        <p:sp>
          <p:nvSpPr>
            <p:cNvPr id="5" name="object 5"/>
            <p:cNvSpPr/>
            <p:nvPr/>
          </p:nvSpPr>
          <p:spPr>
            <a:xfrm>
              <a:off x="461962" y="633412"/>
              <a:ext cx="5534025" cy="4876800"/>
            </a:xfrm>
            <a:custGeom>
              <a:avLst/>
              <a:gdLst/>
              <a:ahLst/>
              <a:cxnLst/>
              <a:rect l="l" t="t" r="r" b="b"/>
              <a:pathLst>
                <a:path w="5534025" h="4876800">
                  <a:moveTo>
                    <a:pt x="5485079" y="0"/>
                  </a:moveTo>
                  <a:lnTo>
                    <a:pt x="48949" y="0"/>
                  </a:lnTo>
                  <a:lnTo>
                    <a:pt x="45540" y="342"/>
                  </a:lnTo>
                  <a:lnTo>
                    <a:pt x="10740" y="20421"/>
                  </a:lnTo>
                  <a:lnTo>
                    <a:pt x="0" y="48945"/>
                  </a:lnTo>
                  <a:lnTo>
                    <a:pt x="0" y="4824412"/>
                  </a:lnTo>
                  <a:lnTo>
                    <a:pt x="0" y="4827854"/>
                  </a:lnTo>
                  <a:lnTo>
                    <a:pt x="17774" y="4863884"/>
                  </a:lnTo>
                  <a:lnTo>
                    <a:pt x="48949" y="4876800"/>
                  </a:lnTo>
                  <a:lnTo>
                    <a:pt x="5485079" y="4876800"/>
                  </a:lnTo>
                  <a:lnTo>
                    <a:pt x="5521109" y="4859020"/>
                  </a:lnTo>
                  <a:lnTo>
                    <a:pt x="5534025" y="4827854"/>
                  </a:lnTo>
                  <a:lnTo>
                    <a:pt x="5534025" y="48945"/>
                  </a:lnTo>
                  <a:lnTo>
                    <a:pt x="5516245" y="12915"/>
                  </a:lnTo>
                  <a:lnTo>
                    <a:pt x="5488482" y="342"/>
                  </a:lnTo>
                  <a:lnTo>
                    <a:pt x="548507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1962" y="633412"/>
              <a:ext cx="5534025" cy="4876800"/>
            </a:xfrm>
            <a:custGeom>
              <a:avLst/>
              <a:gdLst/>
              <a:ahLst/>
              <a:cxnLst/>
              <a:rect l="l" t="t" r="r" b="b"/>
              <a:pathLst>
                <a:path w="5534025" h="4876800">
                  <a:moveTo>
                    <a:pt x="0" y="4824412"/>
                  </a:moveTo>
                  <a:lnTo>
                    <a:pt x="0" y="52387"/>
                  </a:lnTo>
                  <a:lnTo>
                    <a:pt x="0" y="48945"/>
                  </a:lnTo>
                  <a:lnTo>
                    <a:pt x="337" y="45542"/>
                  </a:lnTo>
                  <a:lnTo>
                    <a:pt x="1007" y="42164"/>
                  </a:lnTo>
                  <a:lnTo>
                    <a:pt x="1676" y="38798"/>
                  </a:lnTo>
                  <a:lnTo>
                    <a:pt x="2669" y="35509"/>
                  </a:lnTo>
                  <a:lnTo>
                    <a:pt x="3989" y="32334"/>
                  </a:lnTo>
                  <a:lnTo>
                    <a:pt x="5303" y="29159"/>
                  </a:lnTo>
                  <a:lnTo>
                    <a:pt x="32340" y="3987"/>
                  </a:lnTo>
                  <a:lnTo>
                    <a:pt x="35515" y="2667"/>
                  </a:lnTo>
                  <a:lnTo>
                    <a:pt x="38794" y="1676"/>
                  </a:lnTo>
                  <a:lnTo>
                    <a:pt x="42167" y="1003"/>
                  </a:lnTo>
                  <a:lnTo>
                    <a:pt x="45540" y="342"/>
                  </a:lnTo>
                  <a:lnTo>
                    <a:pt x="48949" y="0"/>
                  </a:lnTo>
                  <a:lnTo>
                    <a:pt x="52387" y="0"/>
                  </a:lnTo>
                  <a:lnTo>
                    <a:pt x="5481637" y="0"/>
                  </a:lnTo>
                  <a:lnTo>
                    <a:pt x="5485079" y="0"/>
                  </a:lnTo>
                  <a:lnTo>
                    <a:pt x="5488482" y="342"/>
                  </a:lnTo>
                  <a:lnTo>
                    <a:pt x="5523280" y="20421"/>
                  </a:lnTo>
                  <a:lnTo>
                    <a:pt x="5534025" y="48945"/>
                  </a:lnTo>
                  <a:lnTo>
                    <a:pt x="5534025" y="52387"/>
                  </a:lnTo>
                  <a:lnTo>
                    <a:pt x="5534025" y="4824412"/>
                  </a:lnTo>
                  <a:lnTo>
                    <a:pt x="5534025" y="4827854"/>
                  </a:lnTo>
                  <a:lnTo>
                    <a:pt x="5533682" y="4831257"/>
                  </a:lnTo>
                  <a:lnTo>
                    <a:pt x="5513603" y="4866055"/>
                  </a:lnTo>
                  <a:lnTo>
                    <a:pt x="5485079" y="4876800"/>
                  </a:lnTo>
                  <a:lnTo>
                    <a:pt x="5481637" y="4876800"/>
                  </a:lnTo>
                  <a:lnTo>
                    <a:pt x="52387" y="4876800"/>
                  </a:lnTo>
                  <a:lnTo>
                    <a:pt x="48949" y="4876800"/>
                  </a:lnTo>
                  <a:lnTo>
                    <a:pt x="45540" y="4876457"/>
                  </a:lnTo>
                  <a:lnTo>
                    <a:pt x="10740" y="4856378"/>
                  </a:lnTo>
                  <a:lnTo>
                    <a:pt x="0" y="4827854"/>
                  </a:lnTo>
                  <a:lnTo>
                    <a:pt x="0" y="482441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587375" y="754048"/>
            <a:ext cx="128270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55">
                <a:solidFill>
                  <a:srgbClr val="0A1E36"/>
                </a:solidFill>
                <a:latin typeface="Times New Roman"/>
                <a:cs typeface="Times New Roman"/>
              </a:rPr>
              <a:t>Edge</a:t>
            </a:r>
            <a:r>
              <a:rPr dirty="0" sz="1150" spc="1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0A1E36"/>
                </a:solidFill>
                <a:latin typeface="Times New Roman"/>
                <a:cs typeface="Times New Roman"/>
              </a:rPr>
              <a:t>Core</a:t>
            </a:r>
            <a:r>
              <a:rPr dirty="0" sz="1150" spc="1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0A1E36"/>
                </a:solidFill>
                <a:latin typeface="Times New Roman"/>
                <a:cs typeface="Times New Roman"/>
              </a:rPr>
              <a:t>Module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14950" y="781049"/>
            <a:ext cx="542925" cy="161925"/>
          </a:xfrm>
          <a:custGeom>
            <a:avLst/>
            <a:gdLst/>
            <a:ahLst/>
            <a:cxnLst/>
            <a:rect l="l" t="t" r="r" b="b"/>
            <a:pathLst>
              <a:path w="542925" h="161925">
                <a:moveTo>
                  <a:pt x="467271" y="0"/>
                </a:moveTo>
                <a:lnTo>
                  <a:pt x="75641" y="0"/>
                </a:lnTo>
                <a:lnTo>
                  <a:pt x="70383" y="520"/>
                </a:lnTo>
                <a:lnTo>
                  <a:pt x="31559" y="16598"/>
                </a:lnTo>
                <a:lnTo>
                  <a:pt x="4127" y="54889"/>
                </a:lnTo>
                <a:lnTo>
                  <a:pt x="0" y="75641"/>
                </a:lnTo>
                <a:lnTo>
                  <a:pt x="0" y="80962"/>
                </a:lnTo>
                <a:lnTo>
                  <a:pt x="0" y="86271"/>
                </a:lnTo>
                <a:lnTo>
                  <a:pt x="16598" y="130365"/>
                </a:lnTo>
                <a:lnTo>
                  <a:pt x="54889" y="157797"/>
                </a:lnTo>
                <a:lnTo>
                  <a:pt x="75641" y="161925"/>
                </a:lnTo>
                <a:lnTo>
                  <a:pt x="467271" y="161925"/>
                </a:lnTo>
                <a:lnTo>
                  <a:pt x="511365" y="145326"/>
                </a:lnTo>
                <a:lnTo>
                  <a:pt x="538797" y="107035"/>
                </a:lnTo>
                <a:lnTo>
                  <a:pt x="542925" y="86271"/>
                </a:lnTo>
                <a:lnTo>
                  <a:pt x="542925" y="75641"/>
                </a:lnTo>
                <a:lnTo>
                  <a:pt x="526326" y="31559"/>
                </a:lnTo>
                <a:lnTo>
                  <a:pt x="488035" y="4127"/>
                </a:lnTo>
                <a:lnTo>
                  <a:pt x="472541" y="520"/>
                </a:lnTo>
                <a:lnTo>
                  <a:pt x="467271" y="0"/>
                </a:lnTo>
                <a:close/>
              </a:path>
            </a:pathLst>
          </a:custGeom>
          <a:solidFill>
            <a:srgbClr val="0E75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359400" y="787567"/>
            <a:ext cx="457200" cy="139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750" spc="-10">
                <a:solidFill>
                  <a:srgbClr val="FFFFFF"/>
                </a:solidFill>
                <a:latin typeface="Times New Roman"/>
                <a:cs typeface="Times New Roman"/>
              </a:rPr>
              <a:t>VERIFIED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0075" y="1047749"/>
            <a:ext cx="5257800" cy="1323975"/>
          </a:xfrm>
          <a:custGeom>
            <a:avLst/>
            <a:gdLst/>
            <a:ahLst/>
            <a:cxnLst/>
            <a:rect l="l" t="t" r="r" b="b"/>
            <a:pathLst>
              <a:path w="5257800" h="1323975">
                <a:moveTo>
                  <a:pt x="5224754" y="0"/>
                </a:moveTo>
                <a:lnTo>
                  <a:pt x="33049" y="0"/>
                </a:lnTo>
                <a:lnTo>
                  <a:pt x="28187" y="965"/>
                </a:lnTo>
                <a:lnTo>
                  <a:pt x="967" y="28194"/>
                </a:lnTo>
                <a:lnTo>
                  <a:pt x="0" y="33045"/>
                </a:lnTo>
                <a:lnTo>
                  <a:pt x="0" y="1285875"/>
                </a:lnTo>
                <a:lnTo>
                  <a:pt x="0" y="1290929"/>
                </a:lnTo>
                <a:lnTo>
                  <a:pt x="28187" y="1323009"/>
                </a:lnTo>
                <a:lnTo>
                  <a:pt x="33049" y="1323975"/>
                </a:lnTo>
                <a:lnTo>
                  <a:pt x="5224754" y="1323975"/>
                </a:lnTo>
                <a:lnTo>
                  <a:pt x="5256834" y="1295781"/>
                </a:lnTo>
                <a:lnTo>
                  <a:pt x="5257800" y="1290929"/>
                </a:lnTo>
                <a:lnTo>
                  <a:pt x="5257800" y="33045"/>
                </a:lnTo>
                <a:lnTo>
                  <a:pt x="5229606" y="965"/>
                </a:lnTo>
                <a:lnTo>
                  <a:pt x="52247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82625" y="1113155"/>
            <a:ext cx="2955925" cy="45402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class</a:t>
            </a:r>
            <a:r>
              <a:rPr dirty="0" sz="800" spc="26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LocalStore:</a:t>
            </a:r>
            <a:endParaRPr sz="800">
              <a:latin typeface="Courier New"/>
              <a:cs typeface="Courier New"/>
            </a:endParaRPr>
          </a:p>
          <a:p>
            <a:pPr marL="278765" marR="5080" indent="-133350">
              <a:lnSpc>
                <a:spcPct val="117200"/>
              </a:lnSpc>
            </a:pP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def</a:t>
            </a:r>
            <a:r>
              <a:rPr dirty="0" sz="800" spc="35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add(self,</a:t>
            </a:r>
            <a:r>
              <a:rPr dirty="0" sz="800" spc="35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event_id,</a:t>
            </a:r>
            <a:r>
              <a:rPr dirty="0" sz="800" spc="35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sample,</a:t>
            </a:r>
            <a:r>
              <a:rPr dirty="0" sz="800" spc="35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decision): </a:t>
            </a:r>
            <a:r>
              <a:rPr dirty="0" sz="800" spc="20">
                <a:solidFill>
                  <a:srgbClr val="F8FAFC"/>
                </a:solidFill>
                <a:latin typeface="Courier New"/>
                <a:cs typeface="Courier New"/>
              </a:rPr>
              <a:t>self.db.execute("INSERT</a:t>
            </a:r>
            <a:r>
              <a:rPr dirty="0" sz="800" spc="33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20">
                <a:solidFill>
                  <a:srgbClr val="F8FAFC"/>
                </a:solidFill>
                <a:latin typeface="Courier New"/>
                <a:cs typeface="Courier New"/>
              </a:rPr>
              <a:t>OR</a:t>
            </a:r>
            <a:r>
              <a:rPr dirty="0" sz="800" spc="34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IGNORE...")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2625" y="1684654"/>
            <a:ext cx="2289175" cy="58737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class</a:t>
            </a:r>
            <a:r>
              <a:rPr dirty="0" sz="800" spc="26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HybridDetector:</a:t>
            </a:r>
            <a:endParaRPr sz="800">
              <a:latin typeface="Courier New"/>
              <a:cs typeface="Courier New"/>
            </a:endParaRPr>
          </a:p>
          <a:p>
            <a:pPr marL="278765" marR="5080" indent="-133350">
              <a:lnSpc>
                <a:spcPct val="113300"/>
              </a:lnSpc>
              <a:spcBef>
                <a:spcPts val="35"/>
              </a:spcBef>
            </a:pPr>
            <a:r>
              <a:rPr dirty="0" sz="800" spc="10">
                <a:solidFill>
                  <a:srgbClr val="F8FAFC"/>
                </a:solidFill>
                <a:latin typeface="Courier New"/>
                <a:cs typeface="Courier New"/>
              </a:rPr>
              <a:t>def</a:t>
            </a:r>
            <a:r>
              <a:rPr dirty="0" sz="800" spc="33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10">
                <a:solidFill>
                  <a:srgbClr val="F8FAFC"/>
                </a:solidFill>
                <a:latin typeface="Courier New"/>
                <a:cs typeface="Courier New"/>
              </a:rPr>
              <a:t>evaluate(self,</a:t>
            </a:r>
            <a:r>
              <a:rPr dirty="0" sz="800" spc="33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sample):</a:t>
            </a:r>
            <a:r>
              <a:rPr dirty="0" sz="800" spc="50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status</a:t>
            </a:r>
            <a:r>
              <a:rPr dirty="0" sz="800" spc="19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=</a:t>
            </a:r>
            <a:r>
              <a:rPr dirty="0" sz="800" spc="200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self._quality(sample)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processed</a:t>
            </a:r>
            <a:r>
              <a:rPr dirty="0" sz="800" spc="26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F8FAFC"/>
                </a:solidFill>
                <a:latin typeface="Courier New"/>
                <a:cs typeface="Courier New"/>
              </a:rPr>
              <a:t>=</a:t>
            </a:r>
            <a:r>
              <a:rPr dirty="0" sz="800" spc="265">
                <a:solidFill>
                  <a:srgbClr val="F8FAFC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F8FAFC"/>
                </a:solidFill>
                <a:latin typeface="Courier New"/>
                <a:cs typeface="Courier New"/>
              </a:rPr>
              <a:t>median(history)</a:t>
            </a:r>
            <a:endParaRPr sz="8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0075" y="2466975"/>
            <a:ext cx="5257800" cy="2905125"/>
          </a:xfrm>
          <a:custGeom>
            <a:avLst/>
            <a:gdLst/>
            <a:ahLst/>
            <a:cxnLst/>
            <a:rect l="l" t="t" r="r" b="b"/>
            <a:pathLst>
              <a:path w="5257800" h="2905125">
                <a:moveTo>
                  <a:pt x="5224754" y="0"/>
                </a:moveTo>
                <a:lnTo>
                  <a:pt x="33049" y="0"/>
                </a:lnTo>
                <a:lnTo>
                  <a:pt x="28187" y="965"/>
                </a:lnTo>
                <a:lnTo>
                  <a:pt x="967" y="28194"/>
                </a:lnTo>
                <a:lnTo>
                  <a:pt x="0" y="33045"/>
                </a:lnTo>
                <a:lnTo>
                  <a:pt x="0" y="2867025"/>
                </a:lnTo>
                <a:lnTo>
                  <a:pt x="0" y="2872079"/>
                </a:lnTo>
                <a:lnTo>
                  <a:pt x="28187" y="2904159"/>
                </a:lnTo>
                <a:lnTo>
                  <a:pt x="33049" y="2905125"/>
                </a:lnTo>
                <a:lnTo>
                  <a:pt x="5224754" y="2905125"/>
                </a:lnTo>
                <a:lnTo>
                  <a:pt x="5256834" y="2876931"/>
                </a:lnTo>
                <a:lnTo>
                  <a:pt x="5257800" y="2872079"/>
                </a:lnTo>
                <a:lnTo>
                  <a:pt x="5257800" y="33045"/>
                </a:lnTo>
                <a:lnTo>
                  <a:pt x="5229606" y="965"/>
                </a:lnTo>
                <a:lnTo>
                  <a:pt x="5224754" y="0"/>
                </a:lnTo>
                <a:close/>
              </a:path>
            </a:pathLst>
          </a:custGeom>
          <a:solidFill>
            <a:srgbClr val="1E293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82625" y="2701925"/>
            <a:ext cx="2355850" cy="2437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solidFill>
                  <a:srgbClr val="0FB880"/>
                </a:solidFill>
                <a:latin typeface="Courier New"/>
                <a:cs typeface="Courier New"/>
              </a:rPr>
              <a:t>$</a:t>
            </a:r>
            <a:r>
              <a:rPr dirty="0" sz="800" spc="22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dirty="0" sz="800">
                <a:solidFill>
                  <a:srgbClr val="0FB880"/>
                </a:solidFill>
                <a:latin typeface="Courier New"/>
                <a:cs typeface="Courier New"/>
              </a:rPr>
              <a:t>python3</a:t>
            </a:r>
            <a:r>
              <a:rPr dirty="0" sz="800" spc="22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FB880"/>
                </a:solidFill>
                <a:latin typeface="Courier New"/>
                <a:cs typeface="Courier New"/>
              </a:rPr>
              <a:t>edge_monitor.py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800" spc="-50">
                <a:solidFill>
                  <a:srgbClr val="0FB880"/>
                </a:solidFill>
                <a:latin typeface="Courier New"/>
                <a:cs typeface="Courier New"/>
              </a:rPr>
              <a:t>[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8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</a:pPr>
            <a:r>
              <a:rPr dirty="0" sz="800" spc="-50">
                <a:solidFill>
                  <a:srgbClr val="0FB880"/>
                </a:solidFill>
                <a:latin typeface="Courier New"/>
                <a:cs typeface="Courier New"/>
              </a:rPr>
              <a:t>{</a:t>
            </a:r>
            <a:endParaRPr sz="800">
              <a:latin typeface="Courier New"/>
              <a:cs typeface="Courier New"/>
            </a:endParaRPr>
          </a:p>
          <a:p>
            <a:pPr marL="278765" marR="5080">
              <a:lnSpc>
                <a:spcPct val="234400"/>
              </a:lnSpc>
            </a:pPr>
            <a:r>
              <a:rPr dirty="0" sz="800">
                <a:solidFill>
                  <a:srgbClr val="0FB880"/>
                </a:solidFill>
                <a:latin typeface="Courier New"/>
                <a:cs typeface="Courier New"/>
              </a:rPr>
              <a:t>"sensor":</a:t>
            </a:r>
            <a:r>
              <a:rPr dirty="0" sz="800" spc="44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FB880"/>
                </a:solidFill>
                <a:latin typeface="Courier New"/>
                <a:cs typeface="Courier New"/>
              </a:rPr>
              <a:t>"spo2", </a:t>
            </a:r>
            <a:r>
              <a:rPr dirty="0" sz="800" spc="20">
                <a:solidFill>
                  <a:srgbClr val="0FB880"/>
                </a:solidFill>
                <a:latin typeface="Courier New"/>
                <a:cs typeface="Courier New"/>
              </a:rPr>
              <a:t>"quality_status":</a:t>
            </a:r>
            <a:r>
              <a:rPr dirty="0" sz="800" spc="45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FB880"/>
                </a:solidFill>
                <a:latin typeface="Courier New"/>
                <a:cs typeface="Courier New"/>
              </a:rPr>
              <a:t>"ACCEPTABLE", </a:t>
            </a:r>
            <a:r>
              <a:rPr dirty="0" sz="800" spc="10">
                <a:solidFill>
                  <a:srgbClr val="0FB880"/>
                </a:solidFill>
                <a:latin typeface="Courier New"/>
                <a:cs typeface="Courier New"/>
              </a:rPr>
              <a:t>"sync_status":</a:t>
            </a:r>
            <a:r>
              <a:rPr dirty="0" sz="800" spc="20">
                <a:solidFill>
                  <a:srgbClr val="0FB880"/>
                </a:solidFill>
                <a:latin typeface="Courier New"/>
                <a:cs typeface="Courier New"/>
              </a:rPr>
              <a:t>  </a:t>
            </a:r>
            <a:r>
              <a:rPr dirty="0" sz="800" spc="-10">
                <a:solidFill>
                  <a:srgbClr val="0FB880"/>
                </a:solidFill>
                <a:latin typeface="Courier New"/>
                <a:cs typeface="Courier New"/>
              </a:rPr>
              <a:t>"PENDING"</a:t>
            </a:r>
            <a:endParaRPr sz="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800">
              <a:latin typeface="Courier New"/>
              <a:cs typeface="Courier New"/>
            </a:endParaRPr>
          </a:p>
          <a:p>
            <a:pPr marL="145415">
              <a:lnSpc>
                <a:spcPct val="100000"/>
              </a:lnSpc>
            </a:pPr>
            <a:r>
              <a:rPr dirty="0" sz="800" spc="-50">
                <a:solidFill>
                  <a:srgbClr val="0FB880"/>
                </a:solidFill>
                <a:latin typeface="Courier New"/>
                <a:cs typeface="Courier New"/>
              </a:rPr>
              <a:t>}</a:t>
            </a:r>
            <a:endParaRPr sz="800">
              <a:latin typeface="Courier New"/>
              <a:cs typeface="Courier New"/>
            </a:endParaRPr>
          </a:p>
          <a:p>
            <a:pPr marL="12700" marR="1339215">
              <a:lnSpc>
                <a:spcPct val="234400"/>
              </a:lnSpc>
            </a:pPr>
            <a:r>
              <a:rPr dirty="0" sz="800" spc="-50">
                <a:solidFill>
                  <a:srgbClr val="0FB880"/>
                </a:solidFill>
                <a:latin typeface="Courier New"/>
                <a:cs typeface="Courier New"/>
              </a:rPr>
              <a:t>]</a:t>
            </a:r>
            <a:r>
              <a:rPr dirty="0" sz="800" spc="500">
                <a:solidFill>
                  <a:srgbClr val="0FB880"/>
                </a:solidFill>
                <a:latin typeface="Courier New"/>
                <a:cs typeface="Courier New"/>
              </a:rPr>
              <a:t> </a:t>
            </a:r>
            <a:r>
              <a:rPr dirty="0" sz="800" spc="-10">
                <a:solidFill>
                  <a:srgbClr val="0FB880"/>
                </a:solidFill>
                <a:latin typeface="Courier New"/>
                <a:cs typeface="Courier New"/>
              </a:rPr>
              <a:t>PY_COMPILE=PASS</a:t>
            </a:r>
            <a:endParaRPr sz="800">
              <a:latin typeface="Courier New"/>
              <a:cs typeface="Courier New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91250" y="628649"/>
            <a:ext cx="5543550" cy="2114550"/>
            <a:chOff x="6191250" y="628649"/>
            <a:chExt cx="5543550" cy="2114550"/>
          </a:xfrm>
        </p:grpSpPr>
        <p:sp>
          <p:nvSpPr>
            <p:cNvPr id="16" name="object 16"/>
            <p:cNvSpPr/>
            <p:nvPr/>
          </p:nvSpPr>
          <p:spPr>
            <a:xfrm>
              <a:off x="6196012" y="633412"/>
              <a:ext cx="5534025" cy="2105025"/>
            </a:xfrm>
            <a:custGeom>
              <a:avLst/>
              <a:gdLst/>
              <a:ahLst/>
              <a:cxnLst/>
              <a:rect l="l" t="t" r="r" b="b"/>
              <a:pathLst>
                <a:path w="5534025" h="2105025">
                  <a:moveTo>
                    <a:pt x="5485079" y="0"/>
                  </a:moveTo>
                  <a:lnTo>
                    <a:pt x="48945" y="0"/>
                  </a:lnTo>
                  <a:lnTo>
                    <a:pt x="45542" y="342"/>
                  </a:lnTo>
                  <a:lnTo>
                    <a:pt x="10744" y="20421"/>
                  </a:lnTo>
                  <a:lnTo>
                    <a:pt x="0" y="48945"/>
                  </a:lnTo>
                  <a:lnTo>
                    <a:pt x="0" y="2052637"/>
                  </a:lnTo>
                  <a:lnTo>
                    <a:pt x="0" y="2056079"/>
                  </a:lnTo>
                  <a:lnTo>
                    <a:pt x="17780" y="2092109"/>
                  </a:lnTo>
                  <a:lnTo>
                    <a:pt x="48945" y="2105025"/>
                  </a:lnTo>
                  <a:lnTo>
                    <a:pt x="5485079" y="2105025"/>
                  </a:lnTo>
                  <a:lnTo>
                    <a:pt x="5521109" y="2087245"/>
                  </a:lnTo>
                  <a:lnTo>
                    <a:pt x="5534025" y="2056079"/>
                  </a:lnTo>
                  <a:lnTo>
                    <a:pt x="5534025" y="48945"/>
                  </a:lnTo>
                  <a:lnTo>
                    <a:pt x="5516245" y="12915"/>
                  </a:lnTo>
                  <a:lnTo>
                    <a:pt x="5488482" y="342"/>
                  </a:lnTo>
                  <a:lnTo>
                    <a:pt x="5485079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96012" y="633412"/>
              <a:ext cx="5534025" cy="2105025"/>
            </a:xfrm>
            <a:custGeom>
              <a:avLst/>
              <a:gdLst/>
              <a:ahLst/>
              <a:cxnLst/>
              <a:rect l="l" t="t" r="r" b="b"/>
              <a:pathLst>
                <a:path w="5534025" h="2105025">
                  <a:moveTo>
                    <a:pt x="0" y="2052637"/>
                  </a:moveTo>
                  <a:lnTo>
                    <a:pt x="0" y="52387"/>
                  </a:lnTo>
                  <a:lnTo>
                    <a:pt x="0" y="48945"/>
                  </a:lnTo>
                  <a:lnTo>
                    <a:pt x="330" y="45542"/>
                  </a:lnTo>
                  <a:lnTo>
                    <a:pt x="20421" y="10744"/>
                  </a:lnTo>
                  <a:lnTo>
                    <a:pt x="48945" y="0"/>
                  </a:lnTo>
                  <a:lnTo>
                    <a:pt x="52387" y="0"/>
                  </a:lnTo>
                  <a:lnTo>
                    <a:pt x="5481637" y="0"/>
                  </a:lnTo>
                  <a:lnTo>
                    <a:pt x="5485079" y="0"/>
                  </a:lnTo>
                  <a:lnTo>
                    <a:pt x="5488482" y="342"/>
                  </a:lnTo>
                  <a:lnTo>
                    <a:pt x="5523280" y="20421"/>
                  </a:lnTo>
                  <a:lnTo>
                    <a:pt x="5534025" y="48945"/>
                  </a:lnTo>
                  <a:lnTo>
                    <a:pt x="5534025" y="52387"/>
                  </a:lnTo>
                  <a:lnTo>
                    <a:pt x="5534025" y="2052637"/>
                  </a:lnTo>
                  <a:lnTo>
                    <a:pt x="5534025" y="2056079"/>
                  </a:lnTo>
                  <a:lnTo>
                    <a:pt x="5533682" y="2059482"/>
                  </a:lnTo>
                  <a:lnTo>
                    <a:pt x="5513603" y="2094280"/>
                  </a:lnTo>
                  <a:lnTo>
                    <a:pt x="5485079" y="2105025"/>
                  </a:lnTo>
                  <a:lnTo>
                    <a:pt x="5481637" y="2105025"/>
                  </a:lnTo>
                  <a:lnTo>
                    <a:pt x="52387" y="2105025"/>
                  </a:lnTo>
                  <a:lnTo>
                    <a:pt x="48945" y="2105025"/>
                  </a:lnTo>
                  <a:lnTo>
                    <a:pt x="45542" y="2104682"/>
                  </a:lnTo>
                  <a:lnTo>
                    <a:pt x="10744" y="2084603"/>
                  </a:lnTo>
                  <a:lnTo>
                    <a:pt x="0" y="2056079"/>
                  </a:lnTo>
                  <a:lnTo>
                    <a:pt x="0" y="2052637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321425" y="754048"/>
            <a:ext cx="1814830" cy="2032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80">
                <a:solidFill>
                  <a:srgbClr val="0A1E36"/>
                </a:solidFill>
                <a:latin typeface="Times New Roman"/>
                <a:cs typeface="Times New Roman"/>
              </a:rPr>
              <a:t>Implementation</a:t>
            </a:r>
            <a:r>
              <a:rPr dirty="0" sz="1150" spc="6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60">
                <a:solidFill>
                  <a:srgbClr val="0A1E36"/>
                </a:solidFill>
                <a:latin typeface="Times New Roman"/>
                <a:cs typeface="Times New Roman"/>
              </a:rPr>
              <a:t>Boundary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21425" y="1003739"/>
            <a:ext cx="4932045" cy="4254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000" spc="-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current</a:t>
            </a:r>
            <a:r>
              <a:rPr dirty="0" sz="100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Review-</a:t>
            </a:r>
            <a:r>
              <a:rPr dirty="0" sz="1000" spc="100">
                <a:solidFill>
                  <a:srgbClr val="0E162A"/>
                </a:solidFill>
                <a:latin typeface="Times New Roman"/>
                <a:cs typeface="Times New Roman"/>
              </a:rPr>
              <a:t>2</a:t>
            </a:r>
            <a:r>
              <a:rPr dirty="0" sz="100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0E162A"/>
                </a:solidFill>
                <a:latin typeface="Times New Roman"/>
                <a:cs typeface="Times New Roman"/>
              </a:rPr>
              <a:t>artifact</a:t>
            </a:r>
            <a:r>
              <a:rPr dirty="0" sz="1000" spc="8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demonstrates</a:t>
            </a:r>
            <a:r>
              <a:rPr dirty="0" sz="100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000" spc="-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0E162A"/>
                </a:solidFill>
                <a:latin typeface="Times New Roman"/>
                <a:cs typeface="Times New Roman"/>
              </a:rPr>
              <a:t>hardware-</a:t>
            </a:r>
            <a:r>
              <a:rPr dirty="0" sz="1000" spc="95">
                <a:solidFill>
                  <a:srgbClr val="0E162A"/>
                </a:solidFill>
                <a:latin typeface="Times New Roman"/>
                <a:cs typeface="Times New Roman"/>
              </a:rPr>
              <a:t>agnostic</a:t>
            </a:r>
            <a:r>
              <a:rPr dirty="0" sz="1000" spc="-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0E162A"/>
                </a:solidFill>
                <a:latin typeface="Times New Roman"/>
                <a:cs typeface="Times New Roman"/>
              </a:rPr>
              <a:t>edge</a:t>
            </a:r>
            <a:r>
              <a:rPr dirty="0" sz="10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core.</a:t>
            </a:r>
            <a:r>
              <a:rPr dirty="0" sz="1000" spc="1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0E162A"/>
                </a:solidFill>
                <a:latin typeface="Times New Roman"/>
                <a:cs typeface="Times New Roman"/>
              </a:rPr>
              <a:t>This</a:t>
            </a: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verifies</a:t>
            </a:r>
            <a:r>
              <a:rPr dirty="0" sz="1000" spc="2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00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data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model,</a:t>
            </a:r>
            <a:r>
              <a:rPr dirty="0" sz="1000" spc="10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local</a:t>
            </a:r>
            <a:r>
              <a:rPr dirty="0" sz="100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0E162A"/>
                </a:solidFill>
                <a:latin typeface="Times New Roman"/>
                <a:cs typeface="Times New Roman"/>
              </a:rPr>
              <a:t>persistence,</a:t>
            </a:r>
            <a:r>
              <a:rPr dirty="0" sz="1000" spc="10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000" spc="8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decision</a:t>
            </a:r>
            <a:r>
              <a:rPr dirty="0" sz="100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logic.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334125" y="1638300"/>
            <a:ext cx="5257800" cy="962025"/>
            <a:chOff x="6334125" y="1638300"/>
            <a:chExt cx="5257800" cy="962025"/>
          </a:xfrm>
        </p:grpSpPr>
        <p:sp>
          <p:nvSpPr>
            <p:cNvPr id="21" name="object 21"/>
            <p:cNvSpPr/>
            <p:nvPr/>
          </p:nvSpPr>
          <p:spPr>
            <a:xfrm>
              <a:off x="6338887" y="1643062"/>
              <a:ext cx="5248275" cy="952500"/>
            </a:xfrm>
            <a:custGeom>
              <a:avLst/>
              <a:gdLst/>
              <a:ahLst/>
              <a:cxnLst/>
              <a:rect l="l" t="t" r="r" b="b"/>
              <a:pathLst>
                <a:path w="5248275" h="952500">
                  <a:moveTo>
                    <a:pt x="5219357" y="0"/>
                  </a:moveTo>
                  <a:lnTo>
                    <a:pt x="28917" y="0"/>
                  </a:lnTo>
                  <a:lnTo>
                    <a:pt x="24663" y="838"/>
                  </a:lnTo>
                  <a:lnTo>
                    <a:pt x="0" y="28917"/>
                  </a:lnTo>
                  <a:lnTo>
                    <a:pt x="0" y="919162"/>
                  </a:lnTo>
                  <a:lnTo>
                    <a:pt x="0" y="923582"/>
                  </a:lnTo>
                  <a:lnTo>
                    <a:pt x="28917" y="952500"/>
                  </a:lnTo>
                  <a:lnTo>
                    <a:pt x="5219357" y="952500"/>
                  </a:lnTo>
                  <a:lnTo>
                    <a:pt x="5248275" y="923582"/>
                  </a:lnTo>
                  <a:lnTo>
                    <a:pt x="5248275" y="28917"/>
                  </a:lnTo>
                  <a:lnTo>
                    <a:pt x="5223611" y="838"/>
                  </a:lnTo>
                  <a:lnTo>
                    <a:pt x="5219357" y="0"/>
                  </a:lnTo>
                  <a:close/>
                </a:path>
              </a:pathLst>
            </a:custGeom>
            <a:solidFill>
              <a:srgbClr val="FFF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338887" y="1643062"/>
              <a:ext cx="5248275" cy="952500"/>
            </a:xfrm>
            <a:custGeom>
              <a:avLst/>
              <a:gdLst/>
              <a:ahLst/>
              <a:cxnLst/>
              <a:rect l="l" t="t" r="r" b="b"/>
              <a:pathLst>
                <a:path w="5248275" h="952500">
                  <a:moveTo>
                    <a:pt x="0" y="91916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38" y="24663"/>
                  </a:lnTo>
                  <a:lnTo>
                    <a:pt x="2540" y="20574"/>
                  </a:lnTo>
                  <a:lnTo>
                    <a:pt x="4229" y="16497"/>
                  </a:lnTo>
                  <a:lnTo>
                    <a:pt x="6642" y="12890"/>
                  </a:lnTo>
                  <a:lnTo>
                    <a:pt x="9766" y="9766"/>
                  </a:lnTo>
                  <a:lnTo>
                    <a:pt x="12890" y="6642"/>
                  </a:lnTo>
                  <a:lnTo>
                    <a:pt x="16497" y="4229"/>
                  </a:lnTo>
                  <a:lnTo>
                    <a:pt x="20574" y="2540"/>
                  </a:lnTo>
                  <a:lnTo>
                    <a:pt x="24663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5214937" y="0"/>
                  </a:lnTo>
                  <a:lnTo>
                    <a:pt x="5219357" y="0"/>
                  </a:lnTo>
                  <a:lnTo>
                    <a:pt x="5223611" y="838"/>
                  </a:lnTo>
                  <a:lnTo>
                    <a:pt x="5227688" y="2540"/>
                  </a:lnTo>
                  <a:lnTo>
                    <a:pt x="5231777" y="4229"/>
                  </a:lnTo>
                  <a:lnTo>
                    <a:pt x="5235384" y="6642"/>
                  </a:lnTo>
                  <a:lnTo>
                    <a:pt x="5238508" y="9766"/>
                  </a:lnTo>
                  <a:lnTo>
                    <a:pt x="5241632" y="12890"/>
                  </a:lnTo>
                  <a:lnTo>
                    <a:pt x="5244045" y="16497"/>
                  </a:lnTo>
                  <a:lnTo>
                    <a:pt x="5245735" y="20574"/>
                  </a:lnTo>
                  <a:lnTo>
                    <a:pt x="5247424" y="24663"/>
                  </a:lnTo>
                  <a:lnTo>
                    <a:pt x="5248275" y="28917"/>
                  </a:lnTo>
                  <a:lnTo>
                    <a:pt x="5248275" y="33337"/>
                  </a:lnTo>
                  <a:lnTo>
                    <a:pt x="5248275" y="919162"/>
                  </a:lnTo>
                  <a:lnTo>
                    <a:pt x="5248275" y="923582"/>
                  </a:lnTo>
                  <a:lnTo>
                    <a:pt x="5247424" y="927836"/>
                  </a:lnTo>
                  <a:lnTo>
                    <a:pt x="5245735" y="931913"/>
                  </a:lnTo>
                  <a:lnTo>
                    <a:pt x="5244045" y="936002"/>
                  </a:lnTo>
                  <a:lnTo>
                    <a:pt x="5241632" y="939609"/>
                  </a:lnTo>
                  <a:lnTo>
                    <a:pt x="5238508" y="942733"/>
                  </a:lnTo>
                  <a:lnTo>
                    <a:pt x="5235384" y="945857"/>
                  </a:lnTo>
                  <a:lnTo>
                    <a:pt x="5231777" y="948270"/>
                  </a:lnTo>
                  <a:lnTo>
                    <a:pt x="5227688" y="949960"/>
                  </a:lnTo>
                  <a:lnTo>
                    <a:pt x="5223611" y="951649"/>
                  </a:lnTo>
                  <a:lnTo>
                    <a:pt x="5219357" y="952500"/>
                  </a:lnTo>
                  <a:lnTo>
                    <a:pt x="5214937" y="952500"/>
                  </a:lnTo>
                  <a:lnTo>
                    <a:pt x="33337" y="952500"/>
                  </a:lnTo>
                  <a:lnTo>
                    <a:pt x="28917" y="952500"/>
                  </a:lnTo>
                  <a:lnTo>
                    <a:pt x="24663" y="951649"/>
                  </a:lnTo>
                  <a:lnTo>
                    <a:pt x="20574" y="949960"/>
                  </a:lnTo>
                  <a:lnTo>
                    <a:pt x="16497" y="948270"/>
                  </a:lnTo>
                  <a:lnTo>
                    <a:pt x="12890" y="945857"/>
                  </a:lnTo>
                  <a:lnTo>
                    <a:pt x="9766" y="942733"/>
                  </a:lnTo>
                  <a:lnTo>
                    <a:pt x="6642" y="939609"/>
                  </a:lnTo>
                  <a:lnTo>
                    <a:pt x="4229" y="936002"/>
                  </a:lnTo>
                  <a:lnTo>
                    <a:pt x="2540" y="931913"/>
                  </a:lnTo>
                  <a:lnTo>
                    <a:pt x="838" y="927836"/>
                  </a:lnTo>
                  <a:lnTo>
                    <a:pt x="0" y="923582"/>
                  </a:lnTo>
                  <a:lnTo>
                    <a:pt x="0" y="919162"/>
                  </a:lnTo>
                  <a:close/>
                </a:path>
              </a:pathLst>
            </a:custGeom>
            <a:ln w="9525">
              <a:solidFill>
                <a:srgbClr val="FDE68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445250" y="1743758"/>
            <a:ext cx="2244725" cy="741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130"/>
              </a:lnSpc>
              <a:spcBef>
                <a:spcPts val="95"/>
              </a:spcBef>
            </a:pP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Not</a:t>
            </a:r>
            <a:r>
              <a:rPr dirty="0" sz="950" spc="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65">
                <a:solidFill>
                  <a:srgbClr val="913F0D"/>
                </a:solidFill>
                <a:latin typeface="Times New Roman"/>
                <a:cs typeface="Times New Roman"/>
              </a:rPr>
              <a:t>yet</a:t>
            </a:r>
            <a:r>
              <a:rPr dirty="0" sz="950" spc="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45">
                <a:solidFill>
                  <a:srgbClr val="913F0D"/>
                </a:solidFill>
                <a:latin typeface="Times New Roman"/>
                <a:cs typeface="Times New Roman"/>
              </a:rPr>
              <a:t>demonstrated:</a:t>
            </a:r>
            <a:endParaRPr sz="950">
              <a:latin typeface="Times New Roman"/>
              <a:cs typeface="Times New Roman"/>
            </a:endParaRPr>
          </a:p>
          <a:p>
            <a:pPr marL="76835" indent="-64135">
              <a:lnSpc>
                <a:spcPts val="1125"/>
              </a:lnSpc>
              <a:buChar char="•"/>
              <a:tabLst>
                <a:tab pos="76835" algn="l"/>
              </a:tabLst>
            </a:pP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Physical</a:t>
            </a:r>
            <a:r>
              <a:rPr dirty="0" sz="950" spc="254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75">
                <a:solidFill>
                  <a:srgbClr val="913F0D"/>
                </a:solidFill>
                <a:latin typeface="Times New Roman"/>
                <a:cs typeface="Times New Roman"/>
              </a:rPr>
              <a:t>sensor</a:t>
            </a:r>
            <a:r>
              <a:rPr dirty="0" sz="950" spc="90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integration</a:t>
            </a:r>
            <a:r>
              <a:rPr dirty="0" sz="950" spc="180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-55">
                <a:solidFill>
                  <a:srgbClr val="913F0D"/>
                </a:solidFill>
                <a:latin typeface="Times New Roman"/>
                <a:cs typeface="Times New Roman"/>
              </a:rPr>
              <a:t>(MAX301</a:t>
            </a:r>
            <a:r>
              <a:rPr dirty="0" sz="950" spc="2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-25">
                <a:solidFill>
                  <a:srgbClr val="913F0D"/>
                </a:solidFill>
                <a:latin typeface="Times New Roman"/>
                <a:cs typeface="Times New Roman"/>
              </a:rPr>
              <a:t>02)</a:t>
            </a:r>
            <a:endParaRPr sz="950">
              <a:latin typeface="Times New Roman"/>
              <a:cs typeface="Times New Roman"/>
            </a:endParaRPr>
          </a:p>
          <a:p>
            <a:pPr marL="76835" indent="-64135">
              <a:lnSpc>
                <a:spcPts val="1125"/>
              </a:lnSpc>
              <a:buChar char="•"/>
              <a:tabLst>
                <a:tab pos="76835" algn="l"/>
              </a:tabLst>
            </a:pPr>
            <a:r>
              <a:rPr dirty="0" sz="950" spc="-20">
                <a:solidFill>
                  <a:srgbClr val="913F0D"/>
                </a:solidFill>
                <a:latin typeface="Times New Roman"/>
                <a:cs typeface="Times New Roman"/>
              </a:rPr>
              <a:t>Live</a:t>
            </a:r>
            <a:r>
              <a:rPr dirty="0" sz="950" spc="16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cloud</a:t>
            </a:r>
            <a:r>
              <a:rPr dirty="0" sz="950" spc="16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ingestion</a:t>
            </a:r>
            <a:r>
              <a:rPr dirty="0" sz="950" spc="18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-25">
                <a:solidFill>
                  <a:srgbClr val="913F0D"/>
                </a:solidFill>
                <a:latin typeface="Times New Roman"/>
                <a:cs typeface="Times New Roman"/>
              </a:rPr>
              <a:t>API</a:t>
            </a:r>
            <a:endParaRPr sz="950">
              <a:latin typeface="Times New Roman"/>
              <a:cs typeface="Times New Roman"/>
            </a:endParaRPr>
          </a:p>
          <a:p>
            <a:pPr marL="76835" indent="-64135">
              <a:lnSpc>
                <a:spcPts val="1125"/>
              </a:lnSpc>
              <a:buChar char="•"/>
              <a:tabLst>
                <a:tab pos="76835" algn="l"/>
              </a:tabLst>
            </a:pP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Caregiver</a:t>
            </a:r>
            <a:r>
              <a:rPr dirty="0" sz="950" spc="-2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45">
                <a:solidFill>
                  <a:srgbClr val="913F0D"/>
                </a:solidFill>
                <a:latin typeface="Times New Roman"/>
                <a:cs typeface="Times New Roman"/>
              </a:rPr>
              <a:t>dashboard</a:t>
            </a:r>
            <a:r>
              <a:rPr dirty="0" sz="950" spc="2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-25">
                <a:solidFill>
                  <a:srgbClr val="913F0D"/>
                </a:solidFill>
                <a:latin typeface="Times New Roman"/>
                <a:cs typeface="Times New Roman"/>
              </a:rPr>
              <a:t>UI</a:t>
            </a:r>
            <a:endParaRPr sz="950">
              <a:latin typeface="Times New Roman"/>
              <a:cs typeface="Times New Roman"/>
            </a:endParaRPr>
          </a:p>
          <a:p>
            <a:pPr marL="76835" indent="-64135">
              <a:lnSpc>
                <a:spcPts val="1130"/>
              </a:lnSpc>
              <a:buChar char="•"/>
              <a:tabLst>
                <a:tab pos="76835" algn="l"/>
              </a:tabLst>
            </a:pPr>
            <a:r>
              <a:rPr dirty="0" sz="950" spc="-150">
                <a:solidFill>
                  <a:srgbClr val="913F0D"/>
                </a:solidFill>
                <a:latin typeface="Times New Roman"/>
                <a:cs typeface="Times New Roman"/>
              </a:rPr>
              <a:t>I</a:t>
            </a:r>
            <a:r>
              <a:rPr dirty="0" sz="950" spc="-6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solation</a:t>
            </a:r>
            <a:r>
              <a:rPr dirty="0" sz="950" spc="14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55">
                <a:solidFill>
                  <a:srgbClr val="913F0D"/>
                </a:solidFill>
                <a:latin typeface="Times New Roman"/>
                <a:cs typeface="Times New Roman"/>
              </a:rPr>
              <a:t>Forest</a:t>
            </a:r>
            <a:r>
              <a:rPr dirty="0" sz="950" spc="105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>
                <a:solidFill>
                  <a:srgbClr val="913F0D"/>
                </a:solidFill>
                <a:latin typeface="Times New Roman"/>
                <a:cs typeface="Times New Roman"/>
              </a:rPr>
              <a:t>model</a:t>
            </a:r>
            <a:r>
              <a:rPr dirty="0" sz="950" spc="220">
                <a:solidFill>
                  <a:srgbClr val="913F0D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913F0D"/>
                </a:solidFill>
                <a:latin typeface="Times New Roman"/>
                <a:cs typeface="Times New Roman"/>
              </a:rPr>
              <a:t>training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4500" y="6454775"/>
            <a:ext cx="29959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edge_monitor.py</a:t>
            </a:r>
            <a:r>
              <a:rPr dirty="0" sz="950" spc="15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950" spc="15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 spc="-10">
                <a:solidFill>
                  <a:srgbClr val="465469"/>
                </a:solidFill>
                <a:latin typeface="Courier New"/>
                <a:cs typeface="Courier New"/>
              </a:rPr>
              <a:t>edge_smoke_output.txt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188698" y="6454775"/>
            <a:ext cx="557530" cy="1739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65469"/>
                </a:solidFill>
                <a:latin typeface="Courier New"/>
                <a:cs typeface="Courier New"/>
              </a:rPr>
              <a:t>Slide</a:t>
            </a:r>
            <a:r>
              <a:rPr dirty="0" sz="950" spc="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950" spc="-50">
                <a:solidFill>
                  <a:srgbClr val="465469"/>
                </a:solidFill>
                <a:latin typeface="Courier New"/>
                <a:cs typeface="Courier New"/>
              </a:rPr>
              <a:t>7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982200" y="190499"/>
            <a:ext cx="1752600" cy="285750"/>
          </a:xfrm>
          <a:custGeom>
            <a:avLst/>
            <a:gdLst/>
            <a:ahLst/>
            <a:cxnLst/>
            <a:rect l="l" t="t" r="r" b="b"/>
            <a:pathLst>
              <a:path w="1752600" h="285750">
                <a:moveTo>
                  <a:pt x="17195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47650"/>
                </a:lnTo>
                <a:lnTo>
                  <a:pt x="0" y="252704"/>
                </a:lnTo>
                <a:lnTo>
                  <a:pt x="23520" y="282841"/>
                </a:lnTo>
                <a:lnTo>
                  <a:pt x="28181" y="284784"/>
                </a:lnTo>
                <a:lnTo>
                  <a:pt x="33045" y="285750"/>
                </a:lnTo>
                <a:lnTo>
                  <a:pt x="1719554" y="285750"/>
                </a:lnTo>
                <a:lnTo>
                  <a:pt x="1751634" y="257556"/>
                </a:lnTo>
                <a:lnTo>
                  <a:pt x="1752600" y="252704"/>
                </a:lnTo>
                <a:lnTo>
                  <a:pt x="1752600" y="33045"/>
                </a:lnTo>
                <a:lnTo>
                  <a:pt x="1724406" y="965"/>
                </a:lnTo>
                <a:lnTo>
                  <a:pt x="17195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083800" y="248217"/>
            <a:ext cx="1546225" cy="169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145">
                <a:solidFill>
                  <a:srgbClr val="D97705"/>
                </a:solidFill>
                <a:latin typeface="Times New Roman"/>
                <a:cs typeface="Times New Roman"/>
              </a:rPr>
              <a:t>4.</a:t>
            </a:r>
            <a:r>
              <a:rPr dirty="0" sz="950" spc="190">
                <a:solidFill>
                  <a:srgbClr val="D97705"/>
                </a:solidFill>
                <a:latin typeface="Times New Roman"/>
                <a:cs typeface="Times New Roman"/>
              </a:rPr>
              <a:t>  </a:t>
            </a:r>
            <a:r>
              <a:rPr dirty="0" sz="950">
                <a:solidFill>
                  <a:srgbClr val="D97705"/>
                </a:solidFill>
                <a:latin typeface="Times New Roman"/>
                <a:cs typeface="Times New Roman"/>
              </a:rPr>
              <a:t>PARTIAL</a:t>
            </a:r>
            <a:r>
              <a:rPr dirty="0" sz="950" spc="42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D97705"/>
                </a:solidFill>
                <a:latin typeface="Times New Roman"/>
                <a:cs typeface="Times New Roman"/>
              </a:rPr>
              <a:t>PROTOTYPE</a:t>
            </a:r>
            <a:endParaRPr sz="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8053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25"/>
              </a:spcBef>
            </a:pPr>
            <a:r>
              <a:rPr dirty="0" spc="260"/>
              <a:t>Team</a:t>
            </a:r>
            <a:r>
              <a:rPr dirty="0" spc="-75"/>
              <a:t> </a:t>
            </a:r>
            <a:r>
              <a:rPr dirty="0" spc="220"/>
              <a:t>Roles</a:t>
            </a:r>
            <a:r>
              <a:rPr dirty="0" spc="-50"/>
              <a:t> </a:t>
            </a:r>
            <a:r>
              <a:rPr dirty="0" spc="325"/>
              <a:t>and</a:t>
            </a:r>
            <a:r>
              <a:rPr dirty="0" spc="-10"/>
              <a:t> </a:t>
            </a:r>
            <a:r>
              <a:rPr dirty="0" spc="195"/>
              <a:t>Review</a:t>
            </a:r>
            <a:r>
              <a:rPr dirty="0" sz="2200" spc="195"/>
              <a:t>–</a:t>
            </a:r>
            <a:r>
              <a:rPr dirty="0" sz="2200"/>
              <a:t>1</a:t>
            </a:r>
            <a:r>
              <a:rPr dirty="0" sz="2200" spc="105"/>
              <a:t> </a:t>
            </a:r>
            <a:r>
              <a:rPr dirty="0" spc="225"/>
              <a:t>Improvements</a:t>
            </a:r>
            <a:endParaRPr sz="22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2000" y="1038224"/>
          <a:ext cx="10744200" cy="228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73120"/>
                <a:gridCol w="2812415"/>
                <a:gridCol w="4483735"/>
              </a:tblGrid>
              <a:tr h="419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150" spc="14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Member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62330">
                        <a:lnSpc>
                          <a:spcPct val="100000"/>
                        </a:lnSpc>
                      </a:pPr>
                      <a:r>
                        <a:rPr dirty="0" sz="1150" spc="8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Role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614045">
                        <a:lnSpc>
                          <a:spcPct val="100000"/>
                        </a:lnSpc>
                      </a:pPr>
                      <a:r>
                        <a:rPr dirty="0" sz="115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Review</a:t>
                      </a:r>
                      <a:r>
                        <a:rPr dirty="0" sz="1100" spc="12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100" spc="19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100" spc="3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114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endParaRPr sz="1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A1E36"/>
                    </a:solidFill>
                  </a:tcPr>
                </a:tc>
              </a:tr>
              <a:tr h="461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050" spc="8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Palanati</a:t>
                      </a:r>
                      <a:r>
                        <a:rPr dirty="0" sz="1050" spc="1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Kushal</a:t>
                      </a:r>
                      <a:r>
                        <a:rPr dirty="0" sz="1050" spc="1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(2300031</a:t>
                      </a:r>
                      <a:r>
                        <a:rPr dirty="0" sz="1050" spc="-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426)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62330">
                        <a:lnSpc>
                          <a:spcPct val="100000"/>
                        </a:lnSpc>
                      </a:pPr>
                      <a:r>
                        <a:rPr dirty="0" sz="850" spc="-8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dirty="0" sz="850" spc="19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INTEGRATION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614045">
                        <a:lnSpc>
                          <a:spcPct val="100000"/>
                        </a:lnSpc>
                      </a:pPr>
                      <a:r>
                        <a:rPr dirty="0" sz="10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dirty="0" sz="1050" spc="1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050" spc="10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1050" spc="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Interfacing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050" spc="-1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Y.</a:t>
                      </a:r>
                      <a:r>
                        <a:rPr dirty="0" sz="10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Kishan</a:t>
                      </a:r>
                      <a:r>
                        <a:rPr dirty="0" sz="10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(2300030979)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62330">
                        <a:lnSpc>
                          <a:spcPct val="100000"/>
                        </a:lnSpc>
                      </a:pPr>
                      <a:r>
                        <a:rPr dirty="0" sz="850" spc="-2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dirty="0" sz="850" spc="15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SOFTWARE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61404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dirty="0" sz="1050" spc="2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9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Persistence</a:t>
                      </a:r>
                      <a:r>
                        <a:rPr dirty="0" sz="1050" spc="8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050" spc="-1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050" spc="9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Engine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D.</a:t>
                      </a:r>
                      <a:r>
                        <a:rPr dirty="0" sz="1050" spc="28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Varun</a:t>
                      </a:r>
                      <a:r>
                        <a:rPr dirty="0" sz="1050" spc="18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(23000301</a:t>
                      </a:r>
                      <a:r>
                        <a:rPr dirty="0" sz="10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56)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62330">
                        <a:lnSpc>
                          <a:spcPct val="100000"/>
                        </a:lnSpc>
                      </a:pPr>
                      <a:r>
                        <a:rPr dirty="0" sz="850" spc="-4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dirty="0" sz="850" spc="14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PLATFORM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614045">
                        <a:lnSpc>
                          <a:spcPct val="100000"/>
                        </a:lnSpc>
                      </a:pPr>
                      <a:r>
                        <a:rPr dirty="0" sz="1050" spc="7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Ingestion</a:t>
                      </a:r>
                      <a:r>
                        <a:rPr dirty="0" sz="1050" spc="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1050" spc="1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050" spc="-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Sync</a:t>
                      </a:r>
                      <a:r>
                        <a:rPr dirty="0" sz="1050" spc="3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Logic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</a:pPr>
                      <a:r>
                        <a:rPr dirty="0" sz="10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Dirishala</a:t>
                      </a:r>
                      <a:r>
                        <a:rPr dirty="0" sz="10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Gopi</a:t>
                      </a:r>
                      <a:r>
                        <a:rPr dirty="0" sz="1050" spc="1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Krishna</a:t>
                      </a:r>
                      <a:r>
                        <a:rPr dirty="0" sz="10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(230003091</a:t>
                      </a:r>
                      <a:r>
                        <a:rPr dirty="0" sz="10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6)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862330">
                        <a:lnSpc>
                          <a:spcPct val="100000"/>
                        </a:lnSpc>
                      </a:pPr>
                      <a:r>
                        <a:rPr dirty="0" sz="85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850" spc="16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0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INTEGRATION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614045">
                        <a:lnSpc>
                          <a:spcPct val="100000"/>
                        </a:lnSpc>
                      </a:pPr>
                      <a:r>
                        <a:rPr dirty="0" sz="1050" spc="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dirty="0" sz="1050" spc="1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-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050" spc="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Traceabil</a:t>
                      </a:r>
                      <a:r>
                        <a:rPr dirty="0" sz="1050" spc="-1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50" spc="3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ity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761999" y="3705225"/>
            <a:ext cx="10668000" cy="1123950"/>
            <a:chOff x="761999" y="3705225"/>
            <a:chExt cx="10668000" cy="1123950"/>
          </a:xfrm>
        </p:grpSpPr>
        <p:sp>
          <p:nvSpPr>
            <p:cNvPr id="5" name="object 5"/>
            <p:cNvSpPr/>
            <p:nvPr/>
          </p:nvSpPr>
          <p:spPr>
            <a:xfrm>
              <a:off x="790575" y="3709987"/>
              <a:ext cx="10634980" cy="1114425"/>
            </a:xfrm>
            <a:custGeom>
              <a:avLst/>
              <a:gdLst/>
              <a:ahLst/>
              <a:cxnLst/>
              <a:rect l="l" t="t" r="r" b="b"/>
              <a:pathLst>
                <a:path w="10634980" h="1114425">
                  <a:moveTo>
                    <a:pt x="10605744" y="0"/>
                  </a:moveTo>
                  <a:lnTo>
                    <a:pt x="8260" y="0"/>
                  </a:lnTo>
                  <a:lnTo>
                    <a:pt x="7044" y="838"/>
                  </a:lnTo>
                  <a:lnTo>
                    <a:pt x="0" y="28917"/>
                  </a:lnTo>
                  <a:lnTo>
                    <a:pt x="0" y="1081087"/>
                  </a:lnTo>
                  <a:lnTo>
                    <a:pt x="0" y="1085507"/>
                  </a:lnTo>
                  <a:lnTo>
                    <a:pt x="8260" y="1114425"/>
                  </a:lnTo>
                  <a:lnTo>
                    <a:pt x="10605744" y="1114425"/>
                  </a:lnTo>
                  <a:lnTo>
                    <a:pt x="10634662" y="1085507"/>
                  </a:lnTo>
                  <a:lnTo>
                    <a:pt x="10634662" y="28917"/>
                  </a:lnTo>
                  <a:lnTo>
                    <a:pt x="10609999" y="838"/>
                  </a:lnTo>
                  <a:lnTo>
                    <a:pt x="10605744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3653" y="3705237"/>
              <a:ext cx="10646410" cy="1123950"/>
            </a:xfrm>
            <a:custGeom>
              <a:avLst/>
              <a:gdLst/>
              <a:ahLst/>
              <a:cxnLst/>
              <a:rect l="l" t="t" r="r" b="b"/>
              <a:pathLst>
                <a:path w="10646410" h="1123950">
                  <a:moveTo>
                    <a:pt x="10646334" y="38100"/>
                  </a:moveTo>
                  <a:lnTo>
                    <a:pt x="10645635" y="30492"/>
                  </a:lnTo>
                  <a:lnTo>
                    <a:pt x="10643553" y="23469"/>
                  </a:lnTo>
                  <a:lnTo>
                    <a:pt x="10640060" y="17018"/>
                  </a:lnTo>
                  <a:lnTo>
                    <a:pt x="10635602" y="11684"/>
                  </a:lnTo>
                  <a:lnTo>
                    <a:pt x="10608234" y="0"/>
                  </a:lnTo>
                  <a:lnTo>
                    <a:pt x="16433" y="0"/>
                  </a:lnTo>
                  <a:lnTo>
                    <a:pt x="8839" y="685"/>
                  </a:lnTo>
                  <a:lnTo>
                    <a:pt x="1816" y="2781"/>
                  </a:lnTo>
                  <a:lnTo>
                    <a:pt x="0" y="3759"/>
                  </a:lnTo>
                  <a:lnTo>
                    <a:pt x="35483" y="9677"/>
                  </a:lnTo>
                  <a:lnTo>
                    <a:pt x="35483" y="9525"/>
                  </a:lnTo>
                  <a:lnTo>
                    <a:pt x="10616121" y="9525"/>
                  </a:lnTo>
                  <a:lnTo>
                    <a:pt x="10622864" y="12319"/>
                  </a:lnTo>
                  <a:lnTo>
                    <a:pt x="10628440" y="17894"/>
                  </a:lnTo>
                  <a:lnTo>
                    <a:pt x="10634015" y="23469"/>
                  </a:lnTo>
                  <a:lnTo>
                    <a:pt x="10636809" y="30213"/>
                  </a:lnTo>
                  <a:lnTo>
                    <a:pt x="10636809" y="1093736"/>
                  </a:lnTo>
                  <a:lnTo>
                    <a:pt x="10634015" y="1100480"/>
                  </a:lnTo>
                  <a:lnTo>
                    <a:pt x="10628922" y="1105573"/>
                  </a:lnTo>
                  <a:lnTo>
                    <a:pt x="10628440" y="1106055"/>
                  </a:lnTo>
                  <a:lnTo>
                    <a:pt x="10622864" y="1111631"/>
                  </a:lnTo>
                  <a:lnTo>
                    <a:pt x="10616121" y="1114425"/>
                  </a:lnTo>
                  <a:lnTo>
                    <a:pt x="35483" y="1114425"/>
                  </a:lnTo>
                  <a:lnTo>
                    <a:pt x="35483" y="1114259"/>
                  </a:lnTo>
                  <a:lnTo>
                    <a:pt x="0" y="1120178"/>
                  </a:lnTo>
                  <a:lnTo>
                    <a:pt x="1816" y="1121156"/>
                  </a:lnTo>
                  <a:lnTo>
                    <a:pt x="8839" y="1123251"/>
                  </a:lnTo>
                  <a:lnTo>
                    <a:pt x="16433" y="1123950"/>
                  </a:lnTo>
                  <a:lnTo>
                    <a:pt x="10608234" y="1123950"/>
                  </a:lnTo>
                  <a:lnTo>
                    <a:pt x="10635615" y="1112266"/>
                  </a:lnTo>
                  <a:lnTo>
                    <a:pt x="10640060" y="1106919"/>
                  </a:lnTo>
                  <a:lnTo>
                    <a:pt x="10643553" y="1100480"/>
                  </a:lnTo>
                  <a:lnTo>
                    <a:pt x="10645635" y="1093444"/>
                  </a:lnTo>
                  <a:lnTo>
                    <a:pt x="10646334" y="1085850"/>
                  </a:lnTo>
                  <a:lnTo>
                    <a:pt x="10646334" y="3810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61999" y="3708873"/>
              <a:ext cx="57150" cy="1116965"/>
            </a:xfrm>
            <a:custGeom>
              <a:avLst/>
              <a:gdLst/>
              <a:ahLst/>
              <a:cxnLst/>
              <a:rect l="l" t="t" r="r" b="b"/>
              <a:pathLst>
                <a:path w="57150" h="1116964">
                  <a:moveTo>
                    <a:pt x="21889" y="0"/>
                  </a:moveTo>
                  <a:lnTo>
                    <a:pt x="0" y="34451"/>
                  </a:lnTo>
                  <a:lnTo>
                    <a:pt x="0" y="1082201"/>
                  </a:lnTo>
                  <a:lnTo>
                    <a:pt x="21889" y="1116653"/>
                  </a:lnTo>
                  <a:lnTo>
                    <a:pt x="57149" y="1110776"/>
                  </a:lnTo>
                  <a:lnTo>
                    <a:pt x="57149" y="5876"/>
                  </a:lnTo>
                  <a:lnTo>
                    <a:pt x="21889" y="0"/>
                  </a:lnTo>
                  <a:close/>
                </a:path>
              </a:pathLst>
            </a:custGeom>
            <a:solidFill>
              <a:srgbClr val="0E756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009650" y="3890319"/>
            <a:ext cx="3972560" cy="454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150">
                <a:solidFill>
                  <a:srgbClr val="0A1E36"/>
                </a:solidFill>
                <a:latin typeface="Times New Roman"/>
                <a:cs typeface="Times New Roman"/>
              </a:rPr>
              <a:t>Key</a:t>
            </a:r>
            <a:r>
              <a:rPr dirty="0" sz="1150" spc="-2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0A1E36"/>
                </a:solidFill>
                <a:latin typeface="Times New Roman"/>
                <a:cs typeface="Times New Roman"/>
              </a:rPr>
              <a:t>Improvements</a:t>
            </a:r>
            <a:r>
              <a:rPr dirty="0" sz="1150" spc="2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70">
                <a:solidFill>
                  <a:srgbClr val="0A1E36"/>
                </a:solidFill>
                <a:latin typeface="Times New Roman"/>
                <a:cs typeface="Times New Roman"/>
              </a:rPr>
              <a:t>since</a:t>
            </a:r>
            <a:r>
              <a:rPr dirty="0" sz="1150" spc="5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150" spc="60">
                <a:solidFill>
                  <a:srgbClr val="0A1E36"/>
                </a:solidFill>
                <a:latin typeface="Times New Roman"/>
                <a:cs typeface="Times New Roman"/>
              </a:rPr>
              <a:t>Review–</a:t>
            </a:r>
            <a:r>
              <a:rPr dirty="0" sz="1150" spc="-50">
                <a:solidFill>
                  <a:srgbClr val="0A1E36"/>
                </a:solidFill>
                <a:latin typeface="Times New Roman"/>
                <a:cs typeface="Times New Roman"/>
              </a:rPr>
              <a:t>1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00">
              <a:latin typeface="Times New Roman"/>
              <a:cs typeface="Times New Roman"/>
            </a:endParaRPr>
          </a:p>
          <a:p>
            <a:pPr marL="73025" indent="-73025">
              <a:lnSpc>
                <a:spcPct val="100000"/>
              </a:lnSpc>
              <a:buChar char="•"/>
              <a:tabLst>
                <a:tab pos="73025" algn="l"/>
              </a:tabLst>
            </a:pP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Refined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generic</a:t>
            </a:r>
            <a:r>
              <a:rPr dirty="0" sz="1000" spc="-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"cloud</a:t>
            </a:r>
            <a:r>
              <a:rPr dirty="0" sz="100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0E162A"/>
                </a:solidFill>
                <a:latin typeface="Times New Roman"/>
                <a:cs typeface="Times New Roman"/>
              </a:rPr>
              <a:t>dashboard"</a:t>
            </a:r>
            <a:r>
              <a:rPr dirty="0" sz="10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0E162A"/>
                </a:solidFill>
                <a:latin typeface="Times New Roman"/>
                <a:cs typeface="Times New Roman"/>
              </a:rPr>
              <a:t>into</a:t>
            </a:r>
            <a:r>
              <a:rPr dirty="0" sz="100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a</a:t>
            </a:r>
            <a:r>
              <a:rPr dirty="0" sz="1000" spc="10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failure-</a:t>
            </a:r>
            <a:r>
              <a:rPr dirty="0" sz="1000" spc="55">
                <a:solidFill>
                  <a:srgbClr val="0E162A"/>
                </a:solidFill>
                <a:latin typeface="Times New Roman"/>
                <a:cs typeface="Times New Roman"/>
              </a:rPr>
              <a:t>aware</a:t>
            </a:r>
            <a:r>
              <a:rPr dirty="0" sz="100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framework.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91249" y="4163405"/>
            <a:ext cx="337248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73025" indent="-73025">
              <a:lnSpc>
                <a:spcPct val="100000"/>
              </a:lnSpc>
              <a:buChar char="•"/>
              <a:tabLst>
                <a:tab pos="73025" algn="l"/>
              </a:tabLst>
            </a:pP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Added</a:t>
            </a:r>
            <a:r>
              <a:rPr dirty="0" sz="1000" spc="1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explicit</a:t>
            </a:r>
            <a:r>
              <a:rPr dirty="0" sz="1000" spc="1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noise-</a:t>
            </a:r>
            <a:r>
              <a:rPr dirty="0" sz="1000" spc="75">
                <a:solidFill>
                  <a:srgbClr val="0E162A"/>
                </a:solidFill>
                <a:latin typeface="Times New Roman"/>
                <a:cs typeface="Times New Roman"/>
              </a:rPr>
              <a:t>awareness</a:t>
            </a:r>
            <a:r>
              <a:rPr dirty="0" sz="1000" spc="114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000" spc="1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quality-</a:t>
            </a:r>
            <a:r>
              <a:rPr dirty="0" sz="1000" spc="70">
                <a:solidFill>
                  <a:srgbClr val="0E162A"/>
                </a:solidFill>
                <a:latin typeface="Times New Roman"/>
                <a:cs typeface="Times New Roman"/>
              </a:rPr>
              <a:t>gating</a:t>
            </a:r>
            <a:r>
              <a:rPr dirty="0" sz="1000" spc="1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logic.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9650" y="4458680"/>
            <a:ext cx="411543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73025" indent="-73025">
              <a:lnSpc>
                <a:spcPct val="100000"/>
              </a:lnSpc>
              <a:buChar char="•"/>
              <a:tabLst>
                <a:tab pos="73025" algn="l"/>
              </a:tabLst>
            </a:pPr>
            <a:r>
              <a:rPr dirty="0" sz="1000" spc="45">
                <a:solidFill>
                  <a:srgbClr val="0E162A"/>
                </a:solidFill>
                <a:latin typeface="Times New Roman"/>
                <a:cs typeface="Times New Roman"/>
              </a:rPr>
              <a:t>Formalized</a:t>
            </a:r>
            <a:r>
              <a:rPr dirty="0" sz="100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20">
                <a:solidFill>
                  <a:srgbClr val="0E162A"/>
                </a:solidFill>
                <a:latin typeface="Times New Roman"/>
                <a:cs typeface="Times New Roman"/>
              </a:rPr>
              <a:t>o2ine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resilience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0E162A"/>
                </a:solidFill>
                <a:latin typeface="Times New Roman"/>
                <a:cs typeface="Times New Roman"/>
              </a:rPr>
              <a:t>through</a:t>
            </a:r>
            <a:r>
              <a:rPr dirty="0" sz="1000" spc="1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write-before-</a:t>
            </a:r>
            <a:r>
              <a:rPr dirty="0" sz="1000" spc="80">
                <a:solidFill>
                  <a:srgbClr val="0E162A"/>
                </a:solidFill>
                <a:latin typeface="Times New Roman"/>
                <a:cs typeface="Times New Roman"/>
              </a:rPr>
              <a:t>send</a:t>
            </a:r>
            <a:r>
              <a:rPr dirty="0" sz="1000" spc="9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0E162A"/>
                </a:solidFill>
                <a:latin typeface="Times New Roman"/>
                <a:cs typeface="Times New Roman"/>
              </a:rPr>
              <a:t>SQLite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 queue.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1249" y="4458680"/>
            <a:ext cx="378206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73025" indent="-73025">
              <a:lnSpc>
                <a:spcPct val="100000"/>
              </a:lnSpc>
              <a:buChar char="•"/>
              <a:tabLst>
                <a:tab pos="73025" algn="l"/>
              </a:tabLst>
            </a:pPr>
            <a:r>
              <a:rPr dirty="0" sz="1000" spc="-165">
                <a:solidFill>
                  <a:srgbClr val="0E162A"/>
                </a:solidFill>
                <a:latin typeface="Times New Roman"/>
                <a:cs typeface="Times New Roman"/>
              </a:rPr>
              <a:t>I</a:t>
            </a:r>
            <a:r>
              <a:rPr dirty="0" sz="1000" spc="-1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E162A"/>
                </a:solidFill>
                <a:latin typeface="Times New Roman"/>
                <a:cs typeface="Times New Roman"/>
              </a:rPr>
              <a:t>mplemented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E162A"/>
                </a:solidFill>
                <a:latin typeface="Times New Roman"/>
                <a:cs typeface="Times New Roman"/>
              </a:rPr>
              <a:t>explainable</a:t>
            </a:r>
            <a:r>
              <a:rPr dirty="0" sz="100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0E162A"/>
                </a:solidFill>
                <a:latin typeface="Times New Roman"/>
                <a:cs typeface="Times New Roman"/>
              </a:rPr>
              <a:t>alerts</a:t>
            </a:r>
            <a:r>
              <a:rPr dirty="0" sz="100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0E162A"/>
                </a:solidFill>
                <a:latin typeface="Times New Roman"/>
                <a:cs typeface="Times New Roman"/>
              </a:rPr>
              <a:t>with</a:t>
            </a:r>
            <a:r>
              <a:rPr dirty="0" sz="1000" spc="10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E162A"/>
                </a:solidFill>
                <a:latin typeface="Times New Roman"/>
                <a:cs typeface="Times New Roman"/>
              </a:rPr>
              <a:t>reason</a:t>
            </a:r>
            <a:r>
              <a:rPr dirty="0" sz="1000" spc="10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0E162A"/>
                </a:solidFill>
                <a:latin typeface="Times New Roman"/>
                <a:cs typeface="Times New Roman"/>
              </a:rPr>
              <a:t>codes</a:t>
            </a:r>
            <a:r>
              <a:rPr dirty="0" sz="1000" spc="3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000" spc="9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0E162A"/>
                </a:solidFill>
                <a:latin typeface="Times New Roman"/>
                <a:cs typeface="Times New Roman"/>
              </a:rPr>
              <a:t>severity.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25000" y="380999"/>
            <a:ext cx="2286000" cy="333375"/>
          </a:xfrm>
          <a:custGeom>
            <a:avLst/>
            <a:gdLst/>
            <a:ahLst/>
            <a:cxnLst/>
            <a:rect l="l" t="t" r="r" b="b"/>
            <a:pathLst>
              <a:path w="2286000" h="333375">
                <a:moveTo>
                  <a:pt x="22529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2252954" y="333375"/>
                </a:lnTo>
                <a:lnTo>
                  <a:pt x="2285034" y="305181"/>
                </a:lnTo>
                <a:lnTo>
                  <a:pt x="2286000" y="300329"/>
                </a:lnTo>
                <a:lnTo>
                  <a:pt x="2286000" y="33045"/>
                </a:lnTo>
                <a:lnTo>
                  <a:pt x="2257806" y="965"/>
                </a:lnTo>
                <a:lnTo>
                  <a:pt x="22529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9664700" y="457972"/>
            <a:ext cx="201930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140">
                <a:solidFill>
                  <a:srgbClr val="D97705"/>
                </a:solidFill>
                <a:latin typeface="Times New Roman"/>
                <a:cs typeface="Times New Roman"/>
              </a:rPr>
              <a:t>5.</a:t>
            </a:r>
            <a:r>
              <a:rPr dirty="0" sz="1000" spc="40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5">
                <a:solidFill>
                  <a:srgbClr val="D97705"/>
                </a:solidFill>
                <a:latin typeface="Times New Roman"/>
                <a:cs typeface="Times New Roman"/>
              </a:rPr>
              <a:t>MODERN</a:t>
            </a:r>
            <a:r>
              <a:rPr dirty="0" sz="1000" spc="24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Times New Roman"/>
                <a:cs typeface="Times New Roman"/>
              </a:rPr>
              <a:t>TOOLS</a:t>
            </a:r>
            <a:r>
              <a:rPr dirty="0" sz="1000" spc="21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&amp;</a:t>
            </a:r>
            <a:r>
              <a:rPr dirty="0" sz="1000" spc="17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14">
                <a:solidFill>
                  <a:srgbClr val="D97705"/>
                </a:solidFill>
                <a:latin typeface="Times New Roman"/>
                <a:cs typeface="Times New Roman"/>
              </a:rPr>
              <a:t>TEAMWORK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9300" y="6286468"/>
            <a:ext cx="23920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10">
                <a:solidFill>
                  <a:srgbClr val="465469"/>
                </a:solidFill>
                <a:latin typeface="Courier New"/>
                <a:cs typeface="Courier New"/>
              </a:rPr>
              <a:t>Team</a:t>
            </a:r>
            <a:r>
              <a:rPr dirty="0" sz="1050" spc="-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Roles</a:t>
            </a:r>
            <a:r>
              <a:rPr dirty="0" sz="1050" spc="-9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465469"/>
                </a:solidFill>
                <a:latin typeface="Courier New"/>
                <a:cs typeface="Courier New"/>
              </a:rPr>
              <a:t>Sprint</a:t>
            </a:r>
            <a:r>
              <a:rPr dirty="0" sz="1050" spc="-9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35">
                <a:solidFill>
                  <a:srgbClr val="465469"/>
                </a:solidFill>
                <a:latin typeface="Courier New"/>
                <a:cs typeface="Courier New"/>
              </a:rPr>
              <a:t>1–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2</a:t>
            </a:r>
            <a:r>
              <a:rPr dirty="0" sz="1050" spc="-9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Courier New"/>
                <a:cs typeface="Courier New"/>
              </a:rPr>
              <a:t>Backlog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938" rIns="0" bIns="0" rtlCol="0" vert="horz">
            <a:spAutoFit/>
          </a:bodyPr>
          <a:lstStyle/>
          <a:p>
            <a:pPr marL="365125">
              <a:lnSpc>
                <a:spcPct val="100000"/>
              </a:lnSpc>
              <a:spcBef>
                <a:spcPts val="120"/>
              </a:spcBef>
            </a:pPr>
            <a:r>
              <a:rPr dirty="0" spc="190"/>
              <a:t>Review</a:t>
            </a:r>
            <a:r>
              <a:rPr dirty="0" sz="2250" spc="190"/>
              <a:t>–</a:t>
            </a:r>
            <a:r>
              <a:rPr dirty="0" sz="2250" spc="370"/>
              <a:t>2</a:t>
            </a:r>
            <a:r>
              <a:rPr dirty="0" sz="2250" spc="40"/>
              <a:t> </a:t>
            </a:r>
            <a:r>
              <a:rPr dirty="0" spc="235"/>
              <a:t>Test</a:t>
            </a:r>
            <a:r>
              <a:rPr dirty="0"/>
              <a:t> </a:t>
            </a:r>
            <a:r>
              <a:rPr dirty="0" spc="165"/>
              <a:t>Matrix</a:t>
            </a:r>
            <a:endParaRPr sz="225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62000" y="942974"/>
          <a:ext cx="10744200" cy="4810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81075"/>
                <a:gridCol w="2667000"/>
                <a:gridCol w="5419725"/>
                <a:gridCol w="1590675"/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2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A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 spc="3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Scenario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A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1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Expected</a:t>
                      </a:r>
                      <a:r>
                        <a:rPr dirty="0" sz="950" spc="16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Result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A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50" spc="75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0A1E36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3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dirty="0" sz="950" spc="-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950" spc="-1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950" spc="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creation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Unique </a:t>
                      </a:r>
                      <a:r>
                        <a:rPr dirty="0" sz="950" spc="-1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950" spc="-1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9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assigned</a:t>
                      </a:r>
                      <a:r>
                        <a:rPr dirty="0" sz="950" spc="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before </a:t>
                      </a:r>
                      <a:r>
                        <a:rPr dirty="0" sz="9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sync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attempt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8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03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SQLite</a:t>
                      </a:r>
                      <a:r>
                        <a:rPr dirty="0" sz="950" spc="8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insertion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Observation</a:t>
                      </a:r>
                      <a:r>
                        <a:rPr dirty="0" sz="95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is</a:t>
                      </a:r>
                      <a:r>
                        <a:rPr dirty="0" sz="950" spc="9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locally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durable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8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04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 spc="-1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950" spc="-114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nvalid</a:t>
                      </a:r>
                      <a:r>
                        <a:rPr dirty="0" sz="950" spc="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sample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-1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950" spc="-10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NVALI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950" spc="9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status;</a:t>
                      </a:r>
                      <a:r>
                        <a:rPr dirty="0" sz="950" spc="10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950" spc="-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high-confidence</a:t>
                      </a:r>
                      <a:r>
                        <a:rPr dirty="0" sz="950" spc="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alert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8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06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dirty="0" sz="950" spc="2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deviation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Deviation</a:t>
                      </a:r>
                      <a:r>
                        <a:rPr dirty="0" sz="95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95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rule</a:t>
                      </a:r>
                      <a:r>
                        <a:rPr dirty="0" sz="95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reason</a:t>
                      </a:r>
                      <a:r>
                        <a:rPr dirty="0" sz="95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recorded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8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09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 spc="-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Write-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before-</a:t>
                      </a:r>
                      <a:r>
                        <a:rPr dirty="0" sz="9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send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dirty="0" sz="950" spc="7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record </a:t>
                      </a:r>
                      <a:r>
                        <a:rPr dirty="0" sz="95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exists</a:t>
                      </a:r>
                      <a:r>
                        <a:rPr dirty="0" sz="9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950" spc="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950" spc="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4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timeout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85">
                          <a:solidFill>
                            <a:srgbClr val="0E756E"/>
                          </a:solidFill>
                          <a:latin typeface="Times New Roman"/>
                          <a:cs typeface="Times New Roman"/>
                        </a:rPr>
                        <a:t>PASS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01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dirty="0" sz="950" spc="-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acquisition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Normalized</a:t>
                      </a:r>
                      <a:r>
                        <a:rPr dirty="0" sz="950" spc="1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6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dirty="0" sz="950" spc="10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950" spc="4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dirty="0" sz="950" spc="19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D97705"/>
                          </a:solidFill>
                          <a:latin typeface="Times New Roman"/>
                          <a:cs typeface="Times New Roman"/>
                        </a:rPr>
                        <a:t>PENDING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-1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950" spc="1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outage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950" spc="3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6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becomes</a:t>
                      </a:r>
                      <a:r>
                        <a:rPr dirty="0" sz="950" spc="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DEGRADED;</a:t>
                      </a:r>
                      <a:r>
                        <a:rPr dirty="0" sz="950" spc="10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dirty="0" sz="950" spc="3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2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grows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D97705"/>
                          </a:solidFill>
                          <a:latin typeface="Times New Roman"/>
                          <a:cs typeface="Times New Roman"/>
                        </a:rPr>
                        <a:t>PENDING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9695">
                        <a:lnSpc>
                          <a:spcPct val="100000"/>
                        </a:lnSpc>
                      </a:pP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T-</a:t>
                      </a:r>
                      <a:r>
                        <a:rPr dirty="0" sz="950" spc="-1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dirty="0" sz="950" spc="-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3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5250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dirty="0" sz="950" spc="17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retry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</a:pPr>
                      <a:r>
                        <a:rPr dirty="0" sz="950" spc="-2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Already-</a:t>
                      </a:r>
                      <a:r>
                        <a:rPr dirty="0" sz="950" spc="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present </a:t>
                      </a:r>
                      <a:r>
                        <a:rPr dirty="0" sz="95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event</a:t>
                      </a:r>
                      <a:r>
                        <a:rPr dirty="0" sz="950" spc="55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 not </a:t>
                      </a:r>
                      <a:r>
                        <a:rPr dirty="0" sz="950" spc="-10">
                          <a:solidFill>
                            <a:srgbClr val="0E162A"/>
                          </a:solidFill>
                          <a:latin typeface="Times New Roman"/>
                          <a:cs typeface="Times New Roman"/>
                        </a:rPr>
                        <a:t>duplicated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D97705"/>
                          </a:solidFill>
                          <a:latin typeface="Times New Roman"/>
                          <a:cs typeface="Times New Roman"/>
                        </a:rPr>
                        <a:t>PENDING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749300" y="5935055"/>
            <a:ext cx="5680710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55">
                <a:solidFill>
                  <a:srgbClr val="465469"/>
                </a:solidFill>
                <a:latin typeface="Times New Roman"/>
                <a:cs typeface="Times New Roman"/>
              </a:rPr>
              <a:t>Next</a:t>
            </a:r>
            <a:r>
              <a:rPr dirty="0" sz="1000" spc="-1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465469"/>
                </a:solidFill>
                <a:latin typeface="Times New Roman"/>
                <a:cs typeface="Times New Roman"/>
              </a:rPr>
              <a:t>Sprint:</a:t>
            </a:r>
            <a:r>
              <a:rPr dirty="0" sz="1000" spc="3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465469"/>
                </a:solidFill>
                <a:latin typeface="Times New Roman"/>
                <a:cs typeface="Times New Roman"/>
              </a:rPr>
              <a:t>Physical</a:t>
            </a:r>
            <a:r>
              <a:rPr dirty="0" sz="1000" spc="2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465469"/>
                </a:solidFill>
                <a:latin typeface="Times New Roman"/>
                <a:cs typeface="Times New Roman"/>
              </a:rPr>
              <a:t>sensor</a:t>
            </a:r>
            <a:r>
              <a:rPr dirty="0" sz="1000" spc="-1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465469"/>
                </a:solidFill>
                <a:latin typeface="Times New Roman"/>
                <a:cs typeface="Times New Roman"/>
              </a:rPr>
              <a:t>integration,</a:t>
            </a:r>
            <a:r>
              <a:rPr dirty="0" sz="1000" spc="3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465469"/>
                </a:solidFill>
                <a:latin typeface="Times New Roman"/>
                <a:cs typeface="Times New Roman"/>
              </a:rPr>
              <a:t>Cloud</a:t>
            </a:r>
            <a:r>
              <a:rPr dirty="0" sz="1000" spc="2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465469"/>
                </a:solidFill>
                <a:latin typeface="Times New Roman"/>
                <a:cs typeface="Times New Roman"/>
              </a:rPr>
              <a:t>API</a:t>
            </a:r>
            <a:r>
              <a:rPr dirty="0" sz="1000" spc="8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465469"/>
                </a:solidFill>
                <a:latin typeface="Times New Roman"/>
                <a:cs typeface="Times New Roman"/>
              </a:rPr>
              <a:t>deployment,</a:t>
            </a:r>
            <a:r>
              <a:rPr dirty="0" sz="1000" spc="35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465469"/>
                </a:solidFill>
                <a:latin typeface="Times New Roman"/>
                <a:cs typeface="Times New Roman"/>
              </a:rPr>
              <a:t>and</a:t>
            </a:r>
            <a:r>
              <a:rPr dirty="0" sz="1000" spc="2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465469"/>
                </a:solidFill>
                <a:latin typeface="Times New Roman"/>
                <a:cs typeface="Times New Roman"/>
              </a:rPr>
              <a:t>Dashboard</a:t>
            </a:r>
            <a:r>
              <a:rPr dirty="0" sz="1000" spc="2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-110">
                <a:solidFill>
                  <a:srgbClr val="465469"/>
                </a:solidFill>
                <a:latin typeface="Times New Roman"/>
                <a:cs typeface="Times New Roman"/>
              </a:rPr>
              <a:t>UI</a:t>
            </a:r>
            <a:r>
              <a:rPr dirty="0" sz="1000" spc="80">
                <a:solidFill>
                  <a:srgbClr val="465469"/>
                </a:solidFill>
                <a:latin typeface="Times New Roman"/>
                <a:cs typeface="Times New Roman"/>
              </a:rPr>
              <a:t> </a:t>
            </a:r>
            <a:r>
              <a:rPr dirty="0" sz="1000" spc="40">
                <a:solidFill>
                  <a:srgbClr val="465469"/>
                </a:solidFill>
                <a:latin typeface="Times New Roman"/>
                <a:cs typeface="Times New Roman"/>
              </a:rPr>
              <a:t>development.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53600" y="380999"/>
            <a:ext cx="2057400" cy="333375"/>
          </a:xfrm>
          <a:custGeom>
            <a:avLst/>
            <a:gdLst/>
            <a:ahLst/>
            <a:cxnLst/>
            <a:rect l="l" t="t" r="r" b="b"/>
            <a:pathLst>
              <a:path w="2057400" h="333375">
                <a:moveTo>
                  <a:pt x="20243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2024354" y="333375"/>
                </a:lnTo>
                <a:lnTo>
                  <a:pt x="2056434" y="305181"/>
                </a:lnTo>
                <a:lnTo>
                  <a:pt x="2057400" y="300329"/>
                </a:lnTo>
                <a:lnTo>
                  <a:pt x="2057400" y="33045"/>
                </a:lnTo>
                <a:lnTo>
                  <a:pt x="2029206" y="965"/>
                </a:lnTo>
                <a:lnTo>
                  <a:pt x="20243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893300" y="458055"/>
            <a:ext cx="178498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20">
                <a:solidFill>
                  <a:srgbClr val="D97705"/>
                </a:solidFill>
                <a:latin typeface="Times New Roman"/>
                <a:cs typeface="Times New Roman"/>
              </a:rPr>
              <a:t>INDIVIDUAL</a:t>
            </a:r>
            <a:r>
              <a:rPr dirty="0" sz="1000" spc="29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D97705"/>
                </a:solidFill>
                <a:latin typeface="Times New Roman"/>
                <a:cs typeface="Times New Roman"/>
              </a:rPr>
              <a:t>TEST</a:t>
            </a:r>
            <a:r>
              <a:rPr dirty="0" sz="1000" spc="250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D97705"/>
                </a:solidFill>
                <a:latin typeface="Times New Roman"/>
                <a:cs typeface="Times New Roman"/>
              </a:rPr>
              <a:t>RESULTS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9300" y="6286468"/>
            <a:ext cx="23158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SRS</a:t>
            </a:r>
            <a:r>
              <a:rPr dirty="0" sz="1050" spc="-11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Section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15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Courier New"/>
                <a:cs typeface="Courier New"/>
              </a:rPr>
              <a:t>Test</a:t>
            </a:r>
            <a:r>
              <a:rPr dirty="0" sz="1050" spc="-10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465469"/>
                </a:solidFill>
                <a:latin typeface="Courier New"/>
                <a:cs typeface="Courier New"/>
              </a:rPr>
              <a:t>Register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50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761999"/>
            <a:ext cx="57150" cy="371475"/>
          </a:xfrm>
          <a:custGeom>
            <a:avLst/>
            <a:gdLst/>
            <a:ahLst/>
            <a:cxnLst/>
            <a:rect l="l" t="t" r="r" b="b"/>
            <a:pathLst>
              <a:path w="57150" h="371475">
                <a:moveTo>
                  <a:pt x="57150" y="0"/>
                </a:moveTo>
                <a:lnTo>
                  <a:pt x="0" y="0"/>
                </a:lnTo>
                <a:lnTo>
                  <a:pt x="0" y="371475"/>
                </a:lnTo>
                <a:lnTo>
                  <a:pt x="57150" y="371475"/>
                </a:lnTo>
                <a:lnTo>
                  <a:pt x="57150" y="0"/>
                </a:lnTo>
                <a:close/>
              </a:path>
            </a:pathLst>
          </a:custGeom>
          <a:solidFill>
            <a:srgbClr val="D977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96950" y="742444"/>
            <a:ext cx="8936990" cy="38798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190"/>
              <a:t>Review</a:t>
            </a:r>
            <a:r>
              <a:rPr dirty="0" sz="2250" spc="190"/>
              <a:t>–</a:t>
            </a:r>
            <a:r>
              <a:rPr dirty="0" sz="2250" spc="370"/>
              <a:t>2</a:t>
            </a:r>
            <a:r>
              <a:rPr dirty="0" sz="2250" spc="35"/>
              <a:t> </a:t>
            </a:r>
            <a:r>
              <a:rPr dirty="0" spc="190"/>
              <a:t>Ask</a:t>
            </a:r>
            <a:r>
              <a:rPr dirty="0" sz="2250" spc="190"/>
              <a:t>:</a:t>
            </a:r>
            <a:r>
              <a:rPr dirty="0" sz="2250" spc="225"/>
              <a:t> </a:t>
            </a:r>
            <a:r>
              <a:rPr dirty="0" spc="270"/>
              <a:t>Demonstrate</a:t>
            </a:r>
            <a:r>
              <a:rPr dirty="0" spc="-25"/>
              <a:t> </a:t>
            </a:r>
            <a:r>
              <a:rPr dirty="0" spc="295"/>
              <a:t>the</a:t>
            </a:r>
            <a:r>
              <a:rPr dirty="0" spc="-20"/>
              <a:t> </a:t>
            </a:r>
            <a:r>
              <a:rPr dirty="0" spc="215"/>
              <a:t>Core</a:t>
            </a:r>
            <a:r>
              <a:rPr dirty="0" sz="2250" spc="215"/>
              <a:t>,</a:t>
            </a:r>
            <a:r>
              <a:rPr dirty="0" sz="2250" spc="155"/>
              <a:t> </a:t>
            </a:r>
            <a:r>
              <a:rPr dirty="0" spc="240"/>
              <a:t>Defend</a:t>
            </a:r>
            <a:r>
              <a:rPr dirty="0" spc="25"/>
              <a:t> </a:t>
            </a:r>
            <a:r>
              <a:rPr dirty="0" spc="295"/>
              <a:t>the</a:t>
            </a:r>
            <a:r>
              <a:rPr dirty="0" spc="-25"/>
              <a:t> </a:t>
            </a:r>
            <a:r>
              <a:rPr dirty="0" spc="270"/>
              <a:t>Boundary</a:t>
            </a:r>
            <a:endParaRPr sz="2250"/>
          </a:p>
        </p:txBody>
      </p:sp>
      <p:grpSp>
        <p:nvGrpSpPr>
          <p:cNvPr id="4" name="object 4"/>
          <p:cNvGrpSpPr/>
          <p:nvPr/>
        </p:nvGrpSpPr>
        <p:grpSpPr>
          <a:xfrm>
            <a:off x="762000" y="1514474"/>
            <a:ext cx="10668000" cy="4581525"/>
            <a:chOff x="762000" y="1514474"/>
            <a:chExt cx="10668000" cy="4581525"/>
          </a:xfrm>
        </p:grpSpPr>
        <p:sp>
          <p:nvSpPr>
            <p:cNvPr id="5" name="object 5"/>
            <p:cNvSpPr/>
            <p:nvPr/>
          </p:nvSpPr>
          <p:spPr>
            <a:xfrm>
              <a:off x="766762" y="1519237"/>
              <a:ext cx="10658475" cy="4572000"/>
            </a:xfrm>
            <a:custGeom>
              <a:avLst/>
              <a:gdLst/>
              <a:ahLst/>
              <a:cxnLst/>
              <a:rect l="l" t="t" r="r" b="b"/>
              <a:pathLst>
                <a:path w="10658475" h="4572000">
                  <a:moveTo>
                    <a:pt x="10629557" y="0"/>
                  </a:moveTo>
                  <a:lnTo>
                    <a:pt x="28917" y="0"/>
                  </a:lnTo>
                  <a:lnTo>
                    <a:pt x="24665" y="838"/>
                  </a:lnTo>
                  <a:lnTo>
                    <a:pt x="0" y="28917"/>
                  </a:lnTo>
                  <a:lnTo>
                    <a:pt x="0" y="4538662"/>
                  </a:lnTo>
                  <a:lnTo>
                    <a:pt x="0" y="4543082"/>
                  </a:lnTo>
                  <a:lnTo>
                    <a:pt x="28917" y="4572000"/>
                  </a:lnTo>
                  <a:lnTo>
                    <a:pt x="10629557" y="4572000"/>
                  </a:lnTo>
                  <a:lnTo>
                    <a:pt x="10658475" y="4543082"/>
                  </a:lnTo>
                  <a:lnTo>
                    <a:pt x="10658475" y="28917"/>
                  </a:lnTo>
                  <a:lnTo>
                    <a:pt x="10633811" y="838"/>
                  </a:lnTo>
                  <a:lnTo>
                    <a:pt x="10629557" y="0"/>
                  </a:lnTo>
                  <a:close/>
                </a:path>
              </a:pathLst>
            </a:custGeom>
            <a:solidFill>
              <a:srgbClr val="F1F5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66762" y="1519237"/>
              <a:ext cx="10658475" cy="4572000"/>
            </a:xfrm>
            <a:custGeom>
              <a:avLst/>
              <a:gdLst/>
              <a:ahLst/>
              <a:cxnLst/>
              <a:rect l="l" t="t" r="r" b="b"/>
              <a:pathLst>
                <a:path w="10658475" h="4572000">
                  <a:moveTo>
                    <a:pt x="0" y="4538662"/>
                  </a:moveTo>
                  <a:lnTo>
                    <a:pt x="0" y="33337"/>
                  </a:lnTo>
                  <a:lnTo>
                    <a:pt x="0" y="28917"/>
                  </a:lnTo>
                  <a:lnTo>
                    <a:pt x="843" y="24663"/>
                  </a:lnTo>
                  <a:lnTo>
                    <a:pt x="2540" y="20574"/>
                  </a:lnTo>
                  <a:lnTo>
                    <a:pt x="4231" y="16497"/>
                  </a:lnTo>
                  <a:lnTo>
                    <a:pt x="6638" y="12890"/>
                  </a:lnTo>
                  <a:lnTo>
                    <a:pt x="9763" y="9766"/>
                  </a:lnTo>
                  <a:lnTo>
                    <a:pt x="12887" y="6642"/>
                  </a:lnTo>
                  <a:lnTo>
                    <a:pt x="16494" y="4229"/>
                  </a:lnTo>
                  <a:lnTo>
                    <a:pt x="20577" y="2540"/>
                  </a:lnTo>
                  <a:lnTo>
                    <a:pt x="24665" y="838"/>
                  </a:lnTo>
                  <a:lnTo>
                    <a:pt x="28917" y="0"/>
                  </a:lnTo>
                  <a:lnTo>
                    <a:pt x="33337" y="0"/>
                  </a:lnTo>
                  <a:lnTo>
                    <a:pt x="10625137" y="0"/>
                  </a:lnTo>
                  <a:lnTo>
                    <a:pt x="10629557" y="0"/>
                  </a:lnTo>
                  <a:lnTo>
                    <a:pt x="10633811" y="838"/>
                  </a:lnTo>
                  <a:lnTo>
                    <a:pt x="10637888" y="2540"/>
                  </a:lnTo>
                  <a:lnTo>
                    <a:pt x="10641977" y="4229"/>
                  </a:lnTo>
                  <a:lnTo>
                    <a:pt x="10645584" y="6642"/>
                  </a:lnTo>
                  <a:lnTo>
                    <a:pt x="10648708" y="9766"/>
                  </a:lnTo>
                  <a:lnTo>
                    <a:pt x="10651833" y="12890"/>
                  </a:lnTo>
                  <a:lnTo>
                    <a:pt x="10654246" y="16497"/>
                  </a:lnTo>
                  <a:lnTo>
                    <a:pt x="10655935" y="20574"/>
                  </a:lnTo>
                  <a:lnTo>
                    <a:pt x="10657624" y="24663"/>
                  </a:lnTo>
                  <a:lnTo>
                    <a:pt x="10658475" y="28917"/>
                  </a:lnTo>
                  <a:lnTo>
                    <a:pt x="10658475" y="33337"/>
                  </a:lnTo>
                  <a:lnTo>
                    <a:pt x="10658475" y="4538662"/>
                  </a:lnTo>
                  <a:lnTo>
                    <a:pt x="10658475" y="4543082"/>
                  </a:lnTo>
                  <a:lnTo>
                    <a:pt x="10657624" y="4547334"/>
                  </a:lnTo>
                  <a:lnTo>
                    <a:pt x="10655935" y="4551417"/>
                  </a:lnTo>
                  <a:lnTo>
                    <a:pt x="10654246" y="4555505"/>
                  </a:lnTo>
                  <a:lnTo>
                    <a:pt x="10637888" y="4569460"/>
                  </a:lnTo>
                  <a:lnTo>
                    <a:pt x="10633811" y="4571151"/>
                  </a:lnTo>
                  <a:lnTo>
                    <a:pt x="10629557" y="4572000"/>
                  </a:lnTo>
                  <a:lnTo>
                    <a:pt x="10625137" y="4572000"/>
                  </a:lnTo>
                  <a:lnTo>
                    <a:pt x="33337" y="4572000"/>
                  </a:lnTo>
                  <a:lnTo>
                    <a:pt x="28917" y="4572000"/>
                  </a:lnTo>
                  <a:lnTo>
                    <a:pt x="24665" y="4571151"/>
                  </a:lnTo>
                  <a:lnTo>
                    <a:pt x="2540" y="4551417"/>
                  </a:lnTo>
                  <a:lnTo>
                    <a:pt x="843" y="4547334"/>
                  </a:lnTo>
                  <a:lnTo>
                    <a:pt x="0" y="4543082"/>
                  </a:lnTo>
                  <a:lnTo>
                    <a:pt x="0" y="4538662"/>
                  </a:lnTo>
                  <a:close/>
                </a:path>
              </a:pathLst>
            </a:custGeom>
            <a:ln w="9525">
              <a:solidFill>
                <a:srgbClr val="CBD5E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152525" y="4333874"/>
              <a:ext cx="9886950" cy="609600"/>
            </a:xfrm>
            <a:custGeom>
              <a:avLst/>
              <a:gdLst/>
              <a:ahLst/>
              <a:cxnLst/>
              <a:rect l="l" t="t" r="r" b="b"/>
              <a:pathLst>
                <a:path w="9886950" h="609600">
                  <a:moveTo>
                    <a:pt x="9853904" y="0"/>
                  </a:moveTo>
                  <a:lnTo>
                    <a:pt x="33049" y="0"/>
                  </a:lnTo>
                  <a:lnTo>
                    <a:pt x="28187" y="965"/>
                  </a:lnTo>
                  <a:lnTo>
                    <a:pt x="967" y="28194"/>
                  </a:lnTo>
                  <a:lnTo>
                    <a:pt x="0" y="33045"/>
                  </a:lnTo>
                  <a:lnTo>
                    <a:pt x="0" y="571500"/>
                  </a:lnTo>
                  <a:lnTo>
                    <a:pt x="0" y="576554"/>
                  </a:lnTo>
                  <a:lnTo>
                    <a:pt x="28187" y="608634"/>
                  </a:lnTo>
                  <a:lnTo>
                    <a:pt x="33049" y="609600"/>
                  </a:lnTo>
                  <a:lnTo>
                    <a:pt x="9853904" y="609600"/>
                  </a:lnTo>
                  <a:lnTo>
                    <a:pt x="9885984" y="581406"/>
                  </a:lnTo>
                  <a:lnTo>
                    <a:pt x="9886950" y="576554"/>
                  </a:lnTo>
                  <a:lnTo>
                    <a:pt x="9886950" y="33045"/>
                  </a:lnTo>
                  <a:lnTo>
                    <a:pt x="9858756" y="965"/>
                  </a:lnTo>
                  <a:lnTo>
                    <a:pt x="9853904" y="0"/>
                  </a:lnTo>
                  <a:close/>
                </a:path>
              </a:pathLst>
            </a:custGeom>
            <a:solidFill>
              <a:srgbClr val="0A1E3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1139825" y="1897026"/>
            <a:ext cx="6520815" cy="20586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20">
                <a:solidFill>
                  <a:srgbClr val="0A1E36"/>
                </a:solidFill>
                <a:latin typeface="Times New Roman"/>
                <a:cs typeface="Times New Roman"/>
              </a:rPr>
              <a:t>Key</a:t>
            </a:r>
            <a:r>
              <a:rPr dirty="0" sz="1650" spc="-7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50" spc="280">
                <a:solidFill>
                  <a:srgbClr val="0A1E36"/>
                </a:solidFill>
                <a:latin typeface="Times New Roman"/>
                <a:cs typeface="Times New Roman"/>
              </a:rPr>
              <a:t>Takeaways</a:t>
            </a:r>
            <a:r>
              <a:rPr dirty="0" sz="1650" spc="-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50" spc="204">
                <a:solidFill>
                  <a:srgbClr val="0A1E36"/>
                </a:solidFill>
                <a:latin typeface="Times New Roman"/>
                <a:cs typeface="Times New Roman"/>
              </a:rPr>
              <a:t>for</a:t>
            </a:r>
            <a:r>
              <a:rPr dirty="0" sz="1650" spc="35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50" spc="340">
                <a:solidFill>
                  <a:srgbClr val="0A1E36"/>
                </a:solidFill>
                <a:latin typeface="Times New Roman"/>
                <a:cs typeface="Times New Roman"/>
              </a:rPr>
              <a:t>the</a:t>
            </a:r>
            <a:r>
              <a:rPr dirty="0" sz="1650">
                <a:solidFill>
                  <a:srgbClr val="0A1E36"/>
                </a:solidFill>
                <a:latin typeface="Times New Roman"/>
                <a:cs typeface="Times New Roman"/>
              </a:rPr>
              <a:t> </a:t>
            </a:r>
            <a:r>
              <a:rPr dirty="0" sz="1650" spc="240">
                <a:solidFill>
                  <a:srgbClr val="0A1E36"/>
                </a:solidFill>
                <a:latin typeface="Times New Roman"/>
                <a:cs typeface="Times New Roman"/>
              </a:rPr>
              <a:t>Panel</a:t>
            </a:r>
            <a:endParaRPr sz="16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850" spc="295">
                <a:solidFill>
                  <a:srgbClr val="0E756E"/>
                </a:solidFill>
                <a:latin typeface="MS PGothic"/>
                <a:cs typeface="MS PGothic"/>
              </a:rPr>
              <a:t>✔</a:t>
            </a:r>
            <a:r>
              <a:rPr dirty="0" sz="850">
                <a:solidFill>
                  <a:srgbClr val="0E756E"/>
                </a:solidFill>
                <a:latin typeface="MS PGothic"/>
                <a:cs typeface="MS PGothic"/>
              </a:rPr>
              <a:t>	</a:t>
            </a:r>
            <a:r>
              <a:rPr dirty="0" sz="1450" spc="114">
                <a:solidFill>
                  <a:srgbClr val="0E162A"/>
                </a:solidFill>
                <a:latin typeface="Times New Roman"/>
                <a:cs typeface="Times New Roman"/>
              </a:rPr>
              <a:t>We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35">
                <a:solidFill>
                  <a:srgbClr val="0E162A"/>
                </a:solidFill>
                <a:latin typeface="Times New Roman"/>
                <a:cs typeface="Times New Roman"/>
              </a:rPr>
              <a:t>have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90">
                <a:solidFill>
                  <a:srgbClr val="0E162A"/>
                </a:solidFill>
                <a:latin typeface="Times New Roman"/>
                <a:cs typeface="Times New Roman"/>
              </a:rPr>
              <a:t>refined</a:t>
            </a:r>
            <a:r>
              <a:rPr dirty="0" sz="14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55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00">
                <a:solidFill>
                  <a:srgbClr val="0E162A"/>
                </a:solidFill>
                <a:latin typeface="Times New Roman"/>
                <a:cs typeface="Times New Roman"/>
              </a:rPr>
              <a:t>project</a:t>
            </a:r>
            <a:r>
              <a:rPr dirty="0" sz="1450" spc="7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95">
                <a:solidFill>
                  <a:srgbClr val="0E162A"/>
                </a:solidFill>
                <a:latin typeface="Times New Roman"/>
                <a:cs typeface="Times New Roman"/>
              </a:rPr>
              <a:t>into</a:t>
            </a:r>
            <a:r>
              <a:rPr dirty="0" sz="145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200">
                <a:solidFill>
                  <a:srgbClr val="0E162A"/>
                </a:solidFill>
                <a:latin typeface="Times New Roman"/>
                <a:cs typeface="Times New Roman"/>
              </a:rPr>
              <a:t>a</a:t>
            </a:r>
            <a:r>
              <a:rPr dirty="0" sz="14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70">
                <a:solidFill>
                  <a:srgbClr val="0E162A"/>
                </a:solidFill>
                <a:latin typeface="Times New Roman"/>
                <a:cs typeface="Times New Roman"/>
              </a:rPr>
              <a:t>failure-</a:t>
            </a:r>
            <a:r>
              <a:rPr dirty="0" sz="1450" spc="145">
                <a:solidFill>
                  <a:srgbClr val="0E162A"/>
                </a:solidFill>
                <a:latin typeface="Times New Roman"/>
                <a:cs typeface="Times New Roman"/>
              </a:rPr>
              <a:t>aware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75">
                <a:solidFill>
                  <a:srgbClr val="0E162A"/>
                </a:solidFill>
                <a:latin typeface="Times New Roman"/>
                <a:cs typeface="Times New Roman"/>
              </a:rPr>
              <a:t>edge–</a:t>
            </a:r>
            <a:r>
              <a:rPr dirty="0" sz="1450" spc="80">
                <a:solidFill>
                  <a:srgbClr val="0E162A"/>
                </a:solidFill>
                <a:latin typeface="Times New Roman"/>
                <a:cs typeface="Times New Roman"/>
              </a:rPr>
              <a:t>cloud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0E162A"/>
                </a:solidFill>
                <a:latin typeface="Times New Roman"/>
                <a:cs typeface="Times New Roman"/>
              </a:rPr>
              <a:t>framework.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850" spc="295">
                <a:solidFill>
                  <a:srgbClr val="0E756E"/>
                </a:solidFill>
                <a:latin typeface="MS PGothic"/>
                <a:cs typeface="MS PGothic"/>
              </a:rPr>
              <a:t>✔</a:t>
            </a:r>
            <a:r>
              <a:rPr dirty="0" sz="850">
                <a:solidFill>
                  <a:srgbClr val="0E756E"/>
                </a:solidFill>
                <a:latin typeface="MS PGothic"/>
                <a:cs typeface="MS PGothic"/>
              </a:rPr>
              <a:t>	</a:t>
            </a:r>
            <a:r>
              <a:rPr dirty="0" sz="1450" spc="114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20">
                <a:solidFill>
                  <a:srgbClr val="0E162A"/>
                </a:solidFill>
                <a:latin typeface="Times New Roman"/>
                <a:cs typeface="Times New Roman"/>
              </a:rPr>
              <a:t>edge-core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20">
                <a:solidFill>
                  <a:srgbClr val="0E162A"/>
                </a:solidFill>
                <a:latin typeface="Times New Roman"/>
                <a:cs typeface="Times New Roman"/>
              </a:rPr>
              <a:t>module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70">
                <a:solidFill>
                  <a:srgbClr val="0E162A"/>
                </a:solidFill>
                <a:latin typeface="Times New Roman"/>
                <a:cs typeface="Times New Roman"/>
              </a:rPr>
              <a:t>is</a:t>
            </a:r>
            <a:r>
              <a:rPr dirty="0" sz="1450" spc="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65">
                <a:solidFill>
                  <a:srgbClr val="0E162A"/>
                </a:solidFill>
                <a:latin typeface="Times New Roman"/>
                <a:cs typeface="Times New Roman"/>
              </a:rPr>
              <a:t>verified</a:t>
            </a:r>
            <a:r>
              <a:rPr dirty="0" sz="14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55">
                <a:solidFill>
                  <a:srgbClr val="0E162A"/>
                </a:solidFill>
                <a:latin typeface="Times New Roman"/>
                <a:cs typeface="Times New Roman"/>
              </a:rPr>
              <a:t>for</a:t>
            </a:r>
            <a:r>
              <a:rPr dirty="0" sz="1450" spc="2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60">
                <a:solidFill>
                  <a:srgbClr val="0E162A"/>
                </a:solidFill>
                <a:latin typeface="Times New Roman"/>
                <a:cs typeface="Times New Roman"/>
              </a:rPr>
              <a:t>quality-</a:t>
            </a:r>
            <a:r>
              <a:rPr dirty="0" sz="1450" spc="110">
                <a:solidFill>
                  <a:srgbClr val="0E162A"/>
                </a:solidFill>
                <a:latin typeface="Times New Roman"/>
                <a:cs typeface="Times New Roman"/>
              </a:rPr>
              <a:t>gating</a:t>
            </a:r>
            <a:r>
              <a:rPr dirty="0" sz="14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3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70">
                <a:solidFill>
                  <a:srgbClr val="0E162A"/>
                </a:solidFill>
                <a:latin typeface="Times New Roman"/>
                <a:cs typeface="Times New Roman"/>
              </a:rPr>
              <a:t>local</a:t>
            </a:r>
            <a:r>
              <a:rPr dirty="0" sz="1450" spc="1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0E162A"/>
                </a:solidFill>
                <a:latin typeface="Times New Roman"/>
                <a:cs typeface="Times New Roman"/>
              </a:rPr>
              <a:t>persistence.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850" spc="295">
                <a:solidFill>
                  <a:srgbClr val="0E756E"/>
                </a:solidFill>
                <a:latin typeface="MS PGothic"/>
                <a:cs typeface="MS PGothic"/>
              </a:rPr>
              <a:t>✔</a:t>
            </a:r>
            <a:r>
              <a:rPr dirty="0" sz="850">
                <a:solidFill>
                  <a:srgbClr val="0E756E"/>
                </a:solidFill>
                <a:latin typeface="MS PGothic"/>
                <a:cs typeface="MS PGothic"/>
              </a:rPr>
              <a:t>	</a:t>
            </a:r>
            <a:r>
              <a:rPr dirty="0" sz="1450" spc="114">
                <a:solidFill>
                  <a:srgbClr val="0E162A"/>
                </a:solidFill>
                <a:latin typeface="Times New Roman"/>
                <a:cs typeface="Times New Roman"/>
              </a:rPr>
              <a:t>The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35">
                <a:solidFill>
                  <a:srgbClr val="0E162A"/>
                </a:solidFill>
                <a:latin typeface="Times New Roman"/>
                <a:cs typeface="Times New Roman"/>
              </a:rPr>
              <a:t>system</a:t>
            </a:r>
            <a:r>
              <a:rPr dirty="0" sz="1450" spc="5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95">
                <a:solidFill>
                  <a:srgbClr val="0E162A"/>
                </a:solidFill>
                <a:latin typeface="Times New Roman"/>
                <a:cs typeface="Times New Roman"/>
              </a:rPr>
              <a:t>boundary</a:t>
            </a:r>
            <a:r>
              <a:rPr dirty="0" sz="1450" spc="-7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70">
                <a:solidFill>
                  <a:srgbClr val="0E162A"/>
                </a:solidFill>
                <a:latin typeface="Times New Roman"/>
                <a:cs typeface="Times New Roman"/>
              </a:rPr>
              <a:t>is</a:t>
            </a:r>
            <a:r>
              <a:rPr dirty="0" sz="1450" spc="1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85">
                <a:solidFill>
                  <a:srgbClr val="0E162A"/>
                </a:solidFill>
                <a:latin typeface="Times New Roman"/>
                <a:cs typeface="Times New Roman"/>
              </a:rPr>
              <a:t>strictly</a:t>
            </a:r>
            <a:r>
              <a:rPr dirty="0" sz="1450" spc="-6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55">
                <a:solidFill>
                  <a:srgbClr val="0E162A"/>
                </a:solidFill>
                <a:latin typeface="Times New Roman"/>
                <a:cs typeface="Times New Roman"/>
              </a:rPr>
              <a:t>non-</a:t>
            </a:r>
            <a:r>
              <a:rPr dirty="0" sz="1450" spc="110">
                <a:solidFill>
                  <a:srgbClr val="0E162A"/>
                </a:solidFill>
                <a:latin typeface="Times New Roman"/>
                <a:cs typeface="Times New Roman"/>
              </a:rPr>
              <a:t>diagnostic</a:t>
            </a:r>
            <a:r>
              <a:rPr dirty="0" sz="1450" spc="-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3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95">
                <a:solidFill>
                  <a:srgbClr val="0E162A"/>
                </a:solidFill>
                <a:latin typeface="Times New Roman"/>
                <a:cs typeface="Times New Roman"/>
              </a:rPr>
              <a:t>engineering-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led.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364490" algn="l"/>
              </a:tabLst>
            </a:pPr>
            <a:r>
              <a:rPr dirty="0" sz="850" spc="295">
                <a:solidFill>
                  <a:srgbClr val="0E756E"/>
                </a:solidFill>
                <a:latin typeface="MS PGothic"/>
                <a:cs typeface="MS PGothic"/>
              </a:rPr>
              <a:t>✔</a:t>
            </a:r>
            <a:r>
              <a:rPr dirty="0" sz="850">
                <a:solidFill>
                  <a:srgbClr val="0E756E"/>
                </a:solidFill>
                <a:latin typeface="MS PGothic"/>
                <a:cs typeface="MS PGothic"/>
              </a:rPr>
              <a:t>	</a:t>
            </a:r>
            <a:r>
              <a:rPr dirty="0" sz="1450" spc="114">
                <a:solidFill>
                  <a:srgbClr val="0E162A"/>
                </a:solidFill>
                <a:latin typeface="Times New Roman"/>
                <a:cs typeface="Times New Roman"/>
              </a:rPr>
              <a:t>We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55">
                <a:solidFill>
                  <a:srgbClr val="0E162A"/>
                </a:solidFill>
                <a:latin typeface="Times New Roman"/>
                <a:cs typeface="Times New Roman"/>
              </a:rPr>
              <a:t>are</a:t>
            </a:r>
            <a:r>
              <a:rPr dirty="0" sz="1450" spc="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20">
                <a:solidFill>
                  <a:srgbClr val="0E162A"/>
                </a:solidFill>
                <a:latin typeface="Times New Roman"/>
                <a:cs typeface="Times New Roman"/>
              </a:rPr>
              <a:t>ready</a:t>
            </a:r>
            <a:r>
              <a:rPr dirty="0" sz="1450" spc="-6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45">
                <a:solidFill>
                  <a:srgbClr val="0E162A"/>
                </a:solidFill>
                <a:latin typeface="Times New Roman"/>
                <a:cs typeface="Times New Roman"/>
              </a:rPr>
              <a:t>to</a:t>
            </a:r>
            <a:r>
              <a:rPr dirty="0" sz="1450" spc="-1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25">
                <a:solidFill>
                  <a:srgbClr val="0E162A"/>
                </a:solidFill>
                <a:latin typeface="Times New Roman"/>
                <a:cs typeface="Times New Roman"/>
              </a:rPr>
              <a:t>proceed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60">
                <a:solidFill>
                  <a:srgbClr val="0E162A"/>
                </a:solidFill>
                <a:latin typeface="Times New Roman"/>
                <a:cs typeface="Times New Roman"/>
              </a:rPr>
              <a:t>with </a:t>
            </a:r>
            <a:r>
              <a:rPr dirty="0" sz="1450" spc="65">
                <a:solidFill>
                  <a:srgbClr val="0E162A"/>
                </a:solidFill>
                <a:latin typeface="Times New Roman"/>
                <a:cs typeface="Times New Roman"/>
              </a:rPr>
              <a:t>physical</a:t>
            </a:r>
            <a:r>
              <a:rPr dirty="0" sz="1450" spc="13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05">
                <a:solidFill>
                  <a:srgbClr val="0E162A"/>
                </a:solidFill>
                <a:latin typeface="Times New Roman"/>
                <a:cs typeface="Times New Roman"/>
              </a:rPr>
              <a:t>integration</a:t>
            </a:r>
            <a:r>
              <a:rPr dirty="0" sz="1450" spc="5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130">
                <a:solidFill>
                  <a:srgbClr val="0E162A"/>
                </a:solidFill>
                <a:latin typeface="Times New Roman"/>
                <a:cs typeface="Times New Roman"/>
              </a:rPr>
              <a:t>and</a:t>
            </a:r>
            <a:r>
              <a:rPr dirty="0" sz="1450" spc="40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80">
                <a:solidFill>
                  <a:srgbClr val="0E162A"/>
                </a:solidFill>
                <a:latin typeface="Times New Roman"/>
                <a:cs typeface="Times New Roman"/>
              </a:rPr>
              <a:t>cloud</a:t>
            </a:r>
            <a:r>
              <a:rPr dirty="0" sz="1450" spc="45">
                <a:solidFill>
                  <a:srgbClr val="0E162A"/>
                </a:solidFill>
                <a:latin typeface="Times New Roman"/>
                <a:cs typeface="Times New Roman"/>
              </a:rPr>
              <a:t> </a:t>
            </a:r>
            <a:r>
              <a:rPr dirty="0" sz="1450" spc="-10">
                <a:solidFill>
                  <a:srgbClr val="0E162A"/>
                </a:solidFill>
                <a:latin typeface="Times New Roman"/>
                <a:cs typeface="Times New Roman"/>
              </a:rPr>
              <a:t>deployment.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0050" y="4521200"/>
            <a:ext cx="631063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FFFFFF"/>
                </a:solidFill>
                <a:latin typeface="Courier New"/>
                <a:cs typeface="Courier New"/>
              </a:rPr>
              <a:t>Reference</a:t>
            </a:r>
            <a:r>
              <a:rPr dirty="0" sz="1350" spc="6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FFFFFF"/>
                </a:solidFill>
                <a:latin typeface="Courier New"/>
                <a:cs typeface="Courier New"/>
              </a:rPr>
              <a:t>Repository:</a:t>
            </a:r>
            <a:r>
              <a:rPr dirty="0" sz="1350" spc="65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dirty="0" sz="1350">
                <a:solidFill>
                  <a:srgbClr val="FFFFFF"/>
                </a:solidFill>
                <a:latin typeface="Courier New"/>
                <a:cs typeface="Courier New"/>
              </a:rPr>
              <a:t>github.com/krtaylor/IoT-Health-</a:t>
            </a:r>
            <a:r>
              <a:rPr dirty="0" sz="1350" spc="-10">
                <a:solidFill>
                  <a:srgbClr val="FFFFFF"/>
                </a:solidFill>
                <a:latin typeface="Courier New"/>
                <a:cs typeface="Courier New"/>
              </a:rPr>
              <a:t>Monitor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058400" y="380999"/>
            <a:ext cx="1752600" cy="333375"/>
          </a:xfrm>
          <a:custGeom>
            <a:avLst/>
            <a:gdLst/>
            <a:ahLst/>
            <a:cxnLst/>
            <a:rect l="l" t="t" r="r" b="b"/>
            <a:pathLst>
              <a:path w="1752600" h="333375">
                <a:moveTo>
                  <a:pt x="1719554" y="0"/>
                </a:moveTo>
                <a:lnTo>
                  <a:pt x="33045" y="0"/>
                </a:lnTo>
                <a:lnTo>
                  <a:pt x="28194" y="965"/>
                </a:lnTo>
                <a:lnTo>
                  <a:pt x="965" y="28194"/>
                </a:lnTo>
                <a:lnTo>
                  <a:pt x="0" y="33045"/>
                </a:lnTo>
                <a:lnTo>
                  <a:pt x="0" y="295275"/>
                </a:lnTo>
                <a:lnTo>
                  <a:pt x="0" y="300329"/>
                </a:lnTo>
                <a:lnTo>
                  <a:pt x="28194" y="332409"/>
                </a:lnTo>
                <a:lnTo>
                  <a:pt x="33045" y="333375"/>
                </a:lnTo>
                <a:lnTo>
                  <a:pt x="1719554" y="333375"/>
                </a:lnTo>
                <a:lnTo>
                  <a:pt x="1751634" y="305181"/>
                </a:lnTo>
                <a:lnTo>
                  <a:pt x="1752600" y="300329"/>
                </a:lnTo>
                <a:lnTo>
                  <a:pt x="1752600" y="33045"/>
                </a:lnTo>
                <a:lnTo>
                  <a:pt x="1724406" y="965"/>
                </a:lnTo>
                <a:lnTo>
                  <a:pt x="1719554" y="0"/>
                </a:lnTo>
                <a:close/>
              </a:path>
            </a:pathLst>
          </a:custGeom>
          <a:solidFill>
            <a:srgbClr val="0A1E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198100" y="458055"/>
            <a:ext cx="1476375" cy="1809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40">
                <a:solidFill>
                  <a:srgbClr val="D97705"/>
                </a:solidFill>
                <a:latin typeface="Times New Roman"/>
                <a:cs typeface="Times New Roman"/>
              </a:rPr>
              <a:t>REVIEW-</a:t>
            </a:r>
            <a:r>
              <a:rPr dirty="0" sz="1000" spc="114">
                <a:solidFill>
                  <a:srgbClr val="D97705"/>
                </a:solidFill>
                <a:latin typeface="Times New Roman"/>
                <a:cs typeface="Times New Roman"/>
              </a:rPr>
              <a:t>2</a:t>
            </a:r>
            <a:r>
              <a:rPr dirty="0" sz="1000" spc="365">
                <a:solidFill>
                  <a:srgbClr val="D97705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D97705"/>
                </a:solidFill>
                <a:latin typeface="Times New Roman"/>
                <a:cs typeface="Times New Roman"/>
              </a:rPr>
              <a:t>CONCLUSION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300" y="6286468"/>
            <a:ext cx="2315845" cy="2012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50" spc="-30">
                <a:solidFill>
                  <a:srgbClr val="465469"/>
                </a:solidFill>
                <a:latin typeface="Courier New"/>
                <a:cs typeface="Courier New"/>
              </a:rPr>
              <a:t>23IE4053A</a:t>
            </a:r>
            <a:r>
              <a:rPr dirty="0" sz="1050" spc="-10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465469"/>
                </a:solidFill>
                <a:latin typeface="Courier New"/>
                <a:cs typeface="Courier New"/>
              </a:rPr>
              <a:t>|</a:t>
            </a:r>
            <a:r>
              <a:rPr dirty="0" sz="1050" spc="-8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Capstone</a:t>
            </a:r>
            <a:r>
              <a:rPr dirty="0" sz="1050" spc="-90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465469"/>
                </a:solidFill>
                <a:latin typeface="Courier New"/>
                <a:cs typeface="Courier New"/>
              </a:rPr>
              <a:t>Project</a:t>
            </a:r>
            <a:r>
              <a:rPr dirty="0" sz="1050" spc="-85">
                <a:solidFill>
                  <a:srgbClr val="465469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465469"/>
                </a:solidFill>
                <a:latin typeface="Courier New"/>
                <a:cs typeface="Courier New"/>
              </a:rPr>
              <a:t>4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pc="-20"/>
              <a:t>Slide</a:t>
            </a:r>
            <a:r>
              <a:rPr dirty="0" spc="-105"/>
              <a:t> </a:t>
            </a: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2026-09-21T04:52:51Z</dcterms:created>
  <dcterms:modified xsi:type="dcterms:W3CDTF">2026-09-21T04:52:51Z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2026-09-21T00:00:00Z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2026-09-21T00:00:00Z</vt:filetime>
  </property>
  <property fmtid="{D5CDD505-2E9C-101B-9397-08002B2CF9AE}" pid="6" name="Producer">
    <vt:lpwstr>pdf-lib (https://github.com/Hopding/pdf-lib)</vt:lpwstr>
  </property>
</Properties>
</file>